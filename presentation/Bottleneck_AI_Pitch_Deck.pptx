
<file path=[Content_Types].xml><?xml version="1.0" encoding="utf-8"?>
<Types xmlns="http://schemas.openxmlformats.org/package/2006/content-types">
  <Default Extension="xml" ContentType="application/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6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4.xml" ContentType="application/vnd.openxmlformats-officedocument.presentationml.notesSlide+xml"/>
  <Override PartName="/ppt/slides/slide16.xml" ContentType="application/vnd.openxmlformats-officedocument.presentationml.slide+xml"/>
  <Override PartName="/ppt/slides/slide15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14.xml" ContentType="application/vnd.openxmlformats-officedocument.presentationml.slide+xml"/>
  <Override PartName="/docProps/core.xml" ContentType="application/vnd.openxmlformats-package.core-properties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slides/slide13.xml" ContentType="application/vnd.openxmlformats-officedocument.presentationml.slide+xml"/>
  <Override PartName="/ppt/slides/slide6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presentation.xml" ContentType="application/vnd.openxmlformats-officedocument.presentationml.presentation.main+xml"/>
  <Override PartName="/ppt/slides/slide8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2.xml" ContentType="application/vnd.openxmlformats-officedocument.presentationml.notesSlide+xml"/>
  <Override PartName="/ppt/slideLayouts/slideLayout1.xml" ContentType="application/vnd.openxmlformats-officedocument.presentationml.slideLayout+xml"/>
  <Override PartName="/ppt/slides/slide12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saveSubsetFonts="1">
  <p:sldMasterIdLst>
    <p:sldMasterId id="2147483648" r:id="rId1"/>
  </p:sldMasterIdLst>
  <p:notesMasterIdLst>
    <p:notesMasterId r:id="rId19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</p:sldIdLst>
  <p:sldSz cx="12192000" cy="6858000"/>
  <p:notesSz cx="6858000" cy="12192000"/>
  <p:defaultTextStyle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>
        <p:guide pos="3840"/>
        <p:guide pos="2160" orient="horz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 /><Relationship Id="rId21" Type="http://schemas.openxmlformats.org/officeDocument/2006/relationships/tableStyles" Target="tableStyles.xml" /><Relationship Id="rId22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5234369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677729459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37331649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744449164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83757880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18582890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 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197074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148041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Bottleneck AI by Team Bottleneck — Heet Mehta (lead), Dhruvin Vaghasiya, Urval Kheni, Krish Patel. IBM Bob Hackathon 2026, Track U1.</a:t>
            </a:r>
            <a:endParaRPr lang="en-US"/>
          </a:p>
        </p:txBody>
      </p:sp>
      <p:sp>
        <p:nvSpPr>
          <p:cNvPr id="10083015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592899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835214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Failures are found too late because nothing connects condition, weather, and downstream impact.</a:t>
            </a:r>
            <a:endParaRPr lang="en-US"/>
          </a:p>
        </p:txBody>
      </p:sp>
      <p:sp>
        <p:nvSpPr>
          <p:cNvPr id="105587936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618190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4915955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Root cause: data silos, missing impact model, and reactive dispatch.</a:t>
            </a:r>
            <a:endParaRPr lang="en-US"/>
          </a:p>
        </p:txBody>
      </p:sp>
      <p:sp>
        <p:nvSpPr>
          <p:cNvPr id="99589033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562927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425908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A complete decision-support loop from raw sensor data to crew dispatch, explainable at every step.</a:t>
            </a:r>
            <a:endParaRPr lang="en-US"/>
          </a:p>
        </p:txBody>
      </p:sp>
      <p:sp>
        <p:nvSpPr>
          <p:cNvPr id="129013116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897446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3027612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The composite risk score is the core differentiator — probability alone misranks the work.</a:t>
            </a:r>
            <a:endParaRPr lang="en-US"/>
          </a:p>
        </p:txBody>
      </p:sp>
      <p:sp>
        <p:nvSpPr>
          <p:cNvPr id="5294046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888939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408426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Layered architecture with a stable prediction contract at the seam.</a:t>
            </a:r>
            <a:endParaRPr lang="en-US"/>
          </a:p>
        </p:txBody>
      </p:sp>
      <p:sp>
        <p:nvSpPr>
          <p:cNvPr id="10569120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085472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027597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Drill into any asset for its full risk decomposition and nearest crews.</a:t>
            </a:r>
            <a:endParaRPr lang="en-US"/>
          </a:p>
        </p:txBody>
      </p:sp>
      <p:sp>
        <p:nvSpPr>
          <p:cNvPr id="85772679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836906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354472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TR-1042 sits at Priority #1 with an immediate action recommendation.</a:t>
            </a:r>
            <a:endParaRPr lang="en-US"/>
          </a:p>
        </p:txBody>
      </p:sp>
      <p:sp>
        <p:nvSpPr>
          <p:cNvPr id="196445733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4782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5621397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Maintenance ranking and crew planning are two views of one risk score.</a:t>
            </a:r>
            <a:endParaRPr lang="en-US"/>
          </a:p>
        </p:txBody>
      </p:sp>
      <p:sp>
        <p:nvSpPr>
          <p:cNvPr id="9463695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9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518722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1139493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Scenario simulation proves the loop is live, not a static report.</a:t>
            </a:r>
            <a:endParaRPr lang="en-US"/>
          </a:p>
        </p:txBody>
      </p:sp>
      <p:sp>
        <p:nvSpPr>
          <p:cNvPr id="465399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10</a:t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193549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95098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The ML seam keeps the demo bootable with or without trained models.</a:t>
            </a:r>
            <a:endParaRPr lang="en-US"/>
          </a:p>
        </p:txBody>
      </p:sp>
      <p:sp>
        <p:nvSpPr>
          <p:cNvPr id="17389657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11</a:t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065631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276459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Grounding is what makes the explanation trustworthy to an operator.</a:t>
            </a:r>
            <a:endParaRPr lang="en-US"/>
          </a:p>
        </p:txBody>
      </p:sp>
      <p:sp>
        <p:nvSpPr>
          <p:cNvPr id="6999388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12</a:t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374531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629530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Hardware readiness plus SMTP dispatch notifications close the loop to the field.</a:t>
            </a:r>
            <a:endParaRPr lang="en-US"/>
          </a:p>
        </p:txBody>
      </p:sp>
      <p:sp>
        <p:nvSpPr>
          <p:cNvPr id="207245606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13</a:t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91090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556831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Bob log is in docs/BOB_ENGINEERING_LOG.md. Roadmap moves from synthetic to live infrastructure.</a:t>
            </a:r>
            <a:endParaRPr lang="en-US"/>
          </a:p>
        </p:txBody>
      </p:sp>
      <p:sp>
        <p:nvSpPr>
          <p:cNvPr id="16016228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14</a:t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378962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060488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Hardware readiness plus SMTP dispatch notifications close the loop to the field.</a:t>
            </a:r>
            <a:endParaRPr lang="en-US"/>
          </a:p>
        </p:txBody>
      </p:sp>
      <p:sp>
        <p:nvSpPr>
          <p:cNvPr id="19965218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A0E3652-1DD1-97E7-3C9E-5BFA539DFE65}" type="slidenum">
              <a:rPr lang="en-US"/>
              <a:t>13</a:t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912831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6939512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Close and open the floor for questions.</a:t>
            </a:r>
            <a:endParaRPr lang="en-US"/>
          </a:p>
        </p:txBody>
      </p:sp>
      <p:sp>
        <p:nvSpPr>
          <p:cNvPr id="17644153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15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dt="0" ftr="0" hdr="0" sldNum="0"/>
  <p:txStyles>
    <p:titleStyle>
      <a:lvl1pPr algn="ctr" defTabSz="914400" rtl="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8361598" name="Shape 0"/>
          <p:cNvSpPr/>
          <p:nvPr/>
        </p:nvSpPr>
        <p:spPr bwMode="auto">
          <a:xfrm>
            <a:off x="-2377440" y="-2194560"/>
            <a:ext cx="6766560" cy="6766560"/>
          </a:xfrm>
          <a:prstGeom prst="ellipse">
            <a:avLst/>
          </a:prstGeom>
          <a:solidFill>
            <a:srgbClr val="F2F5FD"/>
          </a:solidFill>
          <a:ln w="12700">
            <a:solidFill>
              <a:srgbClr val="F2F5FD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613103665" name="Shape 1"/>
          <p:cNvSpPr/>
          <p:nvPr/>
        </p:nvSpPr>
        <p:spPr bwMode="auto">
          <a:xfrm>
            <a:off x="9052560" y="3749040"/>
            <a:ext cx="4754880" cy="4754880"/>
          </a:xfrm>
          <a:prstGeom prst="ellipse">
            <a:avLst/>
          </a:prstGeom>
          <a:solidFill>
            <a:srgbClr val="F6F8FE"/>
          </a:solidFill>
          <a:ln w="12700">
            <a:solidFill>
              <a:srgbClr val="F6F8FE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658850688" name="Shape 2"/>
          <p:cNvSpPr/>
          <p:nvPr/>
        </p:nvSpPr>
        <p:spPr bwMode="auto">
          <a:xfrm>
            <a:off x="731520" y="566928"/>
            <a:ext cx="365760" cy="365760"/>
          </a:xfrm>
          <a:prstGeom prst="roundRect">
            <a:avLst>
              <a:gd name="adj" fmla="val 22500"/>
            </a:avLst>
          </a:prstGeom>
          <a:solidFill>
            <a:srgbClr val="3A6AD6"/>
          </a:solidFill>
          <a:ln w="12700">
            <a:solidFill>
              <a:srgbClr val="3A6AD6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2070314485" name="Text 3"/>
          <p:cNvSpPr txBox="1"/>
          <p:nvPr/>
        </p:nvSpPr>
        <p:spPr bwMode="auto">
          <a:xfrm>
            <a:off x="731520" y="5669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500">
                <a:solidFill>
                  <a:srgbClr val="FFFFFF"/>
                </a:solidFill>
              </a:rPr>
              <a:t>⚡</a:t>
            </a:r>
            <a:endParaRPr lang="en-US" sz="1500"/>
          </a:p>
        </p:txBody>
      </p:sp>
      <p:sp>
        <p:nvSpPr>
          <p:cNvPr id="1345375088" name="Text 4"/>
          <p:cNvSpPr txBox="1"/>
          <p:nvPr/>
        </p:nvSpPr>
        <p:spPr bwMode="auto">
          <a:xfrm>
            <a:off x="1207008" y="5669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b="1" spc="200">
                <a:solidFill>
                  <a:srgbClr val="1F2020"/>
                </a:solidFill>
                <a:latin typeface="Calibri"/>
                <a:ea typeface="Calibri"/>
                <a:cs typeface="Calibri"/>
              </a:rPr>
              <a:t>TEAM BOTTLENECK</a:t>
            </a:r>
            <a:endParaRPr lang="en-US" sz="1100"/>
          </a:p>
        </p:txBody>
      </p:sp>
      <p:sp>
        <p:nvSpPr>
          <p:cNvPr id="1536270436" name="Shape 5"/>
          <p:cNvSpPr/>
          <p:nvPr/>
        </p:nvSpPr>
        <p:spPr bwMode="auto">
          <a:xfrm>
            <a:off x="731520" y="1389888"/>
            <a:ext cx="3566160" cy="329184"/>
          </a:xfrm>
          <a:prstGeom prst="roundRect">
            <a:avLst>
              <a:gd name="adj" fmla="val 50000"/>
            </a:avLst>
          </a:prstGeom>
          <a:solidFill>
            <a:srgbClr val="EAF0FE"/>
          </a:solidFill>
          <a:ln w="12700">
            <a:solidFill>
              <a:srgbClr val="D5E0FB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642405242" name="Text 6"/>
          <p:cNvSpPr txBox="1"/>
          <p:nvPr/>
        </p:nvSpPr>
        <p:spPr bwMode="auto">
          <a:xfrm>
            <a:off x="731520" y="1389888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50" b="1">
                <a:solidFill>
                  <a:srgbClr val="3A6AD6"/>
                </a:solidFill>
                <a:latin typeface="Calibri"/>
                <a:ea typeface="Calibri"/>
                <a:cs typeface="Calibri"/>
              </a:rPr>
              <a:t>IBM Bob Hackathon 2026  ·  Track U1</a:t>
            </a:r>
            <a:endParaRPr lang="en-US" sz="1050"/>
          </a:p>
        </p:txBody>
      </p:sp>
      <p:sp>
        <p:nvSpPr>
          <p:cNvPr id="1044423576" name="Text 7"/>
          <p:cNvSpPr txBox="1"/>
          <p:nvPr/>
        </p:nvSpPr>
        <p:spPr bwMode="auto">
          <a:xfrm>
            <a:off x="731520" y="1847088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5400" b="1">
                <a:solidFill>
                  <a:srgbClr val="1F2020"/>
                </a:solidFill>
                <a:latin typeface="Calibri"/>
                <a:ea typeface="Calibri"/>
                <a:cs typeface="Calibri"/>
              </a:rPr>
              <a:t>Bottleneck AI</a:t>
            </a:r>
            <a:endParaRPr lang="en-US" sz="5400"/>
          </a:p>
        </p:txBody>
      </p:sp>
      <p:sp>
        <p:nvSpPr>
          <p:cNvPr id="1200128872" name="Text 8"/>
          <p:cNvSpPr txBox="1"/>
          <p:nvPr/>
        </p:nvSpPr>
        <p:spPr bwMode="auto">
          <a:xfrm>
            <a:off x="731520" y="2761488"/>
            <a:ext cx="6400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800"/>
              </a:lnSpc>
              <a:buNone/>
              <a:defRPr/>
            </a:pPr>
            <a:r>
              <a:rPr lang="en-US" sz="2200" b="1">
                <a:solidFill>
                  <a:srgbClr val="3A6AD6"/>
                </a:solidFill>
                <a:latin typeface="Calibri"/>
                <a:ea typeface="Calibri"/>
                <a:cs typeface="Calibri"/>
              </a:rPr>
              <a:t>Power Outage Prediction &amp;</a:t>
            </a:r>
            <a:endParaRPr lang="en-US" sz="2200"/>
          </a:p>
          <a:p>
            <a:pPr marL="0" indent="0">
              <a:lnSpc>
                <a:spcPts val="2800"/>
              </a:lnSpc>
              <a:buNone/>
              <a:defRPr/>
            </a:pPr>
            <a:r>
              <a:rPr lang="en-US" sz="2200" b="1">
                <a:solidFill>
                  <a:srgbClr val="3A6AD6"/>
                </a:solidFill>
                <a:latin typeface="Calibri"/>
                <a:ea typeface="Calibri"/>
                <a:cs typeface="Calibri"/>
              </a:rPr>
              <a:t>Grid Equipment Failure Advisor</a:t>
            </a:r>
            <a:endParaRPr lang="en-US" sz="2200"/>
          </a:p>
        </p:txBody>
      </p:sp>
      <p:sp>
        <p:nvSpPr>
          <p:cNvPr id="1799583046" name="Text 9"/>
          <p:cNvSpPr txBox="1"/>
          <p:nvPr/>
        </p:nvSpPr>
        <p:spPr bwMode="auto">
          <a:xfrm>
            <a:off x="731520" y="3730752"/>
            <a:ext cx="6126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  <a:defRPr/>
            </a:pPr>
            <a:r>
              <a:rPr lang="en-US" sz="1250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Predict which grid equipment fails in the next 24–72 hours, explain why, rank it by real operational impact, and put the right crew on site before the lights go out.</a:t>
            </a:r>
            <a:endParaRPr lang="en-US" sz="1250"/>
          </a:p>
        </p:txBody>
      </p:sp>
      <p:sp>
        <p:nvSpPr>
          <p:cNvPr id="1600138214" name="Text 10"/>
          <p:cNvSpPr txBox="1"/>
          <p:nvPr/>
        </p:nvSpPr>
        <p:spPr bwMode="auto">
          <a:xfrm>
            <a:off x="731520" y="464515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50" b="1" spc="180">
                <a:solidFill>
                  <a:srgbClr val="3A6AD6"/>
                </a:solidFill>
                <a:latin typeface="Calibri"/>
                <a:ea typeface="Calibri"/>
                <a:cs typeface="Calibri"/>
              </a:rPr>
              <a:t>THE TEAM</a:t>
            </a:r>
            <a:endParaRPr lang="en-US" sz="950"/>
          </a:p>
        </p:txBody>
      </p:sp>
      <p:sp>
        <p:nvSpPr>
          <p:cNvPr id="101837035" name="Shape 11"/>
          <p:cNvSpPr/>
          <p:nvPr/>
        </p:nvSpPr>
        <p:spPr bwMode="auto">
          <a:xfrm>
            <a:off x="731520" y="4974336"/>
            <a:ext cx="603504" cy="603504"/>
          </a:xfrm>
          <a:prstGeom prst="ellipse">
            <a:avLst/>
          </a:prstGeom>
          <a:solidFill>
            <a:srgbClr val="3A6AD6"/>
          </a:solidFill>
          <a:ln w="12700">
            <a:solidFill>
              <a:srgbClr val="3A6AD6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970805965" name="Text 12"/>
          <p:cNvSpPr txBox="1"/>
          <p:nvPr/>
        </p:nvSpPr>
        <p:spPr bwMode="auto">
          <a:xfrm>
            <a:off x="731520" y="497433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UK</a:t>
            </a:r>
            <a:endParaRPr lang="en-US" sz="1400"/>
          </a:p>
        </p:txBody>
      </p:sp>
      <p:sp>
        <p:nvSpPr>
          <p:cNvPr id="1070369269" name="Text 13"/>
          <p:cNvSpPr txBox="1"/>
          <p:nvPr/>
        </p:nvSpPr>
        <p:spPr bwMode="auto">
          <a:xfrm>
            <a:off x="530352" y="5632704"/>
            <a:ext cx="1481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950" b="1">
                <a:solidFill>
                  <a:srgbClr val="1F2020"/>
                </a:solidFill>
                <a:latin typeface="Calibri"/>
                <a:ea typeface="Calibri"/>
                <a:cs typeface="Calibri"/>
              </a:rPr>
              <a:t>Urval Kheni</a:t>
            </a:r>
            <a:endParaRPr lang="en-US" sz="950"/>
          </a:p>
        </p:txBody>
      </p:sp>
      <p:sp>
        <p:nvSpPr>
          <p:cNvPr id="1470944933" name="Text 14"/>
          <p:cNvSpPr txBox="1"/>
          <p:nvPr/>
        </p:nvSpPr>
        <p:spPr bwMode="auto">
          <a:xfrm>
            <a:off x="530352" y="5852160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850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Team Lead</a:t>
            </a:r>
            <a:endParaRPr lang="en-US" sz="850"/>
          </a:p>
        </p:txBody>
      </p:sp>
      <p:sp>
        <p:nvSpPr>
          <p:cNvPr id="1831061866" name="Shape 15"/>
          <p:cNvSpPr/>
          <p:nvPr/>
        </p:nvSpPr>
        <p:spPr bwMode="auto">
          <a:xfrm>
            <a:off x="2304288" y="4974336"/>
            <a:ext cx="603504" cy="603504"/>
          </a:xfrm>
          <a:prstGeom prst="ellipse">
            <a:avLst/>
          </a:prstGeom>
          <a:solidFill>
            <a:srgbClr val="E9EFFD"/>
          </a:solidFill>
          <a:ln w="12700">
            <a:solidFill>
              <a:srgbClr val="D5E0FB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446463671" name="Text 16"/>
          <p:cNvSpPr txBox="1"/>
          <p:nvPr/>
        </p:nvSpPr>
        <p:spPr bwMode="auto">
          <a:xfrm>
            <a:off x="2304288" y="497433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3A6AD6"/>
                </a:solidFill>
                <a:latin typeface="Calibri"/>
                <a:ea typeface="Calibri"/>
                <a:cs typeface="Calibri"/>
              </a:rPr>
              <a:t>DV</a:t>
            </a:r>
            <a:endParaRPr lang="en-US" sz="1400"/>
          </a:p>
        </p:txBody>
      </p:sp>
      <p:sp>
        <p:nvSpPr>
          <p:cNvPr id="385194883" name="Text 17"/>
          <p:cNvSpPr txBox="1"/>
          <p:nvPr/>
        </p:nvSpPr>
        <p:spPr bwMode="auto">
          <a:xfrm>
            <a:off x="2103120" y="5632704"/>
            <a:ext cx="1481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950" b="1">
                <a:solidFill>
                  <a:srgbClr val="1F2020"/>
                </a:solidFill>
                <a:latin typeface="Calibri"/>
                <a:ea typeface="Calibri"/>
                <a:cs typeface="Calibri"/>
              </a:rPr>
              <a:t>Dhruvin Vaghasiya</a:t>
            </a:r>
            <a:endParaRPr lang="en-US" sz="950"/>
          </a:p>
        </p:txBody>
      </p:sp>
      <p:sp>
        <p:nvSpPr>
          <p:cNvPr id="1396083849" name="Text 18"/>
          <p:cNvSpPr txBox="1"/>
          <p:nvPr/>
        </p:nvSpPr>
        <p:spPr bwMode="auto">
          <a:xfrm>
            <a:off x="2103120" y="5852160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850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Engineer</a:t>
            </a:r>
            <a:endParaRPr lang="en-US" sz="850"/>
          </a:p>
        </p:txBody>
      </p:sp>
      <p:sp>
        <p:nvSpPr>
          <p:cNvPr id="718823341" name="Shape 19"/>
          <p:cNvSpPr/>
          <p:nvPr/>
        </p:nvSpPr>
        <p:spPr bwMode="auto">
          <a:xfrm>
            <a:off x="3877056" y="4974336"/>
            <a:ext cx="603504" cy="603504"/>
          </a:xfrm>
          <a:prstGeom prst="ellipse">
            <a:avLst/>
          </a:prstGeom>
          <a:solidFill>
            <a:srgbClr val="E9EFFD"/>
          </a:solidFill>
          <a:ln w="12700">
            <a:solidFill>
              <a:srgbClr val="D5E0FB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982423256" name="Text 20"/>
          <p:cNvSpPr txBox="1"/>
          <p:nvPr/>
        </p:nvSpPr>
        <p:spPr bwMode="auto">
          <a:xfrm>
            <a:off x="3877056" y="497433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3A6AD6"/>
                </a:solidFill>
                <a:latin typeface="Calibri"/>
                <a:ea typeface="Calibri"/>
                <a:cs typeface="Calibri"/>
              </a:rPr>
              <a:t>HM</a:t>
            </a:r>
            <a:endParaRPr lang="en-US" sz="1400"/>
          </a:p>
        </p:txBody>
      </p:sp>
      <p:sp>
        <p:nvSpPr>
          <p:cNvPr id="1807141406" name="Text 21"/>
          <p:cNvSpPr txBox="1"/>
          <p:nvPr/>
        </p:nvSpPr>
        <p:spPr bwMode="auto">
          <a:xfrm>
            <a:off x="3675888" y="5632704"/>
            <a:ext cx="1481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950" b="1">
                <a:solidFill>
                  <a:srgbClr val="1F2020"/>
                </a:solidFill>
                <a:latin typeface="Calibri"/>
                <a:ea typeface="Calibri"/>
                <a:cs typeface="Calibri"/>
              </a:rPr>
              <a:t>Heet Mehta</a:t>
            </a:r>
            <a:endParaRPr lang="en-US" sz="950"/>
          </a:p>
        </p:txBody>
      </p:sp>
      <p:sp>
        <p:nvSpPr>
          <p:cNvPr id="1471341963" name="Text 22"/>
          <p:cNvSpPr txBox="1"/>
          <p:nvPr/>
        </p:nvSpPr>
        <p:spPr bwMode="auto">
          <a:xfrm>
            <a:off x="3675888" y="5852160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850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Engineer</a:t>
            </a:r>
            <a:endParaRPr lang="en-US" sz="850"/>
          </a:p>
        </p:txBody>
      </p:sp>
      <p:sp>
        <p:nvSpPr>
          <p:cNvPr id="1080592052" name="Shape 23"/>
          <p:cNvSpPr/>
          <p:nvPr/>
        </p:nvSpPr>
        <p:spPr bwMode="auto">
          <a:xfrm>
            <a:off x="5449823" y="4974336"/>
            <a:ext cx="603504" cy="603504"/>
          </a:xfrm>
          <a:prstGeom prst="ellipse">
            <a:avLst/>
          </a:prstGeom>
          <a:solidFill>
            <a:srgbClr val="E9EFFD"/>
          </a:solidFill>
          <a:ln w="12700">
            <a:solidFill>
              <a:srgbClr val="D5E0FB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394454659" name="Text 24"/>
          <p:cNvSpPr txBox="1"/>
          <p:nvPr/>
        </p:nvSpPr>
        <p:spPr bwMode="auto">
          <a:xfrm>
            <a:off x="5449823" y="497433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3A6AD6"/>
                </a:solidFill>
                <a:latin typeface="Calibri"/>
                <a:ea typeface="Calibri"/>
                <a:cs typeface="Calibri"/>
              </a:rPr>
              <a:t>KP</a:t>
            </a:r>
            <a:endParaRPr lang="en-US" sz="1400"/>
          </a:p>
        </p:txBody>
      </p:sp>
      <p:sp>
        <p:nvSpPr>
          <p:cNvPr id="1998673789" name="Text 25"/>
          <p:cNvSpPr txBox="1"/>
          <p:nvPr/>
        </p:nvSpPr>
        <p:spPr bwMode="auto">
          <a:xfrm>
            <a:off x="5248656" y="5632704"/>
            <a:ext cx="1481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950" b="1">
                <a:solidFill>
                  <a:srgbClr val="1F2020"/>
                </a:solidFill>
                <a:latin typeface="Calibri"/>
                <a:ea typeface="Calibri"/>
                <a:cs typeface="Calibri"/>
              </a:rPr>
              <a:t>Krish Patel</a:t>
            </a:r>
            <a:endParaRPr lang="en-US" sz="950"/>
          </a:p>
        </p:txBody>
      </p:sp>
      <p:sp>
        <p:nvSpPr>
          <p:cNvPr id="678666029" name="Text 26"/>
          <p:cNvSpPr txBox="1"/>
          <p:nvPr/>
        </p:nvSpPr>
        <p:spPr bwMode="auto">
          <a:xfrm>
            <a:off x="5248656" y="5852160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850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Engineer</a:t>
            </a:r>
            <a:endParaRPr lang="en-US" sz="850"/>
          </a:p>
        </p:txBody>
      </p:sp>
      <p:pic>
        <p:nvPicPr>
          <p:cNvPr id="2082540939" name="Image 0" descr="shots/hero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7360920" y="1389888"/>
            <a:ext cx="4160519" cy="1764792"/>
          </a:xfrm>
          <a:prstGeom prst="rect">
            <a:avLst/>
          </a:prstGeom>
          <a:effectLst>
            <a:outerShdw blurRad="203200" dist="50800" dir="5400000" sx="100000" sy="100000" kx="0" ky="0" algn="bl" rotWithShape="0">
              <a:srgbClr val="8C97AD">
                <a:alpha val="40000"/>
              </a:srgbClr>
            </a:outerShdw>
          </a:effectLst>
        </p:spPr>
      </p:pic>
      <p:pic>
        <p:nvPicPr>
          <p:cNvPr id="1996643387" name="Image 1" descr="shots/comman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7360920" y="3346704"/>
            <a:ext cx="4160519" cy="1947671"/>
          </a:xfrm>
          <a:prstGeom prst="rect">
            <a:avLst/>
          </a:prstGeom>
          <a:effectLst>
            <a:outerShdw blurRad="203200" dist="50800" dir="5400000" sx="100000" sy="100000" kx="0" ky="0" algn="bl" rotWithShape="0">
              <a:srgbClr val="8C97AD">
                <a:alpha val="40000"/>
              </a:srgbClr>
            </a:outerShdw>
          </a:effectLst>
        </p:spPr>
      </p:pic>
      <p:sp>
        <p:nvSpPr>
          <p:cNvPr id="1514559975" name="Text 27"/>
          <p:cNvSpPr txBox="1"/>
          <p:nvPr/>
        </p:nvSpPr>
        <p:spPr bwMode="auto">
          <a:xfrm>
            <a:off x="7360920" y="5413248"/>
            <a:ext cx="41605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950" i="1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Live product — marketing site + operator command center</a:t>
            </a:r>
            <a:endParaRPr lang="en-US" sz="95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2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7300994" name="Shape 0"/>
          <p:cNvSpPr/>
          <p:nvPr/>
        </p:nvSpPr>
        <p:spPr bwMode="auto">
          <a:xfrm>
            <a:off x="502920" y="310896"/>
            <a:ext cx="274320" cy="274320"/>
          </a:xfrm>
          <a:prstGeom prst="roundRect">
            <a:avLst>
              <a:gd name="adj" fmla="val 23333"/>
            </a:avLst>
          </a:prstGeom>
          <a:solidFill>
            <a:srgbClr val="3A6AD6"/>
          </a:solidFill>
          <a:ln w="12700">
            <a:solidFill>
              <a:srgbClr val="3A6AD6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936760814" name="Text 1"/>
          <p:cNvSpPr txBox="1"/>
          <p:nvPr/>
        </p:nvSpPr>
        <p:spPr bwMode="auto">
          <a:xfrm>
            <a:off x="502920" y="3108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FFFFFF"/>
                </a:solidFill>
              </a:rPr>
              <a:t>⚡</a:t>
            </a:r>
            <a:endParaRPr lang="en-US" sz="1200"/>
          </a:p>
        </p:txBody>
      </p:sp>
      <p:sp>
        <p:nvSpPr>
          <p:cNvPr id="692413829" name="Text 2"/>
          <p:cNvSpPr txBox="1"/>
          <p:nvPr/>
        </p:nvSpPr>
        <p:spPr bwMode="auto">
          <a:xfrm>
            <a:off x="850392" y="30175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1F2020"/>
                </a:solidFill>
                <a:latin typeface="Calibri"/>
                <a:ea typeface="Calibri"/>
                <a:cs typeface="Calibri"/>
              </a:rPr>
              <a:t>Bottleneck AI</a:t>
            </a:r>
            <a:endParaRPr lang="en-US" sz="1200"/>
          </a:p>
        </p:txBody>
      </p:sp>
      <p:sp>
        <p:nvSpPr>
          <p:cNvPr id="719670669" name="Text 3"/>
          <p:cNvSpPr txBox="1"/>
          <p:nvPr/>
        </p:nvSpPr>
        <p:spPr bwMode="auto">
          <a:xfrm>
            <a:off x="8229600" y="30175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  <a:defRPr/>
            </a:pPr>
            <a:r>
              <a:rPr lang="en-US" sz="950" b="1" spc="160">
                <a:solidFill>
                  <a:srgbClr val="3A6AD6"/>
                </a:solidFill>
                <a:latin typeface="Calibri"/>
                <a:ea typeface="Calibri"/>
                <a:cs typeface="Calibri"/>
              </a:rPr>
              <a:t>THE PROBLEM</a:t>
            </a:r>
            <a:endParaRPr lang="en-US" sz="950"/>
          </a:p>
        </p:txBody>
      </p:sp>
      <p:sp>
        <p:nvSpPr>
          <p:cNvPr id="507594641" name="Shape 4"/>
          <p:cNvSpPr/>
          <p:nvPr/>
        </p:nvSpPr>
        <p:spPr bwMode="auto">
          <a:xfrm>
            <a:off x="11356848" y="6236208"/>
            <a:ext cx="384048" cy="310896"/>
          </a:xfrm>
          <a:prstGeom prst="roundRect">
            <a:avLst>
              <a:gd name="adj" fmla="val 23529"/>
            </a:avLst>
          </a:prstGeom>
          <a:solidFill>
            <a:srgbClr val="3A6AD6"/>
          </a:solidFill>
          <a:ln w="12700">
            <a:solidFill>
              <a:srgbClr val="3A6AD6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040470639" name="Text 5"/>
          <p:cNvSpPr txBox="1"/>
          <p:nvPr/>
        </p:nvSpPr>
        <p:spPr bwMode="auto">
          <a:xfrm>
            <a:off x="11356848" y="6236208"/>
            <a:ext cx="384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02</a:t>
            </a:r>
            <a:endParaRPr lang="en-US" sz="1000"/>
          </a:p>
        </p:txBody>
      </p:sp>
      <p:sp>
        <p:nvSpPr>
          <p:cNvPr id="1387417868" name="Text 6"/>
          <p:cNvSpPr txBox="1"/>
          <p:nvPr/>
        </p:nvSpPr>
        <p:spPr bwMode="auto">
          <a:xfrm>
            <a:off x="685800" y="868680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3400" b="1">
                <a:solidFill>
                  <a:srgbClr val="1F2020"/>
                </a:solidFill>
                <a:latin typeface="Calibri"/>
                <a:ea typeface="Calibri"/>
                <a:cs typeface="Calibri"/>
              </a:rPr>
              <a:t>Utilities lose billions to failures they never saw coming</a:t>
            </a:r>
            <a:endParaRPr lang="en-US" sz="3400"/>
          </a:p>
        </p:txBody>
      </p:sp>
      <p:sp>
        <p:nvSpPr>
          <p:cNvPr id="1376997921" name="Text 7"/>
          <p:cNvSpPr txBox="1"/>
          <p:nvPr/>
        </p:nvSpPr>
        <p:spPr bwMode="auto">
          <a:xfrm>
            <a:off x="685800" y="1472184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Transformer failure is the #1 cause of outages — and today it is discovered only after the power is already gone.</a:t>
            </a:r>
            <a:endParaRPr lang="en-US" sz="1400"/>
          </a:p>
        </p:txBody>
      </p:sp>
      <p:sp>
        <p:nvSpPr>
          <p:cNvPr id="831019999" name="Shape 8"/>
          <p:cNvSpPr/>
          <p:nvPr/>
        </p:nvSpPr>
        <p:spPr bwMode="auto">
          <a:xfrm>
            <a:off x="685800" y="2212848"/>
            <a:ext cx="2578608" cy="1298448"/>
          </a:xfrm>
          <a:prstGeom prst="roundRect">
            <a:avLst>
              <a:gd name="adj" fmla="val 4225"/>
            </a:avLst>
          </a:prstGeom>
          <a:solidFill>
            <a:srgbClr val="FFFFFF"/>
          </a:solidFill>
          <a:ln w="12700">
            <a:solidFill>
              <a:srgbClr val="DDE3F2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658310942" name="Text 9"/>
          <p:cNvSpPr txBox="1"/>
          <p:nvPr/>
        </p:nvSpPr>
        <p:spPr bwMode="auto">
          <a:xfrm>
            <a:off x="886968" y="2377440"/>
            <a:ext cx="21762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3000" b="1">
                <a:solidFill>
                  <a:srgbClr val="E8511F"/>
                </a:solidFill>
                <a:latin typeface="Calibri"/>
                <a:ea typeface="Calibri"/>
                <a:cs typeface="Calibri"/>
              </a:rPr>
              <a:t>$0.5B+</a:t>
            </a:r>
            <a:endParaRPr lang="en-US" sz="3000"/>
          </a:p>
        </p:txBody>
      </p:sp>
      <p:sp>
        <p:nvSpPr>
          <p:cNvPr id="1293486148" name="Text 10"/>
          <p:cNvSpPr txBox="1"/>
          <p:nvPr/>
        </p:nvSpPr>
        <p:spPr bwMode="auto">
          <a:xfrm>
            <a:off x="886968" y="2907792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150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Lost annually to preventable equipment failures</a:t>
            </a:r>
            <a:endParaRPr lang="en-US" sz="1150"/>
          </a:p>
        </p:txBody>
      </p:sp>
      <p:sp>
        <p:nvSpPr>
          <p:cNvPr id="2010993155" name="Shape 11"/>
          <p:cNvSpPr/>
          <p:nvPr/>
        </p:nvSpPr>
        <p:spPr bwMode="auto">
          <a:xfrm>
            <a:off x="3483864" y="2212848"/>
            <a:ext cx="2578608" cy="1298448"/>
          </a:xfrm>
          <a:prstGeom prst="roundRect">
            <a:avLst>
              <a:gd name="adj" fmla="val 4225"/>
            </a:avLst>
          </a:prstGeom>
          <a:solidFill>
            <a:srgbClr val="FFFFFF"/>
          </a:solidFill>
          <a:ln w="12700">
            <a:solidFill>
              <a:srgbClr val="DDE3F2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401152095" name="Text 12"/>
          <p:cNvSpPr txBox="1"/>
          <p:nvPr/>
        </p:nvSpPr>
        <p:spPr bwMode="auto">
          <a:xfrm>
            <a:off x="3685032" y="2377440"/>
            <a:ext cx="21762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3000" b="1">
                <a:solidFill>
                  <a:srgbClr val="3A6AD6"/>
                </a:solidFill>
                <a:latin typeface="Calibri"/>
                <a:ea typeface="Calibri"/>
                <a:cs typeface="Calibri"/>
              </a:rPr>
              <a:t>1.4B</a:t>
            </a:r>
            <a:endParaRPr lang="en-US" sz="3000"/>
          </a:p>
        </p:txBody>
      </p:sp>
      <p:sp>
        <p:nvSpPr>
          <p:cNvPr id="59939252" name="Text 13"/>
          <p:cNvSpPr txBox="1"/>
          <p:nvPr/>
        </p:nvSpPr>
        <p:spPr bwMode="auto">
          <a:xfrm>
            <a:off x="3685032" y="2907792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150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People dependent on India's grid</a:t>
            </a:r>
            <a:endParaRPr lang="en-US" sz="1150"/>
          </a:p>
        </p:txBody>
      </p:sp>
      <p:sp>
        <p:nvSpPr>
          <p:cNvPr id="471643397" name="Shape 14"/>
          <p:cNvSpPr/>
          <p:nvPr/>
        </p:nvSpPr>
        <p:spPr bwMode="auto">
          <a:xfrm>
            <a:off x="6281928" y="2212848"/>
            <a:ext cx="2578608" cy="1298448"/>
          </a:xfrm>
          <a:prstGeom prst="roundRect">
            <a:avLst>
              <a:gd name="adj" fmla="val 4225"/>
            </a:avLst>
          </a:prstGeom>
          <a:solidFill>
            <a:srgbClr val="FFFFFF"/>
          </a:solidFill>
          <a:ln w="12700">
            <a:solidFill>
              <a:srgbClr val="DDE3F2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706161049" name="Text 15"/>
          <p:cNvSpPr txBox="1"/>
          <p:nvPr/>
        </p:nvSpPr>
        <p:spPr bwMode="auto">
          <a:xfrm>
            <a:off x="6483096" y="2377440"/>
            <a:ext cx="21762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3000" b="1">
                <a:solidFill>
                  <a:srgbClr val="E8511F"/>
                </a:solidFill>
                <a:latin typeface="Calibri"/>
                <a:ea typeface="Calibri"/>
                <a:cs typeface="Calibri"/>
              </a:rPr>
              <a:t>5–8h</a:t>
            </a:r>
            <a:endParaRPr lang="en-US" sz="3000"/>
          </a:p>
        </p:txBody>
      </p:sp>
      <p:sp>
        <p:nvSpPr>
          <p:cNvPr id="1732708347" name="Text 16"/>
          <p:cNvSpPr txBox="1"/>
          <p:nvPr/>
        </p:nvSpPr>
        <p:spPr bwMode="auto">
          <a:xfrm>
            <a:off x="6483096" y="2907792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150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Average urban outage duration</a:t>
            </a:r>
            <a:endParaRPr lang="en-US" sz="1150"/>
          </a:p>
        </p:txBody>
      </p:sp>
      <p:sp>
        <p:nvSpPr>
          <p:cNvPr id="453595125" name="Shape 17"/>
          <p:cNvSpPr/>
          <p:nvPr/>
        </p:nvSpPr>
        <p:spPr bwMode="auto">
          <a:xfrm>
            <a:off x="9079992" y="2212848"/>
            <a:ext cx="2578608" cy="1298448"/>
          </a:xfrm>
          <a:prstGeom prst="roundRect">
            <a:avLst>
              <a:gd name="adj" fmla="val 4225"/>
            </a:avLst>
          </a:prstGeom>
          <a:solidFill>
            <a:srgbClr val="FFFFFF"/>
          </a:solidFill>
          <a:ln w="12700">
            <a:solidFill>
              <a:srgbClr val="DDE3F2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815154383" name="Text 18"/>
          <p:cNvSpPr txBox="1"/>
          <p:nvPr/>
        </p:nvSpPr>
        <p:spPr bwMode="auto">
          <a:xfrm>
            <a:off x="9281160" y="2377440"/>
            <a:ext cx="21762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3000" b="1">
                <a:solidFill>
                  <a:srgbClr val="3A6AD6"/>
                </a:solidFill>
                <a:latin typeface="Calibri"/>
                <a:ea typeface="Calibri"/>
                <a:cs typeface="Calibri"/>
              </a:rPr>
              <a:t>#1</a:t>
            </a:r>
            <a:endParaRPr lang="en-US" sz="3000"/>
          </a:p>
        </p:txBody>
      </p:sp>
      <p:sp>
        <p:nvSpPr>
          <p:cNvPr id="1833602275" name="Text 19"/>
          <p:cNvSpPr txBox="1"/>
          <p:nvPr/>
        </p:nvSpPr>
        <p:spPr bwMode="auto">
          <a:xfrm>
            <a:off x="9281160" y="2907792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150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Transformers as outage root cause</a:t>
            </a:r>
            <a:endParaRPr lang="en-US" sz="1150"/>
          </a:p>
        </p:txBody>
      </p:sp>
      <p:sp>
        <p:nvSpPr>
          <p:cNvPr id="793092696" name="Shape 20"/>
          <p:cNvSpPr/>
          <p:nvPr/>
        </p:nvSpPr>
        <p:spPr bwMode="auto">
          <a:xfrm>
            <a:off x="685800" y="3767328"/>
            <a:ext cx="5358384" cy="1225296"/>
          </a:xfrm>
          <a:prstGeom prst="roundRect">
            <a:avLst>
              <a:gd name="adj" fmla="val 4478"/>
            </a:avLst>
          </a:prstGeom>
          <a:solidFill>
            <a:srgbClr val="FDF3F0"/>
          </a:solidFill>
          <a:ln w="12700">
            <a:solidFill>
              <a:srgbClr val="F7DED5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959690064" name="Shape 21"/>
          <p:cNvSpPr/>
          <p:nvPr/>
        </p:nvSpPr>
        <p:spPr bwMode="auto">
          <a:xfrm>
            <a:off x="941832" y="4005072"/>
            <a:ext cx="402336" cy="402336"/>
          </a:xfrm>
          <a:prstGeom prst="ellipse">
            <a:avLst/>
          </a:prstGeom>
          <a:solidFill>
            <a:srgbClr val="E8511F"/>
          </a:solidFill>
          <a:ln w="12700">
            <a:solidFill>
              <a:srgbClr val="E8511F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007336178" name="Text 22"/>
          <p:cNvSpPr txBox="1"/>
          <p:nvPr/>
        </p:nvSpPr>
        <p:spPr bwMode="auto">
          <a:xfrm>
            <a:off x="941832" y="4005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  <a:endParaRPr lang="en-US" sz="1200"/>
          </a:p>
        </p:txBody>
      </p:sp>
      <p:sp>
        <p:nvSpPr>
          <p:cNvPr id="172983611" name="Text 23"/>
          <p:cNvSpPr txBox="1"/>
          <p:nvPr/>
        </p:nvSpPr>
        <p:spPr bwMode="auto">
          <a:xfrm>
            <a:off x="1453896" y="4014216"/>
            <a:ext cx="43525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50" b="1">
                <a:solidFill>
                  <a:srgbClr val="1F2020"/>
                </a:solidFill>
                <a:latin typeface="Calibri"/>
                <a:ea typeface="Calibri"/>
                <a:cs typeface="Calibri"/>
              </a:rPr>
              <a:t>Maintenance is reactive</a:t>
            </a:r>
            <a:endParaRPr lang="en-US" sz="1450"/>
          </a:p>
        </p:txBody>
      </p:sp>
      <p:sp>
        <p:nvSpPr>
          <p:cNvPr id="1501576998" name="Text 24"/>
          <p:cNvSpPr txBox="1"/>
          <p:nvPr/>
        </p:nvSpPr>
        <p:spPr bwMode="auto">
          <a:xfrm>
            <a:off x="941832" y="4517136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150">
                <a:solidFill>
                  <a:srgbClr val="4B5563"/>
                </a:solidFill>
                <a:latin typeface="Calibri"/>
                <a:ea typeface="Calibri"/>
                <a:cs typeface="Calibri"/>
              </a:rPr>
              <a:t>Crews are sent on fixed calendars to low-risk assets while critical transformers degrade silently in the field.</a:t>
            </a:r>
            <a:endParaRPr lang="en-US" sz="1150"/>
          </a:p>
        </p:txBody>
      </p:sp>
      <p:sp>
        <p:nvSpPr>
          <p:cNvPr id="1044788015" name="Shape 25"/>
          <p:cNvSpPr/>
          <p:nvPr/>
        </p:nvSpPr>
        <p:spPr bwMode="auto">
          <a:xfrm>
            <a:off x="6281928" y="3767328"/>
            <a:ext cx="5358384" cy="1225296"/>
          </a:xfrm>
          <a:prstGeom prst="roundRect">
            <a:avLst>
              <a:gd name="adj" fmla="val 4478"/>
            </a:avLst>
          </a:prstGeom>
          <a:solidFill>
            <a:srgbClr val="F4F6FB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415019270" name="Shape 26"/>
          <p:cNvSpPr/>
          <p:nvPr/>
        </p:nvSpPr>
        <p:spPr bwMode="auto">
          <a:xfrm>
            <a:off x="6537960" y="4005072"/>
            <a:ext cx="402336" cy="402336"/>
          </a:xfrm>
          <a:prstGeom prst="ellipse">
            <a:avLst/>
          </a:prstGeom>
          <a:solidFill>
            <a:srgbClr val="3A6AD6"/>
          </a:solidFill>
          <a:ln w="12700">
            <a:solidFill>
              <a:srgbClr val="3A6AD6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767452012" name="Text 27"/>
          <p:cNvSpPr txBox="1"/>
          <p:nvPr/>
        </p:nvSpPr>
        <p:spPr bwMode="auto">
          <a:xfrm>
            <a:off x="6537960" y="4005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  <a:endParaRPr lang="en-US" sz="1200"/>
          </a:p>
        </p:txBody>
      </p:sp>
      <p:sp>
        <p:nvSpPr>
          <p:cNvPr id="1099136127" name="Text 28"/>
          <p:cNvSpPr txBox="1"/>
          <p:nvPr/>
        </p:nvSpPr>
        <p:spPr bwMode="auto">
          <a:xfrm>
            <a:off x="7050024" y="4014216"/>
            <a:ext cx="43525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50" b="1">
                <a:solidFill>
                  <a:srgbClr val="1F2020"/>
                </a:solidFill>
                <a:latin typeface="Calibri"/>
                <a:ea typeface="Calibri"/>
                <a:cs typeface="Calibri"/>
              </a:rPr>
              <a:t>Existing tools predict probability only</a:t>
            </a:r>
            <a:endParaRPr lang="en-US" sz="1450"/>
          </a:p>
        </p:txBody>
      </p:sp>
      <p:sp>
        <p:nvSpPr>
          <p:cNvPr id="873594326" name="Text 29"/>
          <p:cNvSpPr txBox="1"/>
          <p:nvPr/>
        </p:nvSpPr>
        <p:spPr bwMode="auto">
          <a:xfrm>
            <a:off x="6537960" y="4517136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150">
                <a:solidFill>
                  <a:srgbClr val="4B5563"/>
                </a:solidFill>
                <a:latin typeface="Calibri"/>
                <a:ea typeface="Calibri"/>
                <a:cs typeface="Calibri"/>
              </a:rPr>
              <a:t>They answer "will it fail?" but never "does it matter?" — ignoring how many customers and critical facilities go dark.</a:t>
            </a:r>
            <a:endParaRPr lang="en-US" sz="1150"/>
          </a:p>
        </p:txBody>
      </p:sp>
      <p:sp>
        <p:nvSpPr>
          <p:cNvPr id="399361552" name="Shape 30"/>
          <p:cNvSpPr/>
          <p:nvPr/>
        </p:nvSpPr>
        <p:spPr bwMode="auto">
          <a:xfrm>
            <a:off x="685800" y="5230368"/>
            <a:ext cx="10954511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F3E2B8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609791611" name="Text 31"/>
          <p:cNvSpPr txBox="1"/>
          <p:nvPr/>
        </p:nvSpPr>
        <p:spPr bwMode="auto">
          <a:xfrm>
            <a:off x="960120" y="5230368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50" b="1">
                <a:solidFill>
                  <a:srgbClr val="7A5A12"/>
                </a:solidFill>
                <a:latin typeface="Calibri"/>
                <a:ea typeface="Calibri"/>
                <a:cs typeface="Calibri"/>
              </a:rPr>
              <a:t>The result: unnecessary outages, delayed restoration, and life-safety risk for hospitals, emergency services, and water treatment plants.</a:t>
            </a:r>
            <a:endParaRPr lang="en-US" sz="125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3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44916283" name="Shape 0"/>
          <p:cNvSpPr/>
          <p:nvPr/>
        </p:nvSpPr>
        <p:spPr bwMode="auto">
          <a:xfrm>
            <a:off x="502920" y="310896"/>
            <a:ext cx="274320" cy="274320"/>
          </a:xfrm>
          <a:prstGeom prst="roundRect">
            <a:avLst>
              <a:gd name="adj" fmla="val 23333"/>
            </a:avLst>
          </a:prstGeom>
          <a:solidFill>
            <a:srgbClr val="3A6AD6"/>
          </a:solidFill>
          <a:ln w="12700">
            <a:solidFill>
              <a:srgbClr val="3A6AD6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678809983" name="Text 1"/>
          <p:cNvSpPr txBox="1"/>
          <p:nvPr/>
        </p:nvSpPr>
        <p:spPr bwMode="auto">
          <a:xfrm>
            <a:off x="502920" y="3108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FFFFFF"/>
                </a:solidFill>
              </a:rPr>
              <a:t>⚡</a:t>
            </a:r>
            <a:endParaRPr lang="en-US" sz="1200"/>
          </a:p>
        </p:txBody>
      </p:sp>
      <p:sp>
        <p:nvSpPr>
          <p:cNvPr id="911633587" name="Text 2"/>
          <p:cNvSpPr txBox="1"/>
          <p:nvPr/>
        </p:nvSpPr>
        <p:spPr bwMode="auto">
          <a:xfrm>
            <a:off x="850392" y="30175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1F2020"/>
                </a:solidFill>
                <a:latin typeface="Calibri"/>
                <a:ea typeface="Calibri"/>
                <a:cs typeface="Calibri"/>
              </a:rPr>
              <a:t>Bottleneck AI</a:t>
            </a:r>
            <a:endParaRPr lang="en-US" sz="1200"/>
          </a:p>
        </p:txBody>
      </p:sp>
      <p:sp>
        <p:nvSpPr>
          <p:cNvPr id="1698349171" name="Text 3"/>
          <p:cNvSpPr txBox="1"/>
          <p:nvPr/>
        </p:nvSpPr>
        <p:spPr bwMode="auto">
          <a:xfrm>
            <a:off x="8229600" y="30175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  <a:defRPr/>
            </a:pPr>
            <a:r>
              <a:rPr lang="en-US" sz="950" b="1" spc="160">
                <a:solidFill>
                  <a:srgbClr val="3A6AD6"/>
                </a:solidFill>
                <a:latin typeface="Calibri"/>
                <a:ea typeface="Calibri"/>
                <a:cs typeface="Calibri"/>
              </a:rPr>
              <a:t>ROOT CAUSE</a:t>
            </a:r>
            <a:endParaRPr lang="en-US" sz="950"/>
          </a:p>
        </p:txBody>
      </p:sp>
      <p:sp>
        <p:nvSpPr>
          <p:cNvPr id="282579477" name="Shape 4"/>
          <p:cNvSpPr/>
          <p:nvPr/>
        </p:nvSpPr>
        <p:spPr bwMode="auto">
          <a:xfrm>
            <a:off x="11356848" y="6236208"/>
            <a:ext cx="384048" cy="310896"/>
          </a:xfrm>
          <a:prstGeom prst="roundRect">
            <a:avLst>
              <a:gd name="adj" fmla="val 23529"/>
            </a:avLst>
          </a:prstGeom>
          <a:solidFill>
            <a:srgbClr val="3A6AD6"/>
          </a:solidFill>
          <a:ln w="12700">
            <a:solidFill>
              <a:srgbClr val="3A6AD6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521722659" name="Text 5"/>
          <p:cNvSpPr txBox="1"/>
          <p:nvPr/>
        </p:nvSpPr>
        <p:spPr bwMode="auto">
          <a:xfrm>
            <a:off x="11356848" y="6236208"/>
            <a:ext cx="384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03</a:t>
            </a:r>
            <a:endParaRPr lang="en-US" sz="1000"/>
          </a:p>
        </p:txBody>
      </p:sp>
      <p:sp>
        <p:nvSpPr>
          <p:cNvPr id="1503929523" name="Text 6"/>
          <p:cNvSpPr txBox="1"/>
          <p:nvPr/>
        </p:nvSpPr>
        <p:spPr bwMode="auto">
          <a:xfrm>
            <a:off x="685800" y="868680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3400" b="1">
                <a:solidFill>
                  <a:srgbClr val="1F2020"/>
                </a:solidFill>
                <a:latin typeface="Calibri"/>
                <a:ea typeface="Calibri"/>
                <a:cs typeface="Calibri"/>
              </a:rPr>
              <a:t>Three gaps keep operators one step behind</a:t>
            </a:r>
            <a:endParaRPr lang="en-US" sz="3400"/>
          </a:p>
        </p:txBody>
      </p:sp>
      <p:sp>
        <p:nvSpPr>
          <p:cNvPr id="32428246" name="Text 7"/>
          <p:cNvSpPr txBox="1"/>
          <p:nvPr/>
        </p:nvSpPr>
        <p:spPr bwMode="auto">
          <a:xfrm>
            <a:off x="685800" y="1472184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Every one of them is a data problem before it is an engineering problem.</a:t>
            </a:r>
            <a:endParaRPr lang="en-US" sz="1400"/>
          </a:p>
        </p:txBody>
      </p:sp>
      <p:sp>
        <p:nvSpPr>
          <p:cNvPr id="21038596" name="Shape 8"/>
          <p:cNvSpPr/>
          <p:nvPr/>
        </p:nvSpPr>
        <p:spPr bwMode="auto">
          <a:xfrm>
            <a:off x="685800" y="2286000"/>
            <a:ext cx="3520440" cy="1965960"/>
          </a:xfrm>
          <a:prstGeom prst="roundRect">
            <a:avLst>
              <a:gd name="adj" fmla="val 2791"/>
            </a:avLst>
          </a:prstGeom>
          <a:solidFill>
            <a:srgbClr val="F4F6FB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028740383" name="Shape 9"/>
          <p:cNvSpPr/>
          <p:nvPr/>
        </p:nvSpPr>
        <p:spPr bwMode="auto">
          <a:xfrm>
            <a:off x="941832" y="2523744"/>
            <a:ext cx="402336" cy="402336"/>
          </a:xfrm>
          <a:prstGeom prst="ellipse">
            <a:avLst/>
          </a:prstGeom>
          <a:solidFill>
            <a:srgbClr val="3A6AD6"/>
          </a:solidFill>
          <a:ln w="12700">
            <a:solidFill>
              <a:srgbClr val="3A6AD6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274890331" name="Text 10"/>
          <p:cNvSpPr txBox="1"/>
          <p:nvPr/>
        </p:nvSpPr>
        <p:spPr bwMode="auto">
          <a:xfrm>
            <a:off x="941832" y="25237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01</a:t>
            </a:r>
            <a:endParaRPr lang="en-US" sz="1200"/>
          </a:p>
        </p:txBody>
      </p:sp>
      <p:sp>
        <p:nvSpPr>
          <p:cNvPr id="1779053098" name="Text 11"/>
          <p:cNvSpPr txBox="1"/>
          <p:nvPr/>
        </p:nvSpPr>
        <p:spPr bwMode="auto">
          <a:xfrm>
            <a:off x="1453896" y="2532888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50" b="1">
                <a:solidFill>
                  <a:srgbClr val="1F2020"/>
                </a:solidFill>
                <a:latin typeface="Calibri"/>
                <a:ea typeface="Calibri"/>
                <a:cs typeface="Calibri"/>
              </a:rPr>
              <a:t>Siloed data</a:t>
            </a:r>
            <a:endParaRPr lang="en-US" sz="1450"/>
          </a:p>
        </p:txBody>
      </p:sp>
      <p:sp>
        <p:nvSpPr>
          <p:cNvPr id="1117454634" name="Text 12"/>
          <p:cNvSpPr txBox="1"/>
          <p:nvPr/>
        </p:nvSpPr>
        <p:spPr bwMode="auto">
          <a:xfrm>
            <a:off x="941832" y="3035808"/>
            <a:ext cx="3008376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150">
                <a:solidFill>
                  <a:srgbClr val="4B5563"/>
                </a:solidFill>
                <a:latin typeface="Calibri"/>
                <a:ea typeface="Calibri"/>
                <a:cs typeface="Calibri"/>
              </a:rPr>
              <a:t>Telemetry, weather forecasts, and incident history live in separate systems that never meet. No unified view of risk exists anywhere in the control room.</a:t>
            </a:r>
            <a:endParaRPr lang="en-US" sz="1150"/>
          </a:p>
        </p:txBody>
      </p:sp>
      <p:sp>
        <p:nvSpPr>
          <p:cNvPr id="831144920" name="Shape 13"/>
          <p:cNvSpPr/>
          <p:nvPr/>
        </p:nvSpPr>
        <p:spPr bwMode="auto">
          <a:xfrm>
            <a:off x="4425696" y="2286000"/>
            <a:ext cx="3520440" cy="1965960"/>
          </a:xfrm>
          <a:prstGeom prst="roundRect">
            <a:avLst>
              <a:gd name="adj" fmla="val 2791"/>
            </a:avLst>
          </a:prstGeom>
          <a:solidFill>
            <a:srgbClr val="F4F6FB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458377299" name="Shape 14"/>
          <p:cNvSpPr/>
          <p:nvPr/>
        </p:nvSpPr>
        <p:spPr bwMode="auto">
          <a:xfrm>
            <a:off x="4681728" y="2523744"/>
            <a:ext cx="402336" cy="402336"/>
          </a:xfrm>
          <a:prstGeom prst="ellipse">
            <a:avLst/>
          </a:prstGeom>
          <a:solidFill>
            <a:srgbClr val="6C4BD6"/>
          </a:solidFill>
          <a:ln w="12700">
            <a:solidFill>
              <a:srgbClr val="6C4BD6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275258157" name="Text 15"/>
          <p:cNvSpPr txBox="1"/>
          <p:nvPr/>
        </p:nvSpPr>
        <p:spPr bwMode="auto">
          <a:xfrm>
            <a:off x="4681728" y="25237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02</a:t>
            </a:r>
            <a:endParaRPr lang="en-US" sz="1200"/>
          </a:p>
        </p:txBody>
      </p:sp>
      <p:sp>
        <p:nvSpPr>
          <p:cNvPr id="650928713" name="Text 16"/>
          <p:cNvSpPr txBox="1"/>
          <p:nvPr/>
        </p:nvSpPr>
        <p:spPr bwMode="auto">
          <a:xfrm>
            <a:off x="5193792" y="2532888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50" b="1">
                <a:solidFill>
                  <a:srgbClr val="1F2020"/>
                </a:solidFill>
                <a:latin typeface="Calibri"/>
                <a:ea typeface="Calibri"/>
                <a:cs typeface="Calibri"/>
              </a:rPr>
              <a:t>No downstream-impact awareness</a:t>
            </a:r>
            <a:endParaRPr lang="en-US" sz="1450"/>
          </a:p>
        </p:txBody>
      </p:sp>
      <p:sp>
        <p:nvSpPr>
          <p:cNvPr id="1382946025" name="Text 17"/>
          <p:cNvSpPr txBox="1"/>
          <p:nvPr/>
        </p:nvSpPr>
        <p:spPr bwMode="auto">
          <a:xfrm>
            <a:off x="4681728" y="3035808"/>
            <a:ext cx="3008376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150">
                <a:solidFill>
                  <a:srgbClr val="4B5563"/>
                </a:solidFill>
                <a:latin typeface="Calibri"/>
                <a:ea typeface="Calibri"/>
                <a:cs typeface="Calibri"/>
              </a:rPr>
              <a:t>Nothing answers the only question that matters to a dispatcher: if this asset fails, who actually loses power — and is a hospital on that feeder?</a:t>
            </a:r>
            <a:endParaRPr lang="en-US" sz="1150"/>
          </a:p>
        </p:txBody>
      </p:sp>
      <p:sp>
        <p:nvSpPr>
          <p:cNvPr id="267628707" name="Shape 18"/>
          <p:cNvSpPr/>
          <p:nvPr/>
        </p:nvSpPr>
        <p:spPr bwMode="auto">
          <a:xfrm>
            <a:off x="8165592" y="2286000"/>
            <a:ext cx="3520440" cy="1965960"/>
          </a:xfrm>
          <a:prstGeom prst="roundRect">
            <a:avLst>
              <a:gd name="adj" fmla="val 2791"/>
            </a:avLst>
          </a:prstGeom>
          <a:solidFill>
            <a:srgbClr val="F4F6FB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610888893" name="Shape 19"/>
          <p:cNvSpPr/>
          <p:nvPr/>
        </p:nvSpPr>
        <p:spPr bwMode="auto">
          <a:xfrm>
            <a:off x="8421624" y="2523744"/>
            <a:ext cx="402336" cy="402336"/>
          </a:xfrm>
          <a:prstGeom prst="ellipse">
            <a:avLst/>
          </a:prstGeom>
          <a:solidFill>
            <a:srgbClr val="E8511F"/>
          </a:solidFill>
          <a:ln w="12700">
            <a:solidFill>
              <a:srgbClr val="E8511F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450562171" name="Text 20"/>
          <p:cNvSpPr txBox="1"/>
          <p:nvPr/>
        </p:nvSpPr>
        <p:spPr bwMode="auto">
          <a:xfrm>
            <a:off x="8421624" y="25237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03</a:t>
            </a:r>
            <a:endParaRPr lang="en-US" sz="1200"/>
          </a:p>
        </p:txBody>
      </p:sp>
      <p:sp>
        <p:nvSpPr>
          <p:cNvPr id="1843778530" name="Text 21"/>
          <p:cNvSpPr txBox="1"/>
          <p:nvPr/>
        </p:nvSpPr>
        <p:spPr bwMode="auto">
          <a:xfrm>
            <a:off x="8933688" y="2532888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50" b="1">
                <a:solidFill>
                  <a:srgbClr val="1F2020"/>
                </a:solidFill>
                <a:latin typeface="Calibri"/>
                <a:ea typeface="Calibri"/>
                <a:cs typeface="Calibri"/>
              </a:rPr>
              <a:t>Reactive dispatch</a:t>
            </a:r>
            <a:endParaRPr lang="en-US" sz="1450"/>
          </a:p>
        </p:txBody>
      </p:sp>
      <p:sp>
        <p:nvSpPr>
          <p:cNvPr id="706016450" name="Text 22"/>
          <p:cNvSpPr txBox="1"/>
          <p:nvPr/>
        </p:nvSpPr>
        <p:spPr bwMode="auto">
          <a:xfrm>
            <a:off x="8421624" y="3035808"/>
            <a:ext cx="3008376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150">
                <a:solidFill>
                  <a:srgbClr val="4B5563"/>
                </a:solidFill>
                <a:latin typeface="Calibri"/>
                <a:ea typeface="Calibri"/>
                <a:cs typeface="Calibri"/>
              </a:rPr>
              <a:t>Crews roll out after the outage starts. Nobody is pre-positioned near the assets most likely to fail in the next few hours.</a:t>
            </a:r>
            <a:endParaRPr lang="en-US" sz="1150"/>
          </a:p>
        </p:txBody>
      </p:sp>
      <p:sp>
        <p:nvSpPr>
          <p:cNvPr id="1531758184" name="Shape 23"/>
          <p:cNvSpPr/>
          <p:nvPr/>
        </p:nvSpPr>
        <p:spPr bwMode="auto">
          <a:xfrm>
            <a:off x="685800" y="4572000"/>
            <a:ext cx="10954511" cy="1051560"/>
          </a:xfrm>
          <a:prstGeom prst="roundRect">
            <a:avLst>
              <a:gd name="adj" fmla="val 5217"/>
            </a:avLst>
          </a:prstGeom>
          <a:solidFill>
            <a:srgbClr val="F2F6FF"/>
          </a:solidFill>
          <a:ln w="12700">
            <a:solidFill>
              <a:srgbClr val="D9E3FA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234087359" name="Text 24"/>
          <p:cNvSpPr txBox="1"/>
          <p:nvPr/>
        </p:nvSpPr>
        <p:spPr bwMode="auto">
          <a:xfrm>
            <a:off x="960120" y="472744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3A6AD6"/>
                </a:solidFill>
                <a:latin typeface="Calibri"/>
                <a:ea typeface="Calibri"/>
                <a:cs typeface="Calibri"/>
              </a:rPr>
              <a:t>Our thesis</a:t>
            </a:r>
            <a:endParaRPr lang="en-US" sz="1300"/>
          </a:p>
        </p:txBody>
      </p:sp>
      <p:sp>
        <p:nvSpPr>
          <p:cNvPr id="1772502560" name="Text 25"/>
          <p:cNvSpPr txBox="1"/>
          <p:nvPr/>
        </p:nvSpPr>
        <p:spPr bwMode="auto">
          <a:xfrm>
            <a:off x="960120" y="5020056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250">
                <a:solidFill>
                  <a:srgbClr val="3F4651"/>
                </a:solidFill>
                <a:latin typeface="Calibri"/>
                <a:ea typeface="Calibri"/>
                <a:cs typeface="Calibri"/>
              </a:rPr>
              <a:t>Fix the three gaps at once — fuse the data, score real grid impact, and dispatch on that score — and prevention becomes an operational routine instead of a research project.</a:t>
            </a:r>
            <a:endParaRPr lang="en-US" sz="125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4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409489" name="Shape 0"/>
          <p:cNvSpPr/>
          <p:nvPr/>
        </p:nvSpPr>
        <p:spPr bwMode="auto">
          <a:xfrm>
            <a:off x="502920" y="310896"/>
            <a:ext cx="274320" cy="274320"/>
          </a:xfrm>
          <a:prstGeom prst="roundRect">
            <a:avLst>
              <a:gd name="adj" fmla="val 23333"/>
            </a:avLst>
          </a:prstGeom>
          <a:solidFill>
            <a:srgbClr val="3A6AD6"/>
          </a:solidFill>
          <a:ln w="12700">
            <a:solidFill>
              <a:srgbClr val="3A6AD6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919874538" name="Text 1"/>
          <p:cNvSpPr txBox="1"/>
          <p:nvPr/>
        </p:nvSpPr>
        <p:spPr bwMode="auto">
          <a:xfrm>
            <a:off x="502920" y="3108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FFFFFF"/>
                </a:solidFill>
              </a:rPr>
              <a:t>⚡</a:t>
            </a:r>
            <a:endParaRPr lang="en-US" sz="1200"/>
          </a:p>
        </p:txBody>
      </p:sp>
      <p:sp>
        <p:nvSpPr>
          <p:cNvPr id="1793779023" name="Text 2"/>
          <p:cNvSpPr txBox="1"/>
          <p:nvPr/>
        </p:nvSpPr>
        <p:spPr bwMode="auto">
          <a:xfrm>
            <a:off x="850392" y="30175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1F2020"/>
                </a:solidFill>
                <a:latin typeface="Calibri"/>
                <a:ea typeface="Calibri"/>
                <a:cs typeface="Calibri"/>
              </a:rPr>
              <a:t>Bottleneck AI</a:t>
            </a:r>
            <a:endParaRPr lang="en-US" sz="1200"/>
          </a:p>
        </p:txBody>
      </p:sp>
      <p:sp>
        <p:nvSpPr>
          <p:cNvPr id="668297435" name="Text 3"/>
          <p:cNvSpPr txBox="1"/>
          <p:nvPr/>
        </p:nvSpPr>
        <p:spPr bwMode="auto">
          <a:xfrm>
            <a:off x="8229600" y="30175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  <a:defRPr/>
            </a:pPr>
            <a:r>
              <a:rPr lang="en-US" sz="950" b="1" spc="160">
                <a:solidFill>
                  <a:srgbClr val="3A6AD6"/>
                </a:solidFill>
                <a:latin typeface="Calibri"/>
                <a:ea typeface="Calibri"/>
                <a:cs typeface="Calibri"/>
              </a:rPr>
              <a:t>THE SOLUTION</a:t>
            </a:r>
            <a:endParaRPr lang="en-US" sz="950"/>
          </a:p>
        </p:txBody>
      </p:sp>
      <p:sp>
        <p:nvSpPr>
          <p:cNvPr id="1906324653" name="Shape 4"/>
          <p:cNvSpPr/>
          <p:nvPr/>
        </p:nvSpPr>
        <p:spPr bwMode="auto">
          <a:xfrm>
            <a:off x="11356848" y="6236208"/>
            <a:ext cx="384048" cy="310896"/>
          </a:xfrm>
          <a:prstGeom prst="roundRect">
            <a:avLst>
              <a:gd name="adj" fmla="val 23529"/>
            </a:avLst>
          </a:prstGeom>
          <a:solidFill>
            <a:srgbClr val="3A6AD6"/>
          </a:solidFill>
          <a:ln w="12700">
            <a:solidFill>
              <a:srgbClr val="3A6AD6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587856790" name="Text 5"/>
          <p:cNvSpPr txBox="1"/>
          <p:nvPr/>
        </p:nvSpPr>
        <p:spPr bwMode="auto">
          <a:xfrm>
            <a:off x="11356848" y="6236208"/>
            <a:ext cx="384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04</a:t>
            </a:r>
            <a:endParaRPr lang="en-US" sz="1000"/>
          </a:p>
        </p:txBody>
      </p:sp>
      <p:sp>
        <p:nvSpPr>
          <p:cNvPr id="1162920378" name="Text 6"/>
          <p:cNvSpPr txBox="1"/>
          <p:nvPr/>
        </p:nvSpPr>
        <p:spPr bwMode="auto">
          <a:xfrm>
            <a:off x="685800" y="868680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3400" b="1">
                <a:solidFill>
                  <a:srgbClr val="1F2020"/>
                </a:solidFill>
                <a:latin typeface="Calibri"/>
                <a:ea typeface="Calibri"/>
                <a:cs typeface="Calibri"/>
              </a:rPr>
              <a:t>PREDICT → EXPLAIN → PRIORITIZE → POSITION</a:t>
            </a:r>
            <a:endParaRPr lang="en-US" sz="3400"/>
          </a:p>
        </p:txBody>
      </p:sp>
      <p:sp>
        <p:nvSpPr>
          <p:cNvPr id="1504101585" name="Text 7"/>
          <p:cNvSpPr txBox="1"/>
          <p:nvPr/>
        </p:nvSpPr>
        <p:spPr bwMode="auto">
          <a:xfrm>
            <a:off x="685800" y="1472184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One platform: telemetry + weather + incident history → ranked decisions → crew on site before the outage.</a:t>
            </a:r>
            <a:endParaRPr lang="en-US" sz="1400"/>
          </a:p>
        </p:txBody>
      </p:sp>
      <p:sp>
        <p:nvSpPr>
          <p:cNvPr id="894514277" name="Shape 8"/>
          <p:cNvSpPr/>
          <p:nvPr/>
        </p:nvSpPr>
        <p:spPr bwMode="auto">
          <a:xfrm>
            <a:off x="685800" y="2286000"/>
            <a:ext cx="2578608" cy="164592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DE3F2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626783464" name="Shape 9"/>
          <p:cNvSpPr/>
          <p:nvPr/>
        </p:nvSpPr>
        <p:spPr bwMode="auto">
          <a:xfrm>
            <a:off x="905256" y="2487168"/>
            <a:ext cx="1225296" cy="310896"/>
          </a:xfrm>
          <a:prstGeom prst="roundRect">
            <a:avLst>
              <a:gd name="adj" fmla="val 23529"/>
            </a:avLst>
          </a:prstGeom>
          <a:solidFill>
            <a:srgbClr val="3A6AD6"/>
          </a:solidFill>
          <a:ln w="12700">
            <a:solidFill>
              <a:srgbClr val="3A6AD6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318151103" name="Text 10"/>
          <p:cNvSpPr txBox="1"/>
          <p:nvPr/>
        </p:nvSpPr>
        <p:spPr bwMode="auto">
          <a:xfrm>
            <a:off x="905256" y="2487168"/>
            <a:ext cx="1225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PREDICT</a:t>
            </a:r>
            <a:endParaRPr lang="en-US" sz="1050"/>
          </a:p>
        </p:txBody>
      </p:sp>
      <p:sp>
        <p:nvSpPr>
          <p:cNvPr id="701640512" name="Text 11"/>
          <p:cNvSpPr txBox="1"/>
          <p:nvPr/>
        </p:nvSpPr>
        <p:spPr bwMode="auto">
          <a:xfrm>
            <a:off x="2423160" y="2487168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  <a:defRPr/>
            </a:pPr>
            <a:r>
              <a:rPr lang="en-US" sz="1500" b="1">
                <a:solidFill>
                  <a:srgbClr val="C9D3E8"/>
                </a:solidFill>
                <a:latin typeface="Calibri"/>
                <a:ea typeface="Calibri"/>
                <a:cs typeface="Calibri"/>
              </a:rPr>
              <a:t>01</a:t>
            </a:r>
            <a:endParaRPr lang="en-US" sz="1500"/>
          </a:p>
        </p:txBody>
      </p:sp>
      <p:sp>
        <p:nvSpPr>
          <p:cNvPr id="887347048" name="Text 12"/>
          <p:cNvSpPr txBox="1"/>
          <p:nvPr/>
        </p:nvSpPr>
        <p:spPr bwMode="auto">
          <a:xfrm>
            <a:off x="905256" y="2907792"/>
            <a:ext cx="213969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50"/>
              </a:lnSpc>
              <a:buNone/>
              <a:defRPr/>
            </a:pPr>
            <a:r>
              <a:rPr lang="en-US" sz="1100">
                <a:solidFill>
                  <a:srgbClr val="4B5563"/>
                </a:solidFill>
                <a:latin typeface="Calibri"/>
                <a:ea typeface="Calibri"/>
                <a:cs typeface="Calibri"/>
              </a:rPr>
              <a:t>XGBoost forecasts 24h / 72h failure probability for every transformer, feeder, and breaker.</a:t>
            </a:r>
            <a:endParaRPr lang="en-US" sz="1100"/>
          </a:p>
        </p:txBody>
      </p:sp>
      <p:sp>
        <p:nvSpPr>
          <p:cNvPr id="615181847" name="Text 13"/>
          <p:cNvSpPr txBox="1"/>
          <p:nvPr/>
        </p:nvSpPr>
        <p:spPr bwMode="auto">
          <a:xfrm>
            <a:off x="3282696" y="2907792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500" b="1">
                <a:solidFill>
                  <a:srgbClr val="B6C2DC"/>
                </a:solidFill>
                <a:latin typeface="Calibri"/>
                <a:ea typeface="Calibri"/>
                <a:cs typeface="Calibri"/>
              </a:rPr>
              <a:t>→</a:t>
            </a:r>
            <a:endParaRPr lang="en-US" sz="1500"/>
          </a:p>
        </p:txBody>
      </p:sp>
      <p:sp>
        <p:nvSpPr>
          <p:cNvPr id="1294794062" name="Shape 14"/>
          <p:cNvSpPr/>
          <p:nvPr/>
        </p:nvSpPr>
        <p:spPr bwMode="auto">
          <a:xfrm>
            <a:off x="3483864" y="2286000"/>
            <a:ext cx="2578608" cy="164592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DE3F2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371856155" name="Shape 15"/>
          <p:cNvSpPr/>
          <p:nvPr/>
        </p:nvSpPr>
        <p:spPr bwMode="auto">
          <a:xfrm>
            <a:off x="3703320" y="2487168"/>
            <a:ext cx="1225296" cy="310896"/>
          </a:xfrm>
          <a:prstGeom prst="roundRect">
            <a:avLst>
              <a:gd name="adj" fmla="val 23529"/>
            </a:avLst>
          </a:prstGeom>
          <a:solidFill>
            <a:srgbClr val="6C4BD6"/>
          </a:solidFill>
          <a:ln w="12700">
            <a:solidFill>
              <a:srgbClr val="6C4BD6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2065691287" name="Text 16"/>
          <p:cNvSpPr txBox="1"/>
          <p:nvPr/>
        </p:nvSpPr>
        <p:spPr bwMode="auto">
          <a:xfrm>
            <a:off x="3703320" y="2487168"/>
            <a:ext cx="1225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EXPLAIN</a:t>
            </a:r>
            <a:endParaRPr lang="en-US" sz="1050"/>
          </a:p>
        </p:txBody>
      </p:sp>
      <p:sp>
        <p:nvSpPr>
          <p:cNvPr id="975537694" name="Text 17"/>
          <p:cNvSpPr txBox="1"/>
          <p:nvPr/>
        </p:nvSpPr>
        <p:spPr bwMode="auto">
          <a:xfrm>
            <a:off x="5221224" y="2487168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  <a:defRPr/>
            </a:pPr>
            <a:r>
              <a:rPr lang="en-US" sz="1500" b="1">
                <a:solidFill>
                  <a:srgbClr val="C9D3E8"/>
                </a:solidFill>
                <a:latin typeface="Calibri"/>
                <a:ea typeface="Calibri"/>
                <a:cs typeface="Calibri"/>
              </a:rPr>
              <a:t>02</a:t>
            </a:r>
            <a:endParaRPr lang="en-US" sz="1500"/>
          </a:p>
        </p:txBody>
      </p:sp>
      <p:sp>
        <p:nvSpPr>
          <p:cNvPr id="22967072" name="Text 18"/>
          <p:cNvSpPr txBox="1"/>
          <p:nvPr/>
        </p:nvSpPr>
        <p:spPr bwMode="auto">
          <a:xfrm>
            <a:off x="3703320" y="2907792"/>
            <a:ext cx="213969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50"/>
              </a:lnSpc>
              <a:buNone/>
              <a:defRPr/>
            </a:pPr>
            <a:r>
              <a:rPr lang="en-US" sz="1100">
                <a:solidFill>
                  <a:srgbClr val="4B5563"/>
                </a:solidFill>
                <a:latin typeface="Calibri"/>
                <a:ea typeface="Calibri"/>
                <a:cs typeface="Calibri"/>
              </a:rPr>
              <a:t>A grounded AI copilot surfaces the exact drivers behind every score — never invented values.</a:t>
            </a:r>
            <a:endParaRPr lang="en-US" sz="1100"/>
          </a:p>
        </p:txBody>
      </p:sp>
      <p:sp>
        <p:nvSpPr>
          <p:cNvPr id="2010879249" name="Text 19"/>
          <p:cNvSpPr txBox="1"/>
          <p:nvPr/>
        </p:nvSpPr>
        <p:spPr bwMode="auto">
          <a:xfrm>
            <a:off x="6080760" y="2907792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500" b="1">
                <a:solidFill>
                  <a:srgbClr val="B6C2DC"/>
                </a:solidFill>
                <a:latin typeface="Calibri"/>
                <a:ea typeface="Calibri"/>
                <a:cs typeface="Calibri"/>
              </a:rPr>
              <a:t>→</a:t>
            </a:r>
            <a:endParaRPr lang="en-US" sz="1500"/>
          </a:p>
        </p:txBody>
      </p:sp>
      <p:sp>
        <p:nvSpPr>
          <p:cNvPr id="1507652377" name="Shape 20"/>
          <p:cNvSpPr/>
          <p:nvPr/>
        </p:nvSpPr>
        <p:spPr bwMode="auto">
          <a:xfrm>
            <a:off x="6281928" y="2286000"/>
            <a:ext cx="2578608" cy="164592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DE3F2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333025897" name="Shape 21"/>
          <p:cNvSpPr/>
          <p:nvPr/>
        </p:nvSpPr>
        <p:spPr bwMode="auto">
          <a:xfrm>
            <a:off x="6501384" y="2487168"/>
            <a:ext cx="1225296" cy="310896"/>
          </a:xfrm>
          <a:prstGeom prst="roundRect">
            <a:avLst>
              <a:gd name="adj" fmla="val 23529"/>
            </a:avLst>
          </a:prstGeom>
          <a:solidFill>
            <a:srgbClr val="E8511F"/>
          </a:solidFill>
          <a:ln w="12700">
            <a:solidFill>
              <a:srgbClr val="E8511F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896827666" name="Text 22"/>
          <p:cNvSpPr txBox="1"/>
          <p:nvPr/>
        </p:nvSpPr>
        <p:spPr bwMode="auto">
          <a:xfrm>
            <a:off x="6501384" y="2487168"/>
            <a:ext cx="1225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PRIORITIZE</a:t>
            </a:r>
            <a:endParaRPr lang="en-US" sz="1050"/>
          </a:p>
        </p:txBody>
      </p:sp>
      <p:sp>
        <p:nvSpPr>
          <p:cNvPr id="184859115" name="Text 23"/>
          <p:cNvSpPr txBox="1"/>
          <p:nvPr/>
        </p:nvSpPr>
        <p:spPr bwMode="auto">
          <a:xfrm>
            <a:off x="8019288" y="2487168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  <a:defRPr/>
            </a:pPr>
            <a:r>
              <a:rPr lang="en-US" sz="1500" b="1">
                <a:solidFill>
                  <a:srgbClr val="C9D3E8"/>
                </a:solidFill>
                <a:latin typeface="Calibri"/>
                <a:ea typeface="Calibri"/>
                <a:cs typeface="Calibri"/>
              </a:rPr>
              <a:t>03</a:t>
            </a:r>
            <a:endParaRPr lang="en-US" sz="1500"/>
          </a:p>
        </p:txBody>
      </p:sp>
      <p:sp>
        <p:nvSpPr>
          <p:cNvPr id="365703426" name="Text 24"/>
          <p:cNvSpPr txBox="1"/>
          <p:nvPr/>
        </p:nvSpPr>
        <p:spPr bwMode="auto">
          <a:xfrm>
            <a:off x="6501384" y="2907792"/>
            <a:ext cx="213969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50"/>
              </a:lnSpc>
              <a:buNone/>
              <a:defRPr/>
            </a:pPr>
            <a:r>
              <a:rPr lang="en-US" sz="1100">
                <a:solidFill>
                  <a:srgbClr val="4B5563"/>
                </a:solidFill>
                <a:latin typeface="Calibri"/>
                <a:ea typeface="Calibri"/>
                <a:cs typeface="Calibri"/>
              </a:rPr>
              <a:t>A composite 0–100 risk score ranks work by operational consequence, not probability alone.</a:t>
            </a:r>
            <a:endParaRPr lang="en-US" sz="1100"/>
          </a:p>
        </p:txBody>
      </p:sp>
      <p:sp>
        <p:nvSpPr>
          <p:cNvPr id="1869629814" name="Text 25"/>
          <p:cNvSpPr txBox="1"/>
          <p:nvPr/>
        </p:nvSpPr>
        <p:spPr bwMode="auto">
          <a:xfrm>
            <a:off x="8878824" y="2907792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500" b="1">
                <a:solidFill>
                  <a:srgbClr val="B6C2DC"/>
                </a:solidFill>
                <a:latin typeface="Calibri"/>
                <a:ea typeface="Calibri"/>
                <a:cs typeface="Calibri"/>
              </a:rPr>
              <a:t>→</a:t>
            </a:r>
            <a:endParaRPr lang="en-US" sz="1500"/>
          </a:p>
        </p:txBody>
      </p:sp>
      <p:sp>
        <p:nvSpPr>
          <p:cNvPr id="759613959" name="Shape 26"/>
          <p:cNvSpPr/>
          <p:nvPr/>
        </p:nvSpPr>
        <p:spPr bwMode="auto">
          <a:xfrm>
            <a:off x="9079992" y="2286000"/>
            <a:ext cx="2578608" cy="164592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DE3F2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080953953" name="Shape 27"/>
          <p:cNvSpPr/>
          <p:nvPr/>
        </p:nvSpPr>
        <p:spPr bwMode="auto">
          <a:xfrm>
            <a:off x="9299448" y="2487168"/>
            <a:ext cx="1225296" cy="310896"/>
          </a:xfrm>
          <a:prstGeom prst="roundRect">
            <a:avLst>
              <a:gd name="adj" fmla="val 23529"/>
            </a:avLst>
          </a:prstGeom>
          <a:solidFill>
            <a:srgbClr val="1E8E5A"/>
          </a:solidFill>
          <a:ln w="12700">
            <a:solidFill>
              <a:srgbClr val="1E8E5A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646580183" name="Text 28"/>
          <p:cNvSpPr txBox="1"/>
          <p:nvPr/>
        </p:nvSpPr>
        <p:spPr bwMode="auto">
          <a:xfrm>
            <a:off x="9299448" y="2487168"/>
            <a:ext cx="1225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POSITION</a:t>
            </a:r>
            <a:endParaRPr lang="en-US" sz="1050"/>
          </a:p>
        </p:txBody>
      </p:sp>
      <p:sp>
        <p:nvSpPr>
          <p:cNvPr id="1329108944" name="Text 29"/>
          <p:cNvSpPr txBox="1"/>
          <p:nvPr/>
        </p:nvSpPr>
        <p:spPr bwMode="auto">
          <a:xfrm>
            <a:off x="10817352" y="2487168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  <a:defRPr/>
            </a:pPr>
            <a:r>
              <a:rPr lang="en-US" sz="1500" b="1">
                <a:solidFill>
                  <a:srgbClr val="C9D3E8"/>
                </a:solidFill>
                <a:latin typeface="Calibri"/>
                <a:ea typeface="Calibri"/>
                <a:cs typeface="Calibri"/>
              </a:rPr>
              <a:t>04</a:t>
            </a:r>
            <a:endParaRPr lang="en-US" sz="1500"/>
          </a:p>
        </p:txBody>
      </p:sp>
      <p:sp>
        <p:nvSpPr>
          <p:cNvPr id="1774118639" name="Text 30"/>
          <p:cNvSpPr txBox="1"/>
          <p:nvPr/>
        </p:nvSpPr>
        <p:spPr bwMode="auto">
          <a:xfrm>
            <a:off x="9299448" y="2907792"/>
            <a:ext cx="213969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50"/>
              </a:lnSpc>
              <a:buNone/>
              <a:defRPr/>
            </a:pPr>
            <a:r>
              <a:rPr lang="en-US" sz="1100">
                <a:solidFill>
                  <a:srgbClr val="4B5563"/>
                </a:solidFill>
                <a:latin typeface="Calibri"/>
                <a:ea typeface="Calibri"/>
                <a:cs typeface="Calibri"/>
              </a:rPr>
              <a:t>The crew planner matches specialty and distance, dispatching teams before the failure lands.</a:t>
            </a:r>
            <a:endParaRPr lang="en-US" sz="1100"/>
          </a:p>
        </p:txBody>
      </p:sp>
      <p:sp>
        <p:nvSpPr>
          <p:cNvPr id="830920138" name="Shape 31"/>
          <p:cNvSpPr/>
          <p:nvPr/>
        </p:nvSpPr>
        <p:spPr bwMode="auto">
          <a:xfrm>
            <a:off x="685800" y="4224528"/>
            <a:ext cx="10954511" cy="1783080"/>
          </a:xfrm>
          <a:prstGeom prst="roundRect">
            <a:avLst>
              <a:gd name="adj" fmla="val 3077"/>
            </a:avLst>
          </a:prstGeom>
          <a:solidFill>
            <a:srgbClr val="F4F6FB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2080776330" name="Text 32"/>
          <p:cNvSpPr txBox="1"/>
          <p:nvPr/>
        </p:nvSpPr>
        <p:spPr bwMode="auto">
          <a:xfrm>
            <a:off x="960120" y="457200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50" b="1" spc="160">
                <a:solidFill>
                  <a:srgbClr val="3A6AD6"/>
                </a:solidFill>
                <a:latin typeface="Calibri"/>
                <a:ea typeface="Calibri"/>
                <a:cs typeface="Calibri"/>
              </a:rPr>
              <a:t>INPUTS</a:t>
            </a:r>
            <a:endParaRPr lang="en-US" sz="950"/>
          </a:p>
        </p:txBody>
      </p:sp>
      <p:sp>
        <p:nvSpPr>
          <p:cNvPr id="1307404728" name="Text 33"/>
          <p:cNvSpPr txBox="1"/>
          <p:nvPr/>
        </p:nvSpPr>
        <p:spPr bwMode="auto">
          <a:xfrm>
            <a:off x="960120" y="4882896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150">
                <a:solidFill>
                  <a:srgbClr val="3F4651"/>
                </a:solidFill>
                <a:latin typeface="Calibri"/>
                <a:ea typeface="Calibri"/>
                <a:cs typeface="Calibri"/>
              </a:rPr>
              <a:t>Asset telemetry · weather forecasts · incident history · grid topology</a:t>
            </a:r>
            <a:endParaRPr lang="en-US" sz="1150"/>
          </a:p>
        </p:txBody>
      </p:sp>
      <p:sp>
        <p:nvSpPr>
          <p:cNvPr id="1750001959" name="Text 34"/>
          <p:cNvSpPr txBox="1"/>
          <p:nvPr/>
        </p:nvSpPr>
        <p:spPr bwMode="auto">
          <a:xfrm>
            <a:off x="4206240" y="4828032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600" b="1">
                <a:solidFill>
                  <a:srgbClr val="B6C2DC"/>
                </a:solidFill>
                <a:latin typeface="Calibri"/>
                <a:ea typeface="Calibri"/>
                <a:cs typeface="Calibri"/>
              </a:rPr>
              <a:t>→</a:t>
            </a:r>
            <a:endParaRPr lang="en-US" sz="1600"/>
          </a:p>
        </p:txBody>
      </p:sp>
      <p:sp>
        <p:nvSpPr>
          <p:cNvPr id="1618259830" name="Text 35"/>
          <p:cNvSpPr txBox="1"/>
          <p:nvPr/>
        </p:nvSpPr>
        <p:spPr bwMode="auto">
          <a:xfrm>
            <a:off x="4544568" y="457200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50" b="1" spc="160">
                <a:solidFill>
                  <a:srgbClr val="6C4BD6"/>
                </a:solidFill>
                <a:latin typeface="Calibri"/>
                <a:ea typeface="Calibri"/>
                <a:cs typeface="Calibri"/>
              </a:rPr>
              <a:t>ENGINE</a:t>
            </a:r>
            <a:endParaRPr lang="en-US" sz="950"/>
          </a:p>
        </p:txBody>
      </p:sp>
      <p:sp>
        <p:nvSpPr>
          <p:cNvPr id="1348342570" name="Text 36"/>
          <p:cNvSpPr txBox="1"/>
          <p:nvPr/>
        </p:nvSpPr>
        <p:spPr bwMode="auto">
          <a:xfrm>
            <a:off x="4544568" y="4882896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150">
                <a:solidFill>
                  <a:srgbClr val="3F4651"/>
                </a:solidFill>
                <a:latin typeface="Calibri"/>
                <a:ea typeface="Calibri"/>
                <a:cs typeface="Calibri"/>
              </a:rPr>
              <a:t>Failure probability → composite 0–100 risk → ranked maintenance queue</a:t>
            </a:r>
            <a:endParaRPr lang="en-US" sz="1150"/>
          </a:p>
        </p:txBody>
      </p:sp>
      <p:sp>
        <p:nvSpPr>
          <p:cNvPr id="803306384" name="Text 37"/>
          <p:cNvSpPr txBox="1"/>
          <p:nvPr/>
        </p:nvSpPr>
        <p:spPr bwMode="auto">
          <a:xfrm>
            <a:off x="7790687" y="4828032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600" b="1">
                <a:solidFill>
                  <a:srgbClr val="B6C2DC"/>
                </a:solidFill>
                <a:latin typeface="Calibri"/>
                <a:ea typeface="Calibri"/>
                <a:cs typeface="Calibri"/>
              </a:rPr>
              <a:t>→</a:t>
            </a:r>
            <a:endParaRPr lang="en-US" sz="1600"/>
          </a:p>
        </p:txBody>
      </p:sp>
      <p:sp>
        <p:nvSpPr>
          <p:cNvPr id="1518680913" name="Text 38"/>
          <p:cNvSpPr txBox="1"/>
          <p:nvPr/>
        </p:nvSpPr>
        <p:spPr bwMode="auto">
          <a:xfrm>
            <a:off x="8129016" y="457200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50" b="1" spc="160">
                <a:solidFill>
                  <a:srgbClr val="1E8E5A"/>
                </a:solidFill>
                <a:latin typeface="Calibri"/>
                <a:ea typeface="Calibri"/>
                <a:cs typeface="Calibri"/>
              </a:rPr>
              <a:t>OUTPUT</a:t>
            </a:r>
            <a:endParaRPr lang="en-US" sz="950"/>
          </a:p>
        </p:txBody>
      </p:sp>
      <p:sp>
        <p:nvSpPr>
          <p:cNvPr id="812324238" name="Text 39"/>
          <p:cNvSpPr txBox="1"/>
          <p:nvPr/>
        </p:nvSpPr>
        <p:spPr bwMode="auto">
          <a:xfrm>
            <a:off x="8129016" y="4882896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150">
                <a:solidFill>
                  <a:srgbClr val="3F4651"/>
                </a:solidFill>
                <a:latin typeface="Calibri"/>
                <a:ea typeface="Calibri"/>
                <a:cs typeface="Calibri"/>
              </a:rPr>
              <a:t>The right crew, at the right asset, before the outage occurs</a:t>
            </a:r>
            <a:endParaRPr lang="en-US" sz="115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5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856441" name="Shape 0"/>
          <p:cNvSpPr/>
          <p:nvPr/>
        </p:nvSpPr>
        <p:spPr bwMode="auto">
          <a:xfrm>
            <a:off x="502920" y="310896"/>
            <a:ext cx="274320" cy="274320"/>
          </a:xfrm>
          <a:prstGeom prst="roundRect">
            <a:avLst>
              <a:gd name="adj" fmla="val 23333"/>
            </a:avLst>
          </a:prstGeom>
          <a:solidFill>
            <a:srgbClr val="3A6AD6"/>
          </a:solidFill>
          <a:ln w="12700">
            <a:solidFill>
              <a:srgbClr val="3A6AD6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712340080" name="Text 1"/>
          <p:cNvSpPr txBox="1"/>
          <p:nvPr/>
        </p:nvSpPr>
        <p:spPr bwMode="auto">
          <a:xfrm>
            <a:off x="502920" y="3108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FFFFFF"/>
                </a:solidFill>
              </a:rPr>
              <a:t>⚡</a:t>
            </a:r>
            <a:endParaRPr lang="en-US" sz="1200"/>
          </a:p>
        </p:txBody>
      </p:sp>
      <p:sp>
        <p:nvSpPr>
          <p:cNvPr id="1489493683" name="Text 2"/>
          <p:cNvSpPr txBox="1"/>
          <p:nvPr/>
        </p:nvSpPr>
        <p:spPr bwMode="auto">
          <a:xfrm>
            <a:off x="850392" y="30175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1F2020"/>
                </a:solidFill>
                <a:latin typeface="Calibri"/>
                <a:ea typeface="Calibri"/>
                <a:cs typeface="Calibri"/>
              </a:rPr>
              <a:t>Bottleneck AI</a:t>
            </a:r>
            <a:endParaRPr lang="en-US" sz="1200"/>
          </a:p>
        </p:txBody>
      </p:sp>
      <p:sp>
        <p:nvSpPr>
          <p:cNvPr id="1224164121" name="Text 3"/>
          <p:cNvSpPr txBox="1"/>
          <p:nvPr/>
        </p:nvSpPr>
        <p:spPr bwMode="auto">
          <a:xfrm>
            <a:off x="8229600" y="30175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  <a:defRPr/>
            </a:pPr>
            <a:r>
              <a:rPr lang="en-US" sz="950" b="1" spc="160">
                <a:solidFill>
                  <a:srgbClr val="3A6AD6"/>
                </a:solidFill>
                <a:latin typeface="Calibri"/>
                <a:ea typeface="Calibri"/>
                <a:cs typeface="Calibri"/>
              </a:rPr>
              <a:t>KEY DIFFERENTIATOR</a:t>
            </a:r>
            <a:endParaRPr lang="en-US" sz="950"/>
          </a:p>
        </p:txBody>
      </p:sp>
      <p:sp>
        <p:nvSpPr>
          <p:cNvPr id="2054013823" name="Shape 4"/>
          <p:cNvSpPr/>
          <p:nvPr/>
        </p:nvSpPr>
        <p:spPr bwMode="auto">
          <a:xfrm>
            <a:off x="11356848" y="6236208"/>
            <a:ext cx="384048" cy="310896"/>
          </a:xfrm>
          <a:prstGeom prst="roundRect">
            <a:avLst>
              <a:gd name="adj" fmla="val 23529"/>
            </a:avLst>
          </a:prstGeom>
          <a:solidFill>
            <a:srgbClr val="3A6AD6"/>
          </a:solidFill>
          <a:ln w="12700">
            <a:solidFill>
              <a:srgbClr val="3A6AD6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92625040" name="Text 5"/>
          <p:cNvSpPr txBox="1"/>
          <p:nvPr/>
        </p:nvSpPr>
        <p:spPr bwMode="auto">
          <a:xfrm>
            <a:off x="11356848" y="6236208"/>
            <a:ext cx="384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05</a:t>
            </a:r>
            <a:endParaRPr lang="en-US" sz="1000"/>
          </a:p>
        </p:txBody>
      </p:sp>
      <p:sp>
        <p:nvSpPr>
          <p:cNvPr id="1913054266" name="Text 6"/>
          <p:cNvSpPr txBox="1"/>
          <p:nvPr/>
        </p:nvSpPr>
        <p:spPr bwMode="auto">
          <a:xfrm>
            <a:off x="685800" y="868680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3400" b="1">
                <a:solidFill>
                  <a:srgbClr val="1F2020"/>
                </a:solidFill>
                <a:latin typeface="Calibri"/>
                <a:ea typeface="Calibri"/>
                <a:cs typeface="Calibri"/>
              </a:rPr>
              <a:t>We score consequence, not just probability</a:t>
            </a:r>
            <a:endParaRPr lang="en-US" sz="3400"/>
          </a:p>
        </p:txBody>
      </p:sp>
      <p:sp>
        <p:nvSpPr>
          <p:cNvPr id="533924943" name="Text 7"/>
          <p:cNvSpPr txBox="1"/>
          <p:nvPr/>
        </p:nvSpPr>
        <p:spPr bwMode="auto">
          <a:xfrm>
            <a:off x="685800" y="1472184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Everyone else stops at "this might fail." We answer "and here is what it costs you."</a:t>
            </a:r>
            <a:endParaRPr lang="en-US" sz="1400"/>
          </a:p>
        </p:txBody>
      </p:sp>
      <p:sp>
        <p:nvSpPr>
          <p:cNvPr id="844773866" name="Shape 8"/>
          <p:cNvSpPr/>
          <p:nvPr/>
        </p:nvSpPr>
        <p:spPr bwMode="auto">
          <a:xfrm>
            <a:off x="685800" y="2286000"/>
            <a:ext cx="10954511" cy="1024128"/>
          </a:xfrm>
          <a:prstGeom prst="roundRect">
            <a:avLst>
              <a:gd name="adj" fmla="val 5357"/>
            </a:avLst>
          </a:prstGeom>
          <a:solidFill>
            <a:srgbClr val="0F1B3D"/>
          </a:solidFill>
          <a:ln w="12700">
            <a:solidFill>
              <a:srgbClr val="0F1B3D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557829183" name="Text 9"/>
          <p:cNvSpPr txBox="1"/>
          <p:nvPr/>
        </p:nvSpPr>
        <p:spPr bwMode="auto">
          <a:xfrm>
            <a:off x="868680" y="2286000"/>
            <a:ext cx="106070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600" b="1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Risk  =  Probability  ×  Grid Impact  ×  Weather  ×  Criticality  ×  (1 − Redundancy)</a:t>
            </a:r>
            <a:endParaRPr lang="en-US" sz="1600"/>
          </a:p>
        </p:txBody>
      </p:sp>
      <p:sp>
        <p:nvSpPr>
          <p:cNvPr id="195424841" name="Shape 10"/>
          <p:cNvSpPr/>
          <p:nvPr/>
        </p:nvSpPr>
        <p:spPr bwMode="auto">
          <a:xfrm>
            <a:off x="685800" y="3529584"/>
            <a:ext cx="3520440" cy="1609344"/>
          </a:xfrm>
          <a:prstGeom prst="roundRect">
            <a:avLst>
              <a:gd name="adj" fmla="val 3409"/>
            </a:avLst>
          </a:prstGeom>
          <a:solidFill>
            <a:srgbClr val="FFFFFF"/>
          </a:solidFill>
          <a:ln w="12700">
            <a:solidFill>
              <a:srgbClr val="DDE3F2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274597888" name="Shape 11"/>
          <p:cNvSpPr/>
          <p:nvPr/>
        </p:nvSpPr>
        <p:spPr bwMode="auto">
          <a:xfrm>
            <a:off x="941832" y="3767328"/>
            <a:ext cx="402336" cy="402336"/>
          </a:xfrm>
          <a:prstGeom prst="ellipse">
            <a:avLst/>
          </a:prstGeom>
          <a:solidFill>
            <a:srgbClr val="3A6AD6"/>
          </a:solidFill>
          <a:ln w="12700">
            <a:solidFill>
              <a:srgbClr val="3A6AD6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642430880" name="Text 12"/>
          <p:cNvSpPr txBox="1"/>
          <p:nvPr/>
        </p:nvSpPr>
        <p:spPr bwMode="auto">
          <a:xfrm>
            <a:off x="941832" y="37673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★</a:t>
            </a:r>
            <a:endParaRPr lang="en-US" sz="1200"/>
          </a:p>
        </p:txBody>
      </p:sp>
      <p:sp>
        <p:nvSpPr>
          <p:cNvPr id="1135954896" name="Text 13"/>
          <p:cNvSpPr txBox="1"/>
          <p:nvPr/>
        </p:nvSpPr>
        <p:spPr bwMode="auto">
          <a:xfrm>
            <a:off x="1453896" y="3776472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50" b="1">
                <a:solidFill>
                  <a:srgbClr val="1F2020"/>
                </a:solidFill>
                <a:latin typeface="Calibri"/>
                <a:ea typeface="Calibri"/>
                <a:cs typeface="Calibri"/>
              </a:rPr>
              <a:t>Impact-aware ranking</a:t>
            </a:r>
            <a:endParaRPr lang="en-US" sz="1450"/>
          </a:p>
        </p:txBody>
      </p:sp>
      <p:sp>
        <p:nvSpPr>
          <p:cNvPr id="814945611" name="Text 14"/>
          <p:cNvSpPr txBox="1"/>
          <p:nvPr/>
        </p:nvSpPr>
        <p:spPr bwMode="auto">
          <a:xfrm>
            <a:off x="941832" y="4279392"/>
            <a:ext cx="30083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150">
                <a:solidFill>
                  <a:srgbClr val="4B5563"/>
                </a:solidFill>
                <a:latin typeface="Calibri"/>
                <a:ea typeface="Calibri"/>
                <a:cs typeface="Calibri"/>
              </a:rPr>
              <a:t>Maintenance is ordered by customers affected and critical facilities at risk — 8,420 customers and 7 facilities put TR-1042 at Priority #1.</a:t>
            </a:r>
            <a:endParaRPr lang="en-US" sz="1150"/>
          </a:p>
        </p:txBody>
      </p:sp>
      <p:sp>
        <p:nvSpPr>
          <p:cNvPr id="782270385" name="Shape 15"/>
          <p:cNvSpPr/>
          <p:nvPr/>
        </p:nvSpPr>
        <p:spPr bwMode="auto">
          <a:xfrm>
            <a:off x="4425696" y="3529584"/>
            <a:ext cx="3520440" cy="1609344"/>
          </a:xfrm>
          <a:prstGeom prst="roundRect">
            <a:avLst>
              <a:gd name="adj" fmla="val 3409"/>
            </a:avLst>
          </a:prstGeom>
          <a:solidFill>
            <a:srgbClr val="FFFFFF"/>
          </a:solidFill>
          <a:ln w="12700">
            <a:solidFill>
              <a:srgbClr val="DDE3F2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498620939" name="Shape 16"/>
          <p:cNvSpPr/>
          <p:nvPr/>
        </p:nvSpPr>
        <p:spPr bwMode="auto">
          <a:xfrm>
            <a:off x="4681728" y="3767328"/>
            <a:ext cx="402336" cy="402336"/>
          </a:xfrm>
          <a:prstGeom prst="ellipse">
            <a:avLst/>
          </a:prstGeom>
          <a:solidFill>
            <a:srgbClr val="E8511F"/>
          </a:solidFill>
          <a:ln w="12700">
            <a:solidFill>
              <a:srgbClr val="E8511F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482043843" name="Text 17"/>
          <p:cNvSpPr txBox="1"/>
          <p:nvPr/>
        </p:nvSpPr>
        <p:spPr bwMode="auto">
          <a:xfrm>
            <a:off x="4681728" y="37673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⚑</a:t>
            </a:r>
            <a:endParaRPr lang="en-US" sz="1200"/>
          </a:p>
        </p:txBody>
      </p:sp>
      <p:sp>
        <p:nvSpPr>
          <p:cNvPr id="715133734" name="Text 18"/>
          <p:cNvSpPr txBox="1"/>
          <p:nvPr/>
        </p:nvSpPr>
        <p:spPr bwMode="auto">
          <a:xfrm>
            <a:off x="5193792" y="3776472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50" b="1">
                <a:solidFill>
                  <a:srgbClr val="1F2020"/>
                </a:solidFill>
                <a:latin typeface="Calibri"/>
                <a:ea typeface="Calibri"/>
                <a:cs typeface="Calibri"/>
              </a:rPr>
              <a:t>Crew matching in 2 clicks</a:t>
            </a:r>
            <a:endParaRPr lang="en-US" sz="1450"/>
          </a:p>
        </p:txBody>
      </p:sp>
      <p:sp>
        <p:nvSpPr>
          <p:cNvPr id="395521246" name="Text 19"/>
          <p:cNvSpPr txBox="1"/>
          <p:nvPr/>
        </p:nvSpPr>
        <p:spPr bwMode="auto">
          <a:xfrm>
            <a:off x="4681728" y="4279392"/>
            <a:ext cx="30083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150">
                <a:solidFill>
                  <a:srgbClr val="4B5563"/>
                </a:solidFill>
                <a:latin typeface="Calibri"/>
                <a:ea typeface="Calibri"/>
                <a:cs typeface="Calibri"/>
              </a:rPr>
              <a:t>Teams are ranked by specialty match plus haversine distance and ETA, then assigned straight from the asset map.</a:t>
            </a:r>
            <a:endParaRPr lang="en-US" sz="1150"/>
          </a:p>
        </p:txBody>
      </p:sp>
      <p:sp>
        <p:nvSpPr>
          <p:cNvPr id="1838390137" name="Shape 20"/>
          <p:cNvSpPr/>
          <p:nvPr/>
        </p:nvSpPr>
        <p:spPr bwMode="auto">
          <a:xfrm>
            <a:off x="8165592" y="3529584"/>
            <a:ext cx="3520440" cy="1609344"/>
          </a:xfrm>
          <a:prstGeom prst="roundRect">
            <a:avLst>
              <a:gd name="adj" fmla="val 3409"/>
            </a:avLst>
          </a:prstGeom>
          <a:solidFill>
            <a:srgbClr val="FFFFFF"/>
          </a:solidFill>
          <a:ln w="12700">
            <a:solidFill>
              <a:srgbClr val="DDE3F2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28458205" name="Shape 21"/>
          <p:cNvSpPr/>
          <p:nvPr/>
        </p:nvSpPr>
        <p:spPr bwMode="auto">
          <a:xfrm>
            <a:off x="8421624" y="3767328"/>
            <a:ext cx="402336" cy="402336"/>
          </a:xfrm>
          <a:prstGeom prst="ellipse">
            <a:avLst/>
          </a:prstGeom>
          <a:solidFill>
            <a:srgbClr val="1E8E5A"/>
          </a:solidFill>
          <a:ln w="12700">
            <a:solidFill>
              <a:srgbClr val="1E8E5A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861654920" name="Text 22"/>
          <p:cNvSpPr txBox="1"/>
          <p:nvPr/>
        </p:nvSpPr>
        <p:spPr bwMode="auto">
          <a:xfrm>
            <a:off x="8421624" y="37673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◎</a:t>
            </a:r>
            <a:endParaRPr lang="en-US" sz="1200"/>
          </a:p>
        </p:txBody>
      </p:sp>
      <p:sp>
        <p:nvSpPr>
          <p:cNvPr id="449787616" name="Text 23"/>
          <p:cNvSpPr txBox="1"/>
          <p:nvPr/>
        </p:nvSpPr>
        <p:spPr bwMode="auto">
          <a:xfrm>
            <a:off x="8933688" y="3776472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50" b="1">
                <a:solidFill>
                  <a:srgbClr val="1F2020"/>
                </a:solidFill>
                <a:latin typeface="Calibri"/>
                <a:ea typeface="Calibri"/>
                <a:cs typeface="Calibri"/>
              </a:rPr>
              <a:t>Explainable end to end</a:t>
            </a:r>
            <a:endParaRPr lang="en-US" sz="1450"/>
          </a:p>
        </p:txBody>
      </p:sp>
      <p:sp>
        <p:nvSpPr>
          <p:cNvPr id="1093914494" name="Text 24"/>
          <p:cNvSpPr txBox="1"/>
          <p:nvPr/>
        </p:nvSpPr>
        <p:spPr bwMode="auto">
          <a:xfrm>
            <a:off x="8421624" y="4279392"/>
            <a:ext cx="30083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150">
                <a:solidFill>
                  <a:srgbClr val="4B5563"/>
                </a:solidFill>
                <a:latin typeface="Calibri"/>
                <a:ea typeface="Calibri"/>
                <a:cs typeface="Calibri"/>
              </a:rPr>
              <a:t>Every 0–100 score decomposes into failure probability, grid impact, weather exposure, criticality, and redundancy.</a:t>
            </a:r>
            <a:endParaRPr lang="en-US" sz="1150"/>
          </a:p>
        </p:txBody>
      </p:sp>
      <p:sp>
        <p:nvSpPr>
          <p:cNvPr id="378449409" name="Shape 25"/>
          <p:cNvSpPr/>
          <p:nvPr/>
        </p:nvSpPr>
        <p:spPr bwMode="auto">
          <a:xfrm>
            <a:off x="685800" y="5358384"/>
            <a:ext cx="10954511" cy="786384"/>
          </a:xfrm>
          <a:prstGeom prst="roundRect">
            <a:avLst>
              <a:gd name="adj" fmla="val 6977"/>
            </a:avLst>
          </a:prstGeom>
          <a:solidFill>
            <a:srgbClr val="EAF0FE"/>
          </a:solidFill>
          <a:ln w="12700">
            <a:solidFill>
              <a:srgbClr val="D5E0FB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747093629" name="Text 26"/>
          <p:cNvSpPr txBox="1"/>
          <p:nvPr/>
        </p:nvSpPr>
        <p:spPr bwMode="auto">
          <a:xfrm>
            <a:off x="960120" y="5358384"/>
            <a:ext cx="2834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00" b="1" spc="140">
                <a:solidFill>
                  <a:srgbClr val="3A6AD6"/>
                </a:solidFill>
                <a:latin typeface="Calibri"/>
                <a:ea typeface="Calibri"/>
                <a:cs typeface="Calibri"/>
              </a:rPr>
              <a:t>WORKED EXAMPLE · TR-1042</a:t>
            </a:r>
            <a:endParaRPr lang="en-US" sz="1000"/>
          </a:p>
        </p:txBody>
      </p:sp>
      <p:sp>
        <p:nvSpPr>
          <p:cNvPr id="1422559724" name="Text 27"/>
          <p:cNvSpPr txBox="1"/>
          <p:nvPr/>
        </p:nvSpPr>
        <p:spPr bwMode="auto">
          <a:xfrm>
            <a:off x="3886200" y="5358384"/>
            <a:ext cx="75895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50">
                <a:solidFill>
                  <a:srgbClr val="3F4651"/>
                </a:solidFill>
                <a:latin typeface="Calibri"/>
                <a:ea typeface="Calibri"/>
                <a:cs typeface="Calibri"/>
              </a:rPr>
              <a:t>78% probability  ×  54% grid impact  ×  78% weather  ×  92% criticality  ×  70% lack of redundancy   →   risk 98/100, Priority #1</a:t>
            </a:r>
            <a:endParaRPr lang="en-US" sz="115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6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0750838" name="Shape 0"/>
          <p:cNvSpPr/>
          <p:nvPr/>
        </p:nvSpPr>
        <p:spPr bwMode="auto">
          <a:xfrm>
            <a:off x="502920" y="310896"/>
            <a:ext cx="274320" cy="274320"/>
          </a:xfrm>
          <a:prstGeom prst="roundRect">
            <a:avLst>
              <a:gd name="adj" fmla="val 23333"/>
            </a:avLst>
          </a:prstGeom>
          <a:solidFill>
            <a:srgbClr val="3A6AD6"/>
          </a:solidFill>
          <a:ln w="12700">
            <a:solidFill>
              <a:srgbClr val="3A6AD6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889600545" name="Text 1"/>
          <p:cNvSpPr txBox="1"/>
          <p:nvPr/>
        </p:nvSpPr>
        <p:spPr bwMode="auto">
          <a:xfrm>
            <a:off x="502920" y="3108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FFFFFF"/>
                </a:solidFill>
              </a:rPr>
              <a:t>⚡</a:t>
            </a:r>
            <a:endParaRPr lang="en-US" sz="1200"/>
          </a:p>
        </p:txBody>
      </p:sp>
      <p:sp>
        <p:nvSpPr>
          <p:cNvPr id="1719462529" name="Text 2"/>
          <p:cNvSpPr txBox="1"/>
          <p:nvPr/>
        </p:nvSpPr>
        <p:spPr bwMode="auto">
          <a:xfrm>
            <a:off x="850392" y="30175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1F2020"/>
                </a:solidFill>
                <a:latin typeface="Calibri"/>
                <a:ea typeface="Calibri"/>
                <a:cs typeface="Calibri"/>
              </a:rPr>
              <a:t>Bottleneck AI</a:t>
            </a:r>
            <a:endParaRPr lang="en-US" sz="1200"/>
          </a:p>
        </p:txBody>
      </p:sp>
      <p:sp>
        <p:nvSpPr>
          <p:cNvPr id="2029366883" name="Text 3"/>
          <p:cNvSpPr txBox="1"/>
          <p:nvPr/>
        </p:nvSpPr>
        <p:spPr bwMode="auto">
          <a:xfrm>
            <a:off x="8229600" y="30175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  <a:defRPr/>
            </a:pPr>
            <a:r>
              <a:rPr lang="en-US" sz="950" b="1" spc="160">
                <a:solidFill>
                  <a:srgbClr val="3A6AD6"/>
                </a:solidFill>
                <a:latin typeface="Calibri"/>
                <a:ea typeface="Calibri"/>
                <a:cs typeface="Calibri"/>
              </a:rPr>
              <a:t>ARCHITECTURE</a:t>
            </a:r>
            <a:endParaRPr lang="en-US" sz="950"/>
          </a:p>
        </p:txBody>
      </p:sp>
      <p:sp>
        <p:nvSpPr>
          <p:cNvPr id="338170040" name="Shape 4"/>
          <p:cNvSpPr/>
          <p:nvPr/>
        </p:nvSpPr>
        <p:spPr bwMode="auto">
          <a:xfrm>
            <a:off x="11356848" y="6236208"/>
            <a:ext cx="384048" cy="310896"/>
          </a:xfrm>
          <a:prstGeom prst="roundRect">
            <a:avLst>
              <a:gd name="adj" fmla="val 23529"/>
            </a:avLst>
          </a:prstGeom>
          <a:solidFill>
            <a:srgbClr val="3A6AD6"/>
          </a:solidFill>
          <a:ln w="12700">
            <a:solidFill>
              <a:srgbClr val="3A6AD6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856448997" name="Text 5"/>
          <p:cNvSpPr txBox="1"/>
          <p:nvPr/>
        </p:nvSpPr>
        <p:spPr bwMode="auto">
          <a:xfrm>
            <a:off x="11356848" y="6236208"/>
            <a:ext cx="384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06</a:t>
            </a:r>
            <a:endParaRPr lang="en-US" sz="1000"/>
          </a:p>
        </p:txBody>
      </p:sp>
      <p:sp>
        <p:nvSpPr>
          <p:cNvPr id="1454125213" name="Text 6"/>
          <p:cNvSpPr txBox="1"/>
          <p:nvPr/>
        </p:nvSpPr>
        <p:spPr bwMode="auto">
          <a:xfrm>
            <a:off x="685800" y="868680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3400" b="1">
                <a:solidFill>
                  <a:srgbClr val="1F2020"/>
                </a:solidFill>
                <a:latin typeface="Calibri"/>
                <a:ea typeface="Calibri"/>
                <a:cs typeface="Calibri"/>
              </a:rPr>
              <a:t>Built as a swappable, always-bootable stack</a:t>
            </a:r>
            <a:endParaRPr lang="en-US" sz="3400"/>
          </a:p>
        </p:txBody>
      </p:sp>
      <p:sp>
        <p:nvSpPr>
          <p:cNvPr id="1137768404" name="Text 7"/>
          <p:cNvSpPr txBox="1"/>
          <p:nvPr/>
        </p:nvSpPr>
        <p:spPr bwMode="auto">
          <a:xfrm>
            <a:off x="685800" y="1472184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A stable FailurePrediction contract means the ML can change without touching anything downstream.</a:t>
            </a:r>
            <a:endParaRPr lang="en-US" sz="1400"/>
          </a:p>
        </p:txBody>
      </p:sp>
      <p:sp>
        <p:nvSpPr>
          <p:cNvPr id="1831405518" name="Shape 8"/>
          <p:cNvSpPr/>
          <p:nvPr/>
        </p:nvSpPr>
        <p:spPr bwMode="auto">
          <a:xfrm>
            <a:off x="685800" y="2249424"/>
            <a:ext cx="10954511" cy="786384"/>
          </a:xfrm>
          <a:prstGeom prst="roundRect">
            <a:avLst>
              <a:gd name="adj" fmla="val 6977"/>
            </a:avLst>
          </a:prstGeom>
          <a:solidFill>
            <a:srgbClr val="F4F6FB"/>
          </a:solidFill>
          <a:ln w="12700">
            <a:solidFill>
              <a:srgbClr val="DDE3F2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949115803" name="Shape 9"/>
          <p:cNvSpPr/>
          <p:nvPr/>
        </p:nvSpPr>
        <p:spPr bwMode="auto">
          <a:xfrm>
            <a:off x="886968" y="2468880"/>
            <a:ext cx="1170432" cy="347472"/>
          </a:xfrm>
          <a:prstGeom prst="roundRect">
            <a:avLst>
              <a:gd name="adj" fmla="val 21053"/>
            </a:avLst>
          </a:prstGeom>
          <a:solidFill>
            <a:srgbClr val="3A6AD6"/>
          </a:solidFill>
          <a:ln w="12700">
            <a:solidFill>
              <a:srgbClr val="3A6AD6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668875695" name="Text 10"/>
          <p:cNvSpPr txBox="1"/>
          <p:nvPr/>
        </p:nvSpPr>
        <p:spPr bwMode="auto">
          <a:xfrm>
            <a:off x="886968" y="2468880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 b="1" spc="8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FRONTEND</a:t>
            </a:r>
            <a:endParaRPr lang="en-US" sz="1000"/>
          </a:p>
        </p:txBody>
      </p:sp>
      <p:sp>
        <p:nvSpPr>
          <p:cNvPr id="1250484497" name="Text 11"/>
          <p:cNvSpPr txBox="1"/>
          <p:nvPr/>
        </p:nvSpPr>
        <p:spPr bwMode="auto">
          <a:xfrm>
            <a:off x="2240280" y="2432303"/>
            <a:ext cx="301751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50" b="1">
                <a:solidFill>
                  <a:srgbClr val="1F2020"/>
                </a:solidFill>
                <a:latin typeface="Calibri"/>
                <a:ea typeface="Calibri"/>
                <a:cs typeface="Calibri"/>
              </a:rPr>
              <a:t>React 18 + Vite</a:t>
            </a:r>
            <a:endParaRPr lang="en-US" sz="1350"/>
          </a:p>
        </p:txBody>
      </p:sp>
      <p:sp>
        <p:nvSpPr>
          <p:cNvPr id="540060557" name="Text 12"/>
          <p:cNvSpPr txBox="1"/>
          <p:nvPr/>
        </p:nvSpPr>
        <p:spPr bwMode="auto">
          <a:xfrm>
            <a:off x="5349240" y="2432303"/>
            <a:ext cx="60350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4B5563"/>
                </a:solidFill>
                <a:latin typeface="Calibri"/>
                <a:ea typeface="Calibri"/>
                <a:cs typeface="Calibri"/>
              </a:rPr>
              <a:t>Command Center · Asset Intelligence map · Maintenance · Crew Planner · Scenarios · AI Advisor</a:t>
            </a:r>
            <a:endParaRPr lang="en-US" sz="1100"/>
          </a:p>
        </p:txBody>
      </p:sp>
      <p:sp>
        <p:nvSpPr>
          <p:cNvPr id="400386956" name="Shape 13"/>
          <p:cNvSpPr/>
          <p:nvPr/>
        </p:nvSpPr>
        <p:spPr bwMode="auto">
          <a:xfrm>
            <a:off x="685800" y="3182112"/>
            <a:ext cx="10954511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DE3F2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47513089" name="Shape 14"/>
          <p:cNvSpPr/>
          <p:nvPr/>
        </p:nvSpPr>
        <p:spPr bwMode="auto">
          <a:xfrm>
            <a:off x="886968" y="3401568"/>
            <a:ext cx="1170432" cy="347472"/>
          </a:xfrm>
          <a:prstGeom prst="roundRect">
            <a:avLst>
              <a:gd name="adj" fmla="val 21053"/>
            </a:avLst>
          </a:prstGeom>
          <a:solidFill>
            <a:srgbClr val="6C4BD6"/>
          </a:solidFill>
          <a:ln w="12700">
            <a:solidFill>
              <a:srgbClr val="6C4BD6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928849821" name="Text 15"/>
          <p:cNvSpPr txBox="1"/>
          <p:nvPr/>
        </p:nvSpPr>
        <p:spPr bwMode="auto">
          <a:xfrm>
            <a:off x="886968" y="3401568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 b="1" spc="8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API</a:t>
            </a:r>
            <a:endParaRPr lang="en-US" sz="1000"/>
          </a:p>
        </p:txBody>
      </p:sp>
      <p:sp>
        <p:nvSpPr>
          <p:cNvPr id="1928730366" name="Text 16"/>
          <p:cNvSpPr txBox="1"/>
          <p:nvPr/>
        </p:nvSpPr>
        <p:spPr bwMode="auto">
          <a:xfrm>
            <a:off x="2240280" y="3364992"/>
            <a:ext cx="301751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50" b="1">
                <a:solidFill>
                  <a:srgbClr val="1F2020"/>
                </a:solidFill>
                <a:latin typeface="Calibri"/>
                <a:ea typeface="Calibri"/>
                <a:cs typeface="Calibri"/>
              </a:rPr>
              <a:t>FastAPI · JWT auth</a:t>
            </a:r>
            <a:endParaRPr lang="en-US" sz="1350"/>
          </a:p>
        </p:txBody>
      </p:sp>
      <p:sp>
        <p:nvSpPr>
          <p:cNvPr id="850844463" name="Text 17"/>
          <p:cNvSpPr txBox="1"/>
          <p:nvPr/>
        </p:nvSpPr>
        <p:spPr bwMode="auto">
          <a:xfrm>
            <a:off x="5349240" y="3364992"/>
            <a:ext cx="60350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4B5563"/>
                </a:solidFill>
                <a:latin typeface="Calibri"/>
                <a:ea typeface="Calibri"/>
                <a:cs typeface="Calibri"/>
              </a:rPr>
              <a:t>30+ REST endpoints under /api/gs/ — risk engine, planners, scenario simulator, copilot</a:t>
            </a:r>
            <a:endParaRPr lang="en-US" sz="1100"/>
          </a:p>
        </p:txBody>
      </p:sp>
      <p:sp>
        <p:nvSpPr>
          <p:cNvPr id="769644403" name="Shape 18"/>
          <p:cNvSpPr/>
          <p:nvPr/>
        </p:nvSpPr>
        <p:spPr bwMode="auto">
          <a:xfrm>
            <a:off x="685800" y="4114800"/>
            <a:ext cx="10954511" cy="786384"/>
          </a:xfrm>
          <a:prstGeom prst="roundRect">
            <a:avLst>
              <a:gd name="adj" fmla="val 6977"/>
            </a:avLst>
          </a:prstGeom>
          <a:solidFill>
            <a:srgbClr val="F4F6FB"/>
          </a:solidFill>
          <a:ln w="12700">
            <a:solidFill>
              <a:srgbClr val="DDE3F2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668102919" name="Shape 19"/>
          <p:cNvSpPr/>
          <p:nvPr/>
        </p:nvSpPr>
        <p:spPr bwMode="auto">
          <a:xfrm>
            <a:off x="886968" y="4334256"/>
            <a:ext cx="1170432" cy="347472"/>
          </a:xfrm>
          <a:prstGeom prst="roundRect">
            <a:avLst>
              <a:gd name="adj" fmla="val 21053"/>
            </a:avLst>
          </a:prstGeom>
          <a:solidFill>
            <a:srgbClr val="E8511F"/>
          </a:solidFill>
          <a:ln w="12700">
            <a:solidFill>
              <a:srgbClr val="E8511F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2038042341" name="Text 20"/>
          <p:cNvSpPr txBox="1"/>
          <p:nvPr/>
        </p:nvSpPr>
        <p:spPr bwMode="auto">
          <a:xfrm>
            <a:off x="886968" y="4334256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 b="1" spc="8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ML</a:t>
            </a:r>
            <a:endParaRPr lang="en-US" sz="1000"/>
          </a:p>
        </p:txBody>
      </p:sp>
      <p:sp>
        <p:nvSpPr>
          <p:cNvPr id="1711461019" name="Text 21"/>
          <p:cNvSpPr txBox="1"/>
          <p:nvPr/>
        </p:nvSpPr>
        <p:spPr bwMode="auto">
          <a:xfrm>
            <a:off x="2240280" y="4297680"/>
            <a:ext cx="301751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50" b="1">
                <a:solidFill>
                  <a:srgbClr val="1F2020"/>
                </a:solidFill>
                <a:latin typeface="Calibri"/>
                <a:ea typeface="Calibri"/>
                <a:cs typeface="Calibri"/>
              </a:rPr>
              <a:t>XGBoost in models/bottleneck/</a:t>
            </a:r>
            <a:endParaRPr lang="en-US" sz="1350"/>
          </a:p>
        </p:txBody>
      </p:sp>
      <p:sp>
        <p:nvSpPr>
          <p:cNvPr id="997290423" name="Text 22"/>
          <p:cNvSpPr txBox="1"/>
          <p:nvPr/>
        </p:nvSpPr>
        <p:spPr bwMode="auto">
          <a:xfrm>
            <a:off x="5349240" y="4297680"/>
            <a:ext cx="60350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4B5563"/>
                </a:solidFill>
                <a:latin typeface="Calibri"/>
                <a:ea typeface="Calibri"/>
                <a:cs typeface="Calibri"/>
              </a:rPr>
              <a:t>GRIDSHIELD_USE_REAL_ML=1 → real models; deterministic mock predictor as fallback</a:t>
            </a:r>
            <a:endParaRPr lang="en-US" sz="1100"/>
          </a:p>
        </p:txBody>
      </p:sp>
      <p:sp>
        <p:nvSpPr>
          <p:cNvPr id="1870765137" name="Shape 23"/>
          <p:cNvSpPr/>
          <p:nvPr/>
        </p:nvSpPr>
        <p:spPr bwMode="auto">
          <a:xfrm>
            <a:off x="685800" y="5047488"/>
            <a:ext cx="10954511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DE3F2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896914600" name="Shape 24"/>
          <p:cNvSpPr/>
          <p:nvPr/>
        </p:nvSpPr>
        <p:spPr bwMode="auto">
          <a:xfrm>
            <a:off x="886968" y="5266944"/>
            <a:ext cx="1170432" cy="347472"/>
          </a:xfrm>
          <a:prstGeom prst="roundRect">
            <a:avLst>
              <a:gd name="adj" fmla="val 21053"/>
            </a:avLst>
          </a:prstGeom>
          <a:solidFill>
            <a:srgbClr val="1E8E5A"/>
          </a:solidFill>
          <a:ln w="12700">
            <a:solidFill>
              <a:srgbClr val="1E8E5A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492107238" name="Text 25"/>
          <p:cNvSpPr txBox="1"/>
          <p:nvPr/>
        </p:nvSpPr>
        <p:spPr bwMode="auto">
          <a:xfrm>
            <a:off x="886968" y="5266944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 b="1" spc="8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DATA</a:t>
            </a:r>
            <a:endParaRPr lang="en-US" sz="1000"/>
          </a:p>
        </p:txBody>
      </p:sp>
      <p:sp>
        <p:nvSpPr>
          <p:cNvPr id="1252721767" name="Text 26"/>
          <p:cNvSpPr txBox="1"/>
          <p:nvPr/>
        </p:nvSpPr>
        <p:spPr bwMode="auto">
          <a:xfrm>
            <a:off x="2240280" y="5230368"/>
            <a:ext cx="301751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50" b="1">
                <a:solidFill>
                  <a:srgbClr val="1F2020"/>
                </a:solidFill>
                <a:latin typeface="Calibri"/>
                <a:ea typeface="Calibri"/>
                <a:cs typeface="Calibri"/>
              </a:rPr>
              <a:t>SQLite (dev) / PostgreSQL (prod)</a:t>
            </a:r>
            <a:endParaRPr lang="en-US" sz="1350"/>
          </a:p>
        </p:txBody>
      </p:sp>
      <p:sp>
        <p:nvSpPr>
          <p:cNvPr id="694258649" name="Text 27"/>
          <p:cNvSpPr txBox="1"/>
          <p:nvPr/>
        </p:nvSpPr>
        <p:spPr bwMode="auto">
          <a:xfrm>
            <a:off x="5349240" y="5230368"/>
            <a:ext cx="60350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4B5563"/>
                </a:solidFill>
                <a:latin typeface="Calibri"/>
                <a:ea typeface="Calibri"/>
                <a:cs typeface="Calibri"/>
              </a:rPr>
              <a:t>Asset fleet, telemetry history, incidents, crew roster, weather cache</a:t>
            </a:r>
            <a:endParaRPr lang="en-US" sz="1100"/>
          </a:p>
        </p:txBody>
      </p:sp>
      <p:sp>
        <p:nvSpPr>
          <p:cNvPr id="1697639541" name="Shape 28"/>
          <p:cNvSpPr/>
          <p:nvPr/>
        </p:nvSpPr>
        <p:spPr bwMode="auto">
          <a:xfrm>
            <a:off x="685800" y="5943600"/>
            <a:ext cx="10424160" cy="420624"/>
          </a:xfrm>
          <a:prstGeom prst="roundRect">
            <a:avLst>
              <a:gd name="adj" fmla="val 13043"/>
            </a:avLst>
          </a:prstGeom>
          <a:solidFill>
            <a:srgbClr val="EAF0FE"/>
          </a:solidFill>
          <a:ln w="12700">
            <a:solidFill>
              <a:srgbClr val="D5E0FB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720651562" name="Text 29"/>
          <p:cNvSpPr txBox="1"/>
          <p:nvPr/>
        </p:nvSpPr>
        <p:spPr bwMode="auto">
          <a:xfrm>
            <a:off x="914400" y="5943600"/>
            <a:ext cx="9966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3A6AD6"/>
                </a:solidFill>
                <a:latin typeface="Calibri"/>
                <a:ea typeface="Calibri"/>
                <a:cs typeface="Calibri"/>
              </a:rPr>
              <a:t>Swap the ML predictor and the frontend, risk engine, and planners need zero changes — the deck demo always boots, credentials or not.</a:t>
            </a:r>
            <a:endParaRPr lang="en-US" sz="11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7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8859648" name="Shape 0"/>
          <p:cNvSpPr/>
          <p:nvPr/>
        </p:nvSpPr>
        <p:spPr bwMode="auto">
          <a:xfrm>
            <a:off x="502920" y="310896"/>
            <a:ext cx="274320" cy="274320"/>
          </a:xfrm>
          <a:prstGeom prst="roundRect">
            <a:avLst>
              <a:gd name="adj" fmla="val 23333"/>
            </a:avLst>
          </a:prstGeom>
          <a:solidFill>
            <a:srgbClr val="3A6AD6"/>
          </a:solidFill>
          <a:ln w="12700">
            <a:solidFill>
              <a:srgbClr val="3A6AD6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663297391" name="Text 1"/>
          <p:cNvSpPr txBox="1"/>
          <p:nvPr/>
        </p:nvSpPr>
        <p:spPr bwMode="auto">
          <a:xfrm>
            <a:off x="502920" y="3108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FFFFFF"/>
                </a:solidFill>
              </a:rPr>
              <a:t>⚡</a:t>
            </a:r>
            <a:endParaRPr lang="en-US" sz="1200"/>
          </a:p>
        </p:txBody>
      </p:sp>
      <p:sp>
        <p:nvSpPr>
          <p:cNvPr id="1182737652" name="Text 2"/>
          <p:cNvSpPr txBox="1"/>
          <p:nvPr/>
        </p:nvSpPr>
        <p:spPr bwMode="auto">
          <a:xfrm>
            <a:off x="850392" y="30175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1F2020"/>
                </a:solidFill>
                <a:latin typeface="Calibri"/>
                <a:ea typeface="Calibri"/>
                <a:cs typeface="Calibri"/>
              </a:rPr>
              <a:t>Bottleneck AI</a:t>
            </a:r>
            <a:endParaRPr lang="en-US" sz="1200"/>
          </a:p>
        </p:txBody>
      </p:sp>
      <p:sp>
        <p:nvSpPr>
          <p:cNvPr id="885007848" name="Text 3"/>
          <p:cNvSpPr txBox="1"/>
          <p:nvPr/>
        </p:nvSpPr>
        <p:spPr bwMode="auto">
          <a:xfrm>
            <a:off x="8229600" y="30175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  <a:defRPr/>
            </a:pPr>
            <a:r>
              <a:rPr lang="en-US" sz="950" b="1" spc="160">
                <a:solidFill>
                  <a:srgbClr val="3A6AD6"/>
                </a:solidFill>
                <a:latin typeface="Calibri"/>
                <a:ea typeface="Calibri"/>
                <a:cs typeface="Calibri"/>
              </a:rPr>
              <a:t>ASSET INTELLIGENCE</a:t>
            </a:r>
            <a:endParaRPr lang="en-US" sz="950"/>
          </a:p>
        </p:txBody>
      </p:sp>
      <p:sp>
        <p:nvSpPr>
          <p:cNvPr id="1242865470" name="Shape 4"/>
          <p:cNvSpPr/>
          <p:nvPr/>
        </p:nvSpPr>
        <p:spPr bwMode="auto">
          <a:xfrm>
            <a:off x="11356848" y="6236208"/>
            <a:ext cx="384048" cy="310896"/>
          </a:xfrm>
          <a:prstGeom prst="roundRect">
            <a:avLst>
              <a:gd name="adj" fmla="val 23529"/>
            </a:avLst>
          </a:prstGeom>
          <a:solidFill>
            <a:srgbClr val="3A6AD6"/>
          </a:solidFill>
          <a:ln w="12700">
            <a:solidFill>
              <a:srgbClr val="3A6AD6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575283490" name="Text 5"/>
          <p:cNvSpPr txBox="1"/>
          <p:nvPr/>
        </p:nvSpPr>
        <p:spPr bwMode="auto">
          <a:xfrm>
            <a:off x="11356848" y="6236208"/>
            <a:ext cx="384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07</a:t>
            </a:r>
            <a:endParaRPr lang="en-US" sz="1000"/>
          </a:p>
        </p:txBody>
      </p:sp>
      <p:sp>
        <p:nvSpPr>
          <p:cNvPr id="152493285" name="Text 6"/>
          <p:cNvSpPr txBox="1"/>
          <p:nvPr/>
        </p:nvSpPr>
        <p:spPr bwMode="auto">
          <a:xfrm>
            <a:off x="685800" y="868680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3400" b="1">
                <a:solidFill>
                  <a:srgbClr val="1F2020"/>
                </a:solidFill>
                <a:latin typeface="Calibri"/>
                <a:ea typeface="Calibri"/>
                <a:cs typeface="Calibri"/>
              </a:rPr>
              <a:t>The whole grid, coloured by risk</a:t>
            </a:r>
            <a:endParaRPr lang="en-US" sz="3400"/>
          </a:p>
        </p:txBody>
      </p:sp>
      <p:sp>
        <p:nvSpPr>
          <p:cNvPr id="1513941891" name="Text 7"/>
          <p:cNvSpPr txBox="1"/>
          <p:nvPr/>
        </p:nvSpPr>
        <p:spPr bwMode="auto">
          <a:xfrm>
            <a:off x="685800" y="1472184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Full-screen map with risk-coloured markers, safety zones, crew depots, and live dispatch lines.</a:t>
            </a:r>
            <a:endParaRPr lang="en-US" sz="1400"/>
          </a:p>
        </p:txBody>
      </p:sp>
      <p:pic>
        <p:nvPicPr>
          <p:cNvPr id="829380140" name="Image 0" descr="shots/map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685800" y="2212848"/>
            <a:ext cx="7223760" cy="3383280"/>
          </a:xfrm>
          <a:prstGeom prst="rect">
            <a:avLst/>
          </a:prstGeom>
          <a:effectLst>
            <a:outerShdw blurRad="177800" dist="38100" dir="5400000" sx="100000" sy="100000" kx="0" ky="0" algn="bl" rotWithShape="0">
              <a:srgbClr val="8C97AD">
                <a:alpha val="35000"/>
              </a:srgbClr>
            </a:outerShdw>
          </a:effectLst>
        </p:spPr>
      </p:pic>
      <p:sp>
        <p:nvSpPr>
          <p:cNvPr id="1010482410" name="Text 8"/>
          <p:cNvSpPr txBox="1"/>
          <p:nvPr/>
        </p:nvSpPr>
        <p:spPr bwMode="auto">
          <a:xfrm>
            <a:off x="685800" y="5669280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00" i="1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Hero asset — North Feeder Transformer 1042 (TR-1042)</a:t>
            </a:r>
            <a:endParaRPr lang="en-US" sz="1000"/>
          </a:p>
        </p:txBody>
      </p:sp>
      <p:sp>
        <p:nvSpPr>
          <p:cNvPr id="405424183" name="Shape 9"/>
          <p:cNvSpPr/>
          <p:nvPr/>
        </p:nvSpPr>
        <p:spPr bwMode="auto">
          <a:xfrm>
            <a:off x="8138160" y="2212848"/>
            <a:ext cx="3502152" cy="1298448"/>
          </a:xfrm>
          <a:prstGeom prst="roundRect">
            <a:avLst>
              <a:gd name="adj" fmla="val 4225"/>
            </a:avLst>
          </a:prstGeom>
          <a:solidFill>
            <a:srgbClr val="FDF0EE"/>
          </a:solidFill>
          <a:ln w="12700">
            <a:solidFill>
              <a:srgbClr val="F5D6CE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200295215" name="Text 10"/>
          <p:cNvSpPr txBox="1"/>
          <p:nvPr/>
        </p:nvSpPr>
        <p:spPr bwMode="auto">
          <a:xfrm>
            <a:off x="8357616" y="2340864"/>
            <a:ext cx="1097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4000" b="1">
                <a:solidFill>
                  <a:srgbClr val="C0392B"/>
                </a:solidFill>
                <a:latin typeface="Calibri"/>
                <a:ea typeface="Calibri"/>
                <a:cs typeface="Calibri"/>
              </a:rPr>
              <a:t>98</a:t>
            </a:r>
            <a:endParaRPr lang="en-US" sz="4000"/>
          </a:p>
        </p:txBody>
      </p:sp>
      <p:sp>
        <p:nvSpPr>
          <p:cNvPr id="1812592301" name="Text 11"/>
          <p:cNvSpPr txBox="1"/>
          <p:nvPr/>
        </p:nvSpPr>
        <p:spPr bwMode="auto">
          <a:xfrm>
            <a:off x="9418320" y="2377440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100" b="1">
                <a:solidFill>
                  <a:srgbClr val="C0392B"/>
                </a:solidFill>
                <a:latin typeface="Calibri"/>
                <a:ea typeface="Calibri"/>
                <a:cs typeface="Calibri"/>
              </a:rPr>
              <a:t>/100 RISK SCORE</a:t>
            </a:r>
            <a:endParaRPr lang="en-US" sz="1100"/>
          </a:p>
          <a:p>
            <a:pPr marL="0" indent="0">
              <a:lnSpc>
                <a:spcPts val="1500"/>
              </a:lnSpc>
              <a:buNone/>
              <a:defRPr/>
            </a:pPr>
            <a:r>
              <a:rPr lang="en-US" sz="1100" b="1">
                <a:solidFill>
                  <a:srgbClr val="C0392B"/>
                </a:solidFill>
                <a:latin typeface="Calibri"/>
                <a:ea typeface="Calibri"/>
                <a:cs typeface="Calibri"/>
              </a:rPr>
              <a:t>CRITICAL · degraded</a:t>
            </a:r>
            <a:endParaRPr lang="en-US" sz="1100"/>
          </a:p>
        </p:txBody>
      </p:sp>
      <p:sp>
        <p:nvSpPr>
          <p:cNvPr id="1332941337" name="Text 12"/>
          <p:cNvSpPr txBox="1"/>
          <p:nvPr/>
        </p:nvSpPr>
        <p:spPr bwMode="auto">
          <a:xfrm>
            <a:off x="8357616" y="303580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000">
                <a:solidFill>
                  <a:srgbClr val="8C4A3F"/>
                </a:solidFill>
                <a:latin typeface="Calibri"/>
                <a:ea typeface="Calibri"/>
                <a:cs typeface="Calibri"/>
              </a:rPr>
              <a:t>78% 24h failure probability · health 18/100 · 17 years old</a:t>
            </a:r>
            <a:endParaRPr lang="en-US" sz="1000"/>
          </a:p>
        </p:txBody>
      </p:sp>
      <p:sp>
        <p:nvSpPr>
          <p:cNvPr id="2084415409" name="Text 13"/>
          <p:cNvSpPr txBox="1"/>
          <p:nvPr/>
        </p:nvSpPr>
        <p:spPr bwMode="auto">
          <a:xfrm>
            <a:off x="8138160" y="3675888"/>
            <a:ext cx="350215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▪"/>
              <a:defRPr/>
            </a:pPr>
            <a:r>
              <a:rPr lang="en-US" sz="1100">
                <a:solidFill>
                  <a:srgbClr val="3F4651"/>
                </a:solidFill>
                <a:latin typeface="Calibri"/>
                <a:ea typeface="Calibri"/>
                <a:cs typeface="Calibri"/>
              </a:rPr>
              <a:t>Risk breakdown: probability 78% · grid impact 54% · weather 78% · criticality 92% · lack of redundancy 70%</a:t>
            </a:r>
            <a:endParaRPr lang="en-US" sz="110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▪"/>
              <a:defRPr/>
            </a:pPr>
            <a:r>
              <a:rPr lang="en-US" sz="1100">
                <a:solidFill>
                  <a:srgbClr val="3F4651"/>
                </a:solidFill>
                <a:latin typeface="Calibri"/>
                <a:ea typeface="Calibri"/>
                <a:cs typeface="Calibri"/>
              </a:rPr>
              <a:t>Why risky: sustained temperature elevation, oil temp, peak load, vibration mean, load mean — all from real telemetry</a:t>
            </a:r>
            <a:endParaRPr lang="en-US" sz="110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▪"/>
              <a:defRPr/>
            </a:pPr>
            <a:r>
              <a:rPr lang="en-US" sz="1100">
                <a:solidFill>
                  <a:srgbClr val="3F4651"/>
                </a:solidFill>
                <a:latin typeface="Calibri"/>
                <a:ea typeface="Calibri"/>
                <a:cs typeface="Calibri"/>
              </a:rPr>
              <a:t>8,420 customers and 7 critical facilities downstream</a:t>
            </a:r>
            <a:endParaRPr lang="en-US" sz="110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▪"/>
              <a:defRPr/>
            </a:pPr>
            <a:r>
              <a:rPr lang="en-US" sz="1100">
                <a:solidFill>
                  <a:srgbClr val="3F4651"/>
                </a:solidFill>
                <a:latin typeface="Calibri"/>
                <a:ea typeface="Calibri"/>
                <a:cs typeface="Calibri"/>
              </a:rPr>
              <a:t>Nearest crews ranked by ETA — Alpha Transformer Team assigned at 2.5 km</a:t>
            </a:r>
            <a:endParaRPr lang="en-US" sz="11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8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24707048" name="Shape 0"/>
          <p:cNvSpPr/>
          <p:nvPr/>
        </p:nvSpPr>
        <p:spPr bwMode="auto">
          <a:xfrm>
            <a:off x="502920" y="310896"/>
            <a:ext cx="274320" cy="274320"/>
          </a:xfrm>
          <a:prstGeom prst="roundRect">
            <a:avLst>
              <a:gd name="adj" fmla="val 23333"/>
            </a:avLst>
          </a:prstGeom>
          <a:solidFill>
            <a:srgbClr val="3A6AD6"/>
          </a:solidFill>
          <a:ln w="12700">
            <a:solidFill>
              <a:srgbClr val="3A6AD6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134460881" name="Text 1"/>
          <p:cNvSpPr txBox="1"/>
          <p:nvPr/>
        </p:nvSpPr>
        <p:spPr bwMode="auto">
          <a:xfrm>
            <a:off x="502920" y="3108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FFFFFF"/>
                </a:solidFill>
              </a:rPr>
              <a:t>⚡</a:t>
            </a:r>
            <a:endParaRPr lang="en-US" sz="1200"/>
          </a:p>
        </p:txBody>
      </p:sp>
      <p:sp>
        <p:nvSpPr>
          <p:cNvPr id="280554131" name="Text 2"/>
          <p:cNvSpPr txBox="1"/>
          <p:nvPr/>
        </p:nvSpPr>
        <p:spPr bwMode="auto">
          <a:xfrm>
            <a:off x="850392" y="30175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1F2020"/>
                </a:solidFill>
                <a:latin typeface="Calibri"/>
                <a:ea typeface="Calibri"/>
                <a:cs typeface="Calibri"/>
              </a:rPr>
              <a:t>Bottleneck AI</a:t>
            </a:r>
            <a:endParaRPr lang="en-US" sz="1200"/>
          </a:p>
        </p:txBody>
      </p:sp>
      <p:sp>
        <p:nvSpPr>
          <p:cNvPr id="1006437042" name="Text 3"/>
          <p:cNvSpPr txBox="1"/>
          <p:nvPr/>
        </p:nvSpPr>
        <p:spPr bwMode="auto">
          <a:xfrm>
            <a:off x="8229600" y="30175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  <a:defRPr/>
            </a:pPr>
            <a:r>
              <a:rPr lang="en-US" sz="950" b="1" spc="160">
                <a:solidFill>
                  <a:srgbClr val="3A6AD6"/>
                </a:solidFill>
                <a:latin typeface="Calibri"/>
                <a:ea typeface="Calibri"/>
                <a:cs typeface="Calibri"/>
              </a:rPr>
              <a:t>COMMAND CENTER</a:t>
            </a:r>
            <a:endParaRPr lang="en-US" sz="950"/>
          </a:p>
        </p:txBody>
      </p:sp>
      <p:sp>
        <p:nvSpPr>
          <p:cNvPr id="85542980" name="Shape 4"/>
          <p:cNvSpPr/>
          <p:nvPr/>
        </p:nvSpPr>
        <p:spPr bwMode="auto">
          <a:xfrm>
            <a:off x="11356848" y="6236208"/>
            <a:ext cx="384048" cy="310896"/>
          </a:xfrm>
          <a:prstGeom prst="roundRect">
            <a:avLst>
              <a:gd name="adj" fmla="val 23529"/>
            </a:avLst>
          </a:prstGeom>
          <a:solidFill>
            <a:srgbClr val="3A6AD6"/>
          </a:solidFill>
          <a:ln w="12700">
            <a:solidFill>
              <a:srgbClr val="3A6AD6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594192915" name="Text 5"/>
          <p:cNvSpPr txBox="1"/>
          <p:nvPr/>
        </p:nvSpPr>
        <p:spPr bwMode="auto">
          <a:xfrm>
            <a:off x="11356848" y="6236208"/>
            <a:ext cx="384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08</a:t>
            </a:r>
            <a:endParaRPr lang="en-US" sz="1000"/>
          </a:p>
        </p:txBody>
      </p:sp>
      <p:sp>
        <p:nvSpPr>
          <p:cNvPr id="336356974" name="Text 6"/>
          <p:cNvSpPr txBox="1"/>
          <p:nvPr/>
        </p:nvSpPr>
        <p:spPr bwMode="auto">
          <a:xfrm>
            <a:off x="685800" y="868680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3400" b="1">
                <a:solidFill>
                  <a:srgbClr val="1F2020"/>
                </a:solidFill>
                <a:latin typeface="Calibri"/>
                <a:ea typeface="Calibri"/>
                <a:cs typeface="Calibri"/>
              </a:rPr>
              <a:t>One screen the control room can run the shift on</a:t>
            </a:r>
            <a:endParaRPr lang="en-US" sz="3400"/>
          </a:p>
        </p:txBody>
      </p:sp>
      <p:sp>
        <p:nvSpPr>
          <p:cNvPr id="539100955" name="Text 7"/>
          <p:cNvSpPr txBox="1"/>
          <p:nvPr/>
        </p:nvSpPr>
        <p:spPr bwMode="auto">
          <a:xfrm>
            <a:off x="685800" y="1472184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Live KPIs, active critical alerts, and a ranked risk table across all 30 assets.</a:t>
            </a:r>
            <a:endParaRPr lang="en-US" sz="1400"/>
          </a:p>
        </p:txBody>
      </p:sp>
      <p:pic>
        <p:nvPicPr>
          <p:cNvPr id="1817787997" name="Image 0" descr="shots/comman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685800" y="2194560"/>
            <a:ext cx="7406640" cy="3474720"/>
          </a:xfrm>
          <a:prstGeom prst="rect">
            <a:avLst/>
          </a:prstGeom>
          <a:effectLst>
            <a:outerShdw blurRad="177800" dist="38100" dir="5400000" sx="100000" sy="100000" kx="0" ky="0" algn="bl" rotWithShape="0">
              <a:srgbClr val="8C97AD">
                <a:alpha val="35000"/>
              </a:srgbClr>
            </a:outerShdw>
          </a:effectLst>
        </p:spPr>
      </p:pic>
      <p:sp>
        <p:nvSpPr>
          <p:cNvPr id="306358829" name="Shape 8"/>
          <p:cNvSpPr/>
          <p:nvPr/>
        </p:nvSpPr>
        <p:spPr bwMode="auto">
          <a:xfrm>
            <a:off x="8321039" y="2194560"/>
            <a:ext cx="3319272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DE3F2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689503774" name="Text 9"/>
          <p:cNvSpPr txBox="1"/>
          <p:nvPr/>
        </p:nvSpPr>
        <p:spPr bwMode="auto">
          <a:xfrm>
            <a:off x="8540496" y="2194560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400" b="1">
                <a:solidFill>
                  <a:srgbClr val="C0392B"/>
                </a:solidFill>
                <a:latin typeface="Calibri"/>
                <a:ea typeface="Calibri"/>
                <a:cs typeface="Calibri"/>
              </a:rPr>
              <a:t>3</a:t>
            </a:r>
            <a:endParaRPr lang="en-US" sz="2400"/>
          </a:p>
        </p:txBody>
      </p:sp>
      <p:sp>
        <p:nvSpPr>
          <p:cNvPr id="1405901773" name="Text 10"/>
          <p:cNvSpPr txBox="1"/>
          <p:nvPr/>
        </p:nvSpPr>
        <p:spPr bwMode="auto">
          <a:xfrm>
            <a:off x="9966960" y="2194560"/>
            <a:ext cx="15179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Critical assets</a:t>
            </a:r>
            <a:endParaRPr lang="en-US" sz="1100"/>
          </a:p>
        </p:txBody>
      </p:sp>
      <p:sp>
        <p:nvSpPr>
          <p:cNvPr id="1617597146" name="Shape 11"/>
          <p:cNvSpPr/>
          <p:nvPr/>
        </p:nvSpPr>
        <p:spPr bwMode="auto">
          <a:xfrm>
            <a:off x="8321039" y="3099816"/>
            <a:ext cx="3319272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DE3F2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980839686" name="Text 12"/>
          <p:cNvSpPr txBox="1"/>
          <p:nvPr/>
        </p:nvSpPr>
        <p:spPr bwMode="auto">
          <a:xfrm>
            <a:off x="8540496" y="3099816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400" b="1">
                <a:solidFill>
                  <a:srgbClr val="E8511F"/>
                </a:solidFill>
                <a:latin typeface="Calibri"/>
                <a:ea typeface="Calibri"/>
                <a:cs typeface="Calibri"/>
              </a:rPr>
              <a:t>11</a:t>
            </a:r>
            <a:endParaRPr lang="en-US" sz="2400"/>
          </a:p>
        </p:txBody>
      </p:sp>
      <p:sp>
        <p:nvSpPr>
          <p:cNvPr id="908615920" name="Text 13"/>
          <p:cNvSpPr txBox="1"/>
          <p:nvPr/>
        </p:nvSpPr>
        <p:spPr bwMode="auto">
          <a:xfrm>
            <a:off x="9966960" y="3099816"/>
            <a:ext cx="15179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High-risk assets</a:t>
            </a:r>
            <a:endParaRPr lang="en-US" sz="1100"/>
          </a:p>
        </p:txBody>
      </p:sp>
      <p:sp>
        <p:nvSpPr>
          <p:cNvPr id="1637462908" name="Shape 14"/>
          <p:cNvSpPr/>
          <p:nvPr/>
        </p:nvSpPr>
        <p:spPr bwMode="auto">
          <a:xfrm>
            <a:off x="8321039" y="4005072"/>
            <a:ext cx="3319272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DE3F2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571907238" name="Text 15"/>
          <p:cNvSpPr txBox="1"/>
          <p:nvPr/>
        </p:nvSpPr>
        <p:spPr bwMode="auto">
          <a:xfrm>
            <a:off x="8540496" y="4005072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400" b="1">
                <a:solidFill>
                  <a:srgbClr val="3A6AD6"/>
                </a:solidFill>
                <a:latin typeface="Calibri"/>
                <a:ea typeface="Calibri"/>
                <a:cs typeface="Calibri"/>
              </a:rPr>
              <a:t>90,520</a:t>
            </a:r>
            <a:endParaRPr lang="en-US" sz="2400"/>
          </a:p>
        </p:txBody>
      </p:sp>
      <p:sp>
        <p:nvSpPr>
          <p:cNvPr id="29874823" name="Text 16"/>
          <p:cNvSpPr txBox="1"/>
          <p:nvPr/>
        </p:nvSpPr>
        <p:spPr bwMode="auto">
          <a:xfrm>
            <a:off x="9966960" y="4005072"/>
            <a:ext cx="15179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Customers at risk</a:t>
            </a:r>
            <a:endParaRPr lang="en-US" sz="1100"/>
          </a:p>
        </p:txBody>
      </p:sp>
      <p:sp>
        <p:nvSpPr>
          <p:cNvPr id="1620908037" name="Shape 17"/>
          <p:cNvSpPr/>
          <p:nvPr/>
        </p:nvSpPr>
        <p:spPr bwMode="auto">
          <a:xfrm>
            <a:off x="8321039" y="4910328"/>
            <a:ext cx="3319272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DE3F2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394203010" name="Text 18"/>
          <p:cNvSpPr txBox="1"/>
          <p:nvPr/>
        </p:nvSpPr>
        <p:spPr bwMode="auto">
          <a:xfrm>
            <a:off x="8540496" y="4910328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400" b="1">
                <a:solidFill>
                  <a:srgbClr val="1E8E5A"/>
                </a:solidFill>
                <a:latin typeface="Calibri"/>
                <a:ea typeface="Calibri"/>
                <a:cs typeface="Calibri"/>
              </a:rPr>
              <a:t>8</a:t>
            </a:r>
            <a:endParaRPr lang="en-US" sz="2400"/>
          </a:p>
        </p:txBody>
      </p:sp>
      <p:sp>
        <p:nvSpPr>
          <p:cNvPr id="552121184" name="Text 19"/>
          <p:cNvSpPr txBox="1"/>
          <p:nvPr/>
        </p:nvSpPr>
        <p:spPr bwMode="auto">
          <a:xfrm>
            <a:off x="9966960" y="4910328"/>
            <a:ext cx="15179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Crews positioned</a:t>
            </a:r>
            <a:endParaRPr lang="en-US" sz="1100"/>
          </a:p>
        </p:txBody>
      </p:sp>
      <p:sp>
        <p:nvSpPr>
          <p:cNvPr id="1725438788" name="Shape 20"/>
          <p:cNvSpPr/>
          <p:nvPr/>
        </p:nvSpPr>
        <p:spPr bwMode="auto">
          <a:xfrm>
            <a:off x="685800" y="5797296"/>
            <a:ext cx="10424160" cy="457200"/>
          </a:xfrm>
          <a:prstGeom prst="roundRect">
            <a:avLst>
              <a:gd name="adj" fmla="val 12000"/>
            </a:avLst>
          </a:prstGeom>
          <a:solidFill>
            <a:srgbClr val="FDF0EE"/>
          </a:solidFill>
          <a:ln w="12700">
            <a:solidFill>
              <a:srgbClr val="F5D6CE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686353473" name="Text 21"/>
          <p:cNvSpPr txBox="1"/>
          <p:nvPr/>
        </p:nvSpPr>
        <p:spPr bwMode="auto">
          <a:xfrm>
            <a:off x="914400" y="5797296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C0392B"/>
                </a:solidFill>
                <a:latin typeface="Calibri"/>
                <a:ea typeface="Calibri"/>
                <a:cs typeface="Calibri"/>
              </a:rPr>
              <a:t>CRITICAL: TR-1042 — 78% 24h failure probability | 7 critical facilities at risk | immediate thermal and vibration inspection + emergency crew</a:t>
            </a:r>
            <a:endParaRPr lang="en-US" sz="11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9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417193" name="Shape 0"/>
          <p:cNvSpPr/>
          <p:nvPr/>
        </p:nvSpPr>
        <p:spPr bwMode="auto">
          <a:xfrm>
            <a:off x="502920" y="310896"/>
            <a:ext cx="274320" cy="274320"/>
          </a:xfrm>
          <a:prstGeom prst="roundRect">
            <a:avLst>
              <a:gd name="adj" fmla="val 23333"/>
            </a:avLst>
          </a:prstGeom>
          <a:solidFill>
            <a:srgbClr val="3A6AD6"/>
          </a:solidFill>
          <a:ln w="12700">
            <a:solidFill>
              <a:srgbClr val="3A6AD6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291976732" name="Text 1"/>
          <p:cNvSpPr txBox="1"/>
          <p:nvPr/>
        </p:nvSpPr>
        <p:spPr bwMode="auto">
          <a:xfrm>
            <a:off x="502920" y="3108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FFFFFF"/>
                </a:solidFill>
              </a:rPr>
              <a:t>⚡</a:t>
            </a:r>
            <a:endParaRPr lang="en-US" sz="1200"/>
          </a:p>
        </p:txBody>
      </p:sp>
      <p:sp>
        <p:nvSpPr>
          <p:cNvPr id="2045733302" name="Text 2"/>
          <p:cNvSpPr txBox="1"/>
          <p:nvPr/>
        </p:nvSpPr>
        <p:spPr bwMode="auto">
          <a:xfrm>
            <a:off x="850392" y="30175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1F2020"/>
                </a:solidFill>
                <a:latin typeface="Calibri"/>
                <a:ea typeface="Calibri"/>
                <a:cs typeface="Calibri"/>
              </a:rPr>
              <a:t>Bottleneck AI</a:t>
            </a:r>
            <a:endParaRPr lang="en-US" sz="1200"/>
          </a:p>
        </p:txBody>
      </p:sp>
      <p:sp>
        <p:nvSpPr>
          <p:cNvPr id="302061155" name="Text 3"/>
          <p:cNvSpPr txBox="1"/>
          <p:nvPr/>
        </p:nvSpPr>
        <p:spPr bwMode="auto">
          <a:xfrm>
            <a:off x="8229600" y="30175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  <a:defRPr/>
            </a:pPr>
            <a:r>
              <a:rPr lang="en-US" sz="950" b="1" spc="160">
                <a:solidFill>
                  <a:srgbClr val="3A6AD6"/>
                </a:solidFill>
                <a:latin typeface="Calibri"/>
                <a:ea typeface="Calibri"/>
                <a:cs typeface="Calibri"/>
              </a:rPr>
              <a:t>MAINTENANCE &amp; CREWS</a:t>
            </a:r>
            <a:endParaRPr lang="en-US" sz="950"/>
          </a:p>
        </p:txBody>
      </p:sp>
      <p:sp>
        <p:nvSpPr>
          <p:cNvPr id="621361526" name="Shape 4"/>
          <p:cNvSpPr/>
          <p:nvPr/>
        </p:nvSpPr>
        <p:spPr bwMode="auto">
          <a:xfrm>
            <a:off x="11356848" y="6236208"/>
            <a:ext cx="384048" cy="310896"/>
          </a:xfrm>
          <a:prstGeom prst="roundRect">
            <a:avLst>
              <a:gd name="adj" fmla="val 23529"/>
            </a:avLst>
          </a:prstGeom>
          <a:solidFill>
            <a:srgbClr val="3A6AD6"/>
          </a:solidFill>
          <a:ln w="12700">
            <a:solidFill>
              <a:srgbClr val="3A6AD6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859705361" name="Text 5"/>
          <p:cNvSpPr txBox="1"/>
          <p:nvPr/>
        </p:nvSpPr>
        <p:spPr bwMode="auto">
          <a:xfrm>
            <a:off x="11356848" y="6236208"/>
            <a:ext cx="384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09</a:t>
            </a:r>
            <a:endParaRPr lang="en-US" sz="1000"/>
          </a:p>
        </p:txBody>
      </p:sp>
      <p:sp>
        <p:nvSpPr>
          <p:cNvPr id="1587234449" name="Text 6"/>
          <p:cNvSpPr txBox="1"/>
          <p:nvPr/>
        </p:nvSpPr>
        <p:spPr bwMode="auto">
          <a:xfrm>
            <a:off x="685800" y="868680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3400" b="1">
                <a:solidFill>
                  <a:srgbClr val="1F2020"/>
                </a:solidFill>
                <a:latin typeface="Calibri"/>
                <a:ea typeface="Calibri"/>
                <a:cs typeface="Calibri"/>
              </a:rPr>
              <a:t>From ranked work to a crew already on the road</a:t>
            </a:r>
            <a:endParaRPr lang="en-US" sz="3400"/>
          </a:p>
        </p:txBody>
      </p:sp>
      <p:sp>
        <p:nvSpPr>
          <p:cNvPr id="19987224" name="Text 7"/>
          <p:cNvSpPr txBox="1"/>
          <p:nvPr/>
        </p:nvSpPr>
        <p:spPr bwMode="auto">
          <a:xfrm>
            <a:off x="685800" y="1472184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Impact-aware prioritisation feeds straight into specialty-matched, distance-ranked pre-positioning.</a:t>
            </a:r>
            <a:endParaRPr lang="en-US" sz="1400"/>
          </a:p>
        </p:txBody>
      </p:sp>
      <p:sp>
        <p:nvSpPr>
          <p:cNvPr id="912584005" name="Text 8"/>
          <p:cNvSpPr txBox="1"/>
          <p:nvPr/>
        </p:nvSpPr>
        <p:spPr bwMode="auto">
          <a:xfrm>
            <a:off x="685800" y="2231136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50" b="1" spc="160">
                <a:solidFill>
                  <a:srgbClr val="3A6AD6"/>
                </a:solidFill>
                <a:latin typeface="Calibri"/>
                <a:ea typeface="Calibri"/>
                <a:cs typeface="Calibri"/>
              </a:rPr>
              <a:t>MAINTENANCE PLANNER</a:t>
            </a:r>
            <a:endParaRPr lang="en-US" sz="950"/>
          </a:p>
        </p:txBody>
      </p:sp>
      <p:pic>
        <p:nvPicPr>
          <p:cNvPr id="1011790514" name="Image 0" descr="shots/main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685800" y="2542032"/>
            <a:ext cx="5394960" cy="2532888"/>
          </a:xfrm>
          <a:prstGeom prst="rect">
            <a:avLst/>
          </a:prstGeom>
          <a:effectLst>
            <a:outerShdw blurRad="152400" dist="38100" dir="5400000" sx="100000" sy="100000" kx="0" ky="0" algn="bl" rotWithShape="0">
              <a:srgbClr val="8C97AD">
                <a:alpha val="35000"/>
              </a:srgbClr>
            </a:outerShdw>
          </a:effectLst>
        </p:spPr>
      </p:pic>
      <p:sp>
        <p:nvSpPr>
          <p:cNvPr id="1809379278" name="Text 9"/>
          <p:cNvSpPr txBox="1"/>
          <p:nvPr/>
        </p:nvSpPr>
        <p:spPr bwMode="auto">
          <a:xfrm>
            <a:off x="6263640" y="2231136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50" b="1" spc="160">
                <a:solidFill>
                  <a:srgbClr val="1E8E5A"/>
                </a:solidFill>
                <a:latin typeface="Calibri"/>
                <a:ea typeface="Calibri"/>
                <a:cs typeface="Calibri"/>
              </a:rPr>
              <a:t>CREW PRE-POSITIONING PLANNER</a:t>
            </a:r>
            <a:endParaRPr lang="en-US" sz="950"/>
          </a:p>
        </p:txBody>
      </p:sp>
      <p:pic>
        <p:nvPicPr>
          <p:cNvPr id="2018123214" name="Image 1" descr="shots/crew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6263640" y="2542032"/>
            <a:ext cx="5394960" cy="2532888"/>
          </a:xfrm>
          <a:prstGeom prst="rect">
            <a:avLst/>
          </a:prstGeom>
          <a:effectLst>
            <a:outerShdw blurRad="152400" dist="38100" dir="5400000" sx="100000" sy="100000" kx="0" ky="0" algn="bl" rotWithShape="0">
              <a:srgbClr val="8C97AD">
                <a:alpha val="35000"/>
              </a:srgbClr>
            </a:outerShdw>
          </a:effectLst>
        </p:spPr>
      </p:pic>
      <p:sp>
        <p:nvSpPr>
          <p:cNvPr id="1717912037" name="Shape 10"/>
          <p:cNvSpPr/>
          <p:nvPr/>
        </p:nvSpPr>
        <p:spPr bwMode="auto">
          <a:xfrm>
            <a:off x="685800" y="5230368"/>
            <a:ext cx="3520440" cy="841248"/>
          </a:xfrm>
          <a:prstGeom prst="roundRect">
            <a:avLst>
              <a:gd name="adj" fmla="val 6522"/>
            </a:avLst>
          </a:prstGeom>
          <a:solidFill>
            <a:srgbClr val="F4F6FB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56822823" name="Text 11"/>
          <p:cNvSpPr txBox="1"/>
          <p:nvPr/>
        </p:nvSpPr>
        <p:spPr bwMode="auto">
          <a:xfrm>
            <a:off x="905256" y="534009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1F2020"/>
                </a:solidFill>
                <a:latin typeface="Calibri"/>
                <a:ea typeface="Calibri"/>
                <a:cs typeface="Calibri"/>
              </a:rPr>
              <a:t>Ranked by consequence</a:t>
            </a:r>
            <a:endParaRPr lang="en-US" sz="1200"/>
          </a:p>
        </p:txBody>
      </p:sp>
      <p:sp>
        <p:nvSpPr>
          <p:cNvPr id="613968908" name="Text 12"/>
          <p:cNvSpPr txBox="1"/>
          <p:nvPr/>
        </p:nvSpPr>
        <p:spPr bwMode="auto">
          <a:xfrm>
            <a:off x="905256" y="5614416"/>
            <a:ext cx="3108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300"/>
              </a:lnSpc>
              <a:buNone/>
              <a:defRPr/>
            </a:pPr>
            <a:r>
              <a:rPr lang="en-US" sz="1000">
                <a:solidFill>
                  <a:srgbClr val="4B5563"/>
                </a:solidFill>
                <a:latin typeface="Calibri"/>
                <a:ea typeface="Calibri"/>
                <a:cs typeface="Calibri"/>
              </a:rPr>
              <a:t>#1 TR-1042 at risk 98 — within 6h, 8,420 customers, 7 facilities</a:t>
            </a:r>
            <a:endParaRPr lang="en-US" sz="1000"/>
          </a:p>
        </p:txBody>
      </p:sp>
      <p:sp>
        <p:nvSpPr>
          <p:cNvPr id="1295323766" name="Shape 13"/>
          <p:cNvSpPr/>
          <p:nvPr/>
        </p:nvSpPr>
        <p:spPr bwMode="auto">
          <a:xfrm>
            <a:off x="4425696" y="5230368"/>
            <a:ext cx="3520440" cy="841248"/>
          </a:xfrm>
          <a:prstGeom prst="roundRect">
            <a:avLst>
              <a:gd name="adj" fmla="val 6522"/>
            </a:avLst>
          </a:prstGeom>
          <a:solidFill>
            <a:srgbClr val="F4F6FB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766287670" name="Text 14"/>
          <p:cNvSpPr txBox="1"/>
          <p:nvPr/>
        </p:nvSpPr>
        <p:spPr bwMode="auto">
          <a:xfrm>
            <a:off x="4645152" y="534009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1F2020"/>
                </a:solidFill>
                <a:latin typeface="Calibri"/>
                <a:ea typeface="Calibri"/>
                <a:cs typeface="Calibri"/>
              </a:rPr>
              <a:t>Matched, not nearest-only</a:t>
            </a:r>
            <a:endParaRPr lang="en-US" sz="1200"/>
          </a:p>
        </p:txBody>
      </p:sp>
      <p:sp>
        <p:nvSpPr>
          <p:cNvPr id="312442398" name="Text 15"/>
          <p:cNvSpPr txBox="1"/>
          <p:nvPr/>
        </p:nvSpPr>
        <p:spPr bwMode="auto">
          <a:xfrm>
            <a:off x="4645152" y="5614416"/>
            <a:ext cx="3108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300"/>
              </a:lnSpc>
              <a:buNone/>
              <a:defRPr/>
            </a:pPr>
            <a:r>
              <a:rPr lang="en-US" sz="1000">
                <a:solidFill>
                  <a:srgbClr val="4B5563"/>
                </a:solidFill>
                <a:latin typeface="Calibri"/>
                <a:ea typeface="Calibri"/>
                <a:cs typeface="Calibri"/>
              </a:rPr>
              <a:t>Specialty match + haversine distance + ETA, assignable in 2 clicks</a:t>
            </a:r>
            <a:endParaRPr lang="en-US" sz="1000"/>
          </a:p>
        </p:txBody>
      </p:sp>
      <p:sp>
        <p:nvSpPr>
          <p:cNvPr id="785216069" name="Shape 16"/>
          <p:cNvSpPr/>
          <p:nvPr/>
        </p:nvSpPr>
        <p:spPr bwMode="auto">
          <a:xfrm>
            <a:off x="8165592" y="5230368"/>
            <a:ext cx="3520440" cy="841248"/>
          </a:xfrm>
          <a:prstGeom prst="roundRect">
            <a:avLst>
              <a:gd name="adj" fmla="val 6522"/>
            </a:avLst>
          </a:prstGeom>
          <a:solidFill>
            <a:srgbClr val="F4F6FB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2085167006" name="Text 17"/>
          <p:cNvSpPr txBox="1"/>
          <p:nvPr/>
        </p:nvSpPr>
        <p:spPr bwMode="auto">
          <a:xfrm>
            <a:off x="8385048" y="534009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1F2020"/>
                </a:solidFill>
                <a:latin typeface="Calibri"/>
                <a:ea typeface="Calibri"/>
                <a:cs typeface="Calibri"/>
              </a:rPr>
              <a:t>Positioned before impact</a:t>
            </a:r>
            <a:endParaRPr lang="en-US" sz="1200"/>
          </a:p>
        </p:txBody>
      </p:sp>
      <p:sp>
        <p:nvSpPr>
          <p:cNvPr id="1222153111" name="Text 18"/>
          <p:cNvSpPr txBox="1"/>
          <p:nvPr/>
        </p:nvSpPr>
        <p:spPr bwMode="auto">
          <a:xfrm>
            <a:off x="8385048" y="5614416"/>
            <a:ext cx="3108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300"/>
              </a:lnSpc>
              <a:buNone/>
              <a:defRPr/>
            </a:pPr>
            <a:r>
              <a:rPr lang="en-US" sz="1000">
                <a:solidFill>
                  <a:srgbClr val="4B5563"/>
                </a:solidFill>
                <a:latin typeface="Calibri"/>
                <a:ea typeface="Calibri"/>
                <a:cs typeface="Calibri"/>
              </a:rPr>
              <a:t>3 dispatched, 5 pre-positioned, ETA 1–2h across 8 active assignments</a:t>
            </a:r>
            <a:endParaRPr lang="en-US" sz="1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0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8894313" name="Shape 0"/>
          <p:cNvSpPr/>
          <p:nvPr/>
        </p:nvSpPr>
        <p:spPr bwMode="auto">
          <a:xfrm>
            <a:off x="502920" y="310896"/>
            <a:ext cx="274320" cy="274320"/>
          </a:xfrm>
          <a:prstGeom prst="roundRect">
            <a:avLst>
              <a:gd name="adj" fmla="val 23333"/>
            </a:avLst>
          </a:prstGeom>
          <a:solidFill>
            <a:srgbClr val="3A6AD6"/>
          </a:solidFill>
          <a:ln w="12700">
            <a:solidFill>
              <a:srgbClr val="3A6AD6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441675043" name="Text 1"/>
          <p:cNvSpPr txBox="1"/>
          <p:nvPr/>
        </p:nvSpPr>
        <p:spPr bwMode="auto">
          <a:xfrm>
            <a:off x="502920" y="3108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FFFFFF"/>
                </a:solidFill>
              </a:rPr>
              <a:t>⚡</a:t>
            </a:r>
            <a:endParaRPr lang="en-US" sz="1200"/>
          </a:p>
        </p:txBody>
      </p:sp>
      <p:sp>
        <p:nvSpPr>
          <p:cNvPr id="601817015" name="Text 2"/>
          <p:cNvSpPr txBox="1"/>
          <p:nvPr/>
        </p:nvSpPr>
        <p:spPr bwMode="auto">
          <a:xfrm>
            <a:off x="850392" y="30175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1F2020"/>
                </a:solidFill>
                <a:latin typeface="Calibri"/>
                <a:ea typeface="Calibri"/>
                <a:cs typeface="Calibri"/>
              </a:rPr>
              <a:t>Bottleneck AI</a:t>
            </a:r>
            <a:endParaRPr lang="en-US" sz="1200"/>
          </a:p>
        </p:txBody>
      </p:sp>
      <p:sp>
        <p:nvSpPr>
          <p:cNvPr id="945566378" name="Text 3"/>
          <p:cNvSpPr txBox="1"/>
          <p:nvPr/>
        </p:nvSpPr>
        <p:spPr bwMode="auto">
          <a:xfrm>
            <a:off x="8229600" y="30175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  <a:defRPr/>
            </a:pPr>
            <a:r>
              <a:rPr lang="en-US" sz="950" b="1" spc="160">
                <a:solidFill>
                  <a:srgbClr val="3A6AD6"/>
                </a:solidFill>
                <a:latin typeface="Calibri"/>
                <a:ea typeface="Calibri"/>
                <a:cs typeface="Calibri"/>
              </a:rPr>
              <a:t>SCENARIO SIMULATOR</a:t>
            </a:r>
            <a:endParaRPr lang="en-US" sz="950"/>
          </a:p>
        </p:txBody>
      </p:sp>
      <p:sp>
        <p:nvSpPr>
          <p:cNvPr id="1786745291" name="Shape 4"/>
          <p:cNvSpPr/>
          <p:nvPr/>
        </p:nvSpPr>
        <p:spPr bwMode="auto">
          <a:xfrm>
            <a:off x="11356848" y="6236208"/>
            <a:ext cx="384048" cy="310896"/>
          </a:xfrm>
          <a:prstGeom prst="roundRect">
            <a:avLst>
              <a:gd name="adj" fmla="val 23529"/>
            </a:avLst>
          </a:prstGeom>
          <a:solidFill>
            <a:srgbClr val="3A6AD6"/>
          </a:solidFill>
          <a:ln w="12700">
            <a:solidFill>
              <a:srgbClr val="3A6AD6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376993708" name="Text 5"/>
          <p:cNvSpPr txBox="1"/>
          <p:nvPr/>
        </p:nvSpPr>
        <p:spPr bwMode="auto">
          <a:xfrm>
            <a:off x="11356848" y="6236208"/>
            <a:ext cx="384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  <a:endParaRPr lang="en-US" sz="1000"/>
          </a:p>
        </p:txBody>
      </p:sp>
      <p:sp>
        <p:nvSpPr>
          <p:cNvPr id="1329784727" name="Text 6"/>
          <p:cNvSpPr txBox="1"/>
          <p:nvPr/>
        </p:nvSpPr>
        <p:spPr bwMode="auto">
          <a:xfrm>
            <a:off x="685800" y="868680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3400" b="1">
                <a:solidFill>
                  <a:srgbClr val="1F2020"/>
                </a:solidFill>
                <a:latin typeface="Calibri"/>
                <a:ea typeface="Calibri"/>
                <a:cs typeface="Calibri"/>
              </a:rPr>
              <a:t>What-if analysis that repositions crews in under a second</a:t>
            </a:r>
            <a:endParaRPr lang="en-US" sz="3400"/>
          </a:p>
        </p:txBody>
      </p:sp>
      <p:sp>
        <p:nvSpPr>
          <p:cNvPr id="518322782" name="Text 7"/>
          <p:cNvSpPr txBox="1"/>
          <p:nvPr/>
        </p:nvSpPr>
        <p:spPr bwMode="auto">
          <a:xfrm>
            <a:off x="685800" y="1472184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Severe storm, heatwave, and accelerated asset degradation — the full pipeline re-runs live.</a:t>
            </a:r>
            <a:endParaRPr lang="en-US" sz="1400"/>
          </a:p>
        </p:txBody>
      </p:sp>
      <p:pic>
        <p:nvPicPr>
          <p:cNvPr id="1349423662" name="Image 0" descr="shots/scenario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2039112" y="2249424"/>
            <a:ext cx="8110728" cy="2084832"/>
          </a:xfrm>
          <a:prstGeom prst="rect">
            <a:avLst/>
          </a:prstGeom>
          <a:effectLst>
            <a:outerShdw blurRad="177800" dist="38100" dir="5400000" sx="100000" sy="100000" kx="0" ky="0" algn="bl" rotWithShape="0">
              <a:srgbClr val="8C97AD">
                <a:alpha val="35000"/>
              </a:srgbClr>
            </a:outerShdw>
          </a:effectLst>
        </p:spPr>
      </p:pic>
      <p:sp>
        <p:nvSpPr>
          <p:cNvPr id="521866249" name="Shape 8"/>
          <p:cNvSpPr/>
          <p:nvPr/>
        </p:nvSpPr>
        <p:spPr bwMode="auto">
          <a:xfrm>
            <a:off x="685800" y="4626864"/>
            <a:ext cx="5330952" cy="1060704"/>
          </a:xfrm>
          <a:prstGeom prst="roundRect">
            <a:avLst>
              <a:gd name="adj" fmla="val 5172"/>
            </a:avLst>
          </a:prstGeom>
          <a:solidFill>
            <a:srgbClr val="F6F7FA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2056143831" name="Text 9"/>
          <p:cNvSpPr txBox="1"/>
          <p:nvPr/>
        </p:nvSpPr>
        <p:spPr bwMode="auto">
          <a:xfrm>
            <a:off x="941832" y="477316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00" b="1" spc="160">
                <a:solidFill>
                  <a:srgbClr val="9AA3B5"/>
                </a:solidFill>
                <a:latin typeface="Calibri"/>
                <a:ea typeface="Calibri"/>
                <a:cs typeface="Calibri"/>
              </a:rPr>
              <a:t>BEFORE</a:t>
            </a:r>
            <a:endParaRPr lang="en-US" sz="1000"/>
          </a:p>
        </p:txBody>
      </p:sp>
      <p:sp>
        <p:nvSpPr>
          <p:cNvPr id="1712971378" name="Text 10"/>
          <p:cNvSpPr txBox="1"/>
          <p:nvPr/>
        </p:nvSpPr>
        <p:spPr bwMode="auto">
          <a:xfrm>
            <a:off x="941832" y="5065776"/>
            <a:ext cx="4818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  <a:defRPr/>
            </a:pPr>
            <a:r>
              <a:rPr lang="en-US" sz="1200">
                <a:solidFill>
                  <a:srgbClr val="3F4651"/>
                </a:solidFill>
                <a:latin typeface="Calibri"/>
                <a:ea typeface="Calibri"/>
                <a:cs typeface="Calibri"/>
              </a:rPr>
              <a:t>TR-1042 risk 94 · CREW-07 on standby · TR-2108 outside the top 5</a:t>
            </a:r>
            <a:endParaRPr lang="en-US" sz="1200"/>
          </a:p>
        </p:txBody>
      </p:sp>
      <p:sp>
        <p:nvSpPr>
          <p:cNvPr id="1622381200" name="Shape 11"/>
          <p:cNvSpPr/>
          <p:nvPr/>
        </p:nvSpPr>
        <p:spPr bwMode="auto">
          <a:xfrm>
            <a:off x="6309360" y="4626864"/>
            <a:ext cx="5330952" cy="1060704"/>
          </a:xfrm>
          <a:prstGeom prst="roundRect">
            <a:avLst>
              <a:gd name="adj" fmla="val 5172"/>
            </a:avLst>
          </a:prstGeom>
          <a:solidFill>
            <a:srgbClr val="FDF3F0"/>
          </a:solidFill>
          <a:ln w="12700">
            <a:solidFill>
              <a:srgbClr val="F7DED5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834287861" name="Text 12"/>
          <p:cNvSpPr txBox="1"/>
          <p:nvPr/>
        </p:nvSpPr>
        <p:spPr bwMode="auto">
          <a:xfrm>
            <a:off x="6565392" y="477316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00" b="1" spc="160">
                <a:solidFill>
                  <a:srgbClr val="E8511F"/>
                </a:solidFill>
                <a:latin typeface="Calibri"/>
                <a:ea typeface="Calibri"/>
                <a:cs typeface="Calibri"/>
              </a:rPr>
              <a:t>AFTER SEVERE STORM</a:t>
            </a:r>
            <a:endParaRPr lang="en-US" sz="1000"/>
          </a:p>
        </p:txBody>
      </p:sp>
      <p:sp>
        <p:nvSpPr>
          <p:cNvPr id="2136984455" name="Text 13"/>
          <p:cNvSpPr txBox="1"/>
          <p:nvPr/>
        </p:nvSpPr>
        <p:spPr bwMode="auto">
          <a:xfrm>
            <a:off x="6565392" y="5065776"/>
            <a:ext cx="4818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  <a:defRPr/>
            </a:pPr>
            <a:r>
              <a:rPr lang="en-US" sz="1200">
                <a:solidFill>
                  <a:srgbClr val="3F4651"/>
                </a:solidFill>
                <a:latin typeface="Calibri"/>
                <a:ea typeface="Calibri"/>
                <a:cs typeface="Calibri"/>
              </a:rPr>
              <a:t>TR-1042 risk 98 · CREW-07 reassigned to pre-position · TR-2108 enters the top 5</a:t>
            </a:r>
            <a:endParaRPr lang="en-US" sz="1200"/>
          </a:p>
        </p:txBody>
      </p:sp>
      <p:sp>
        <p:nvSpPr>
          <p:cNvPr id="993936379" name="Text 14"/>
          <p:cNvSpPr txBox="1"/>
          <p:nvPr/>
        </p:nvSpPr>
        <p:spPr bwMode="auto">
          <a:xfrm>
            <a:off x="685800" y="5961888"/>
            <a:ext cx="109545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i="1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Full prediction → risk → maintenance → crew pipeline updates in under 1 second.</a:t>
            </a:r>
            <a:endParaRPr lang="en-US" sz="11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1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096665" name="Shape 0"/>
          <p:cNvSpPr/>
          <p:nvPr/>
        </p:nvSpPr>
        <p:spPr bwMode="auto">
          <a:xfrm>
            <a:off x="502920" y="310896"/>
            <a:ext cx="274320" cy="274320"/>
          </a:xfrm>
          <a:prstGeom prst="roundRect">
            <a:avLst>
              <a:gd name="adj" fmla="val 23333"/>
            </a:avLst>
          </a:prstGeom>
          <a:solidFill>
            <a:srgbClr val="3A6AD6"/>
          </a:solidFill>
          <a:ln w="12700">
            <a:solidFill>
              <a:srgbClr val="3A6AD6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562899793" name="Text 1"/>
          <p:cNvSpPr txBox="1"/>
          <p:nvPr/>
        </p:nvSpPr>
        <p:spPr bwMode="auto">
          <a:xfrm>
            <a:off x="502920" y="3108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FFFFFF"/>
                </a:solidFill>
              </a:rPr>
              <a:t>⚡</a:t>
            </a:r>
            <a:endParaRPr lang="en-US" sz="1200"/>
          </a:p>
        </p:txBody>
      </p:sp>
      <p:sp>
        <p:nvSpPr>
          <p:cNvPr id="50976188" name="Text 2"/>
          <p:cNvSpPr txBox="1"/>
          <p:nvPr/>
        </p:nvSpPr>
        <p:spPr bwMode="auto">
          <a:xfrm>
            <a:off x="850392" y="30175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1F2020"/>
                </a:solidFill>
                <a:latin typeface="Calibri"/>
                <a:ea typeface="Calibri"/>
                <a:cs typeface="Calibri"/>
              </a:rPr>
              <a:t>Bottleneck AI</a:t>
            </a:r>
            <a:endParaRPr lang="en-US" sz="1200"/>
          </a:p>
        </p:txBody>
      </p:sp>
      <p:sp>
        <p:nvSpPr>
          <p:cNvPr id="1682819571" name="Text 3"/>
          <p:cNvSpPr txBox="1"/>
          <p:nvPr/>
        </p:nvSpPr>
        <p:spPr bwMode="auto">
          <a:xfrm>
            <a:off x="8229600" y="30175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  <a:defRPr/>
            </a:pPr>
            <a:r>
              <a:rPr lang="en-US" sz="950" b="1" spc="160">
                <a:solidFill>
                  <a:srgbClr val="3A6AD6"/>
                </a:solidFill>
                <a:latin typeface="Calibri"/>
                <a:ea typeface="Calibri"/>
                <a:cs typeface="Calibri"/>
              </a:rPr>
              <a:t>ML INTEGRATION</a:t>
            </a:r>
            <a:endParaRPr lang="en-US" sz="950"/>
          </a:p>
        </p:txBody>
      </p:sp>
      <p:sp>
        <p:nvSpPr>
          <p:cNvPr id="1911713797" name="Shape 4"/>
          <p:cNvSpPr/>
          <p:nvPr/>
        </p:nvSpPr>
        <p:spPr bwMode="auto">
          <a:xfrm>
            <a:off x="11356848" y="6236208"/>
            <a:ext cx="384048" cy="310896"/>
          </a:xfrm>
          <a:prstGeom prst="roundRect">
            <a:avLst>
              <a:gd name="adj" fmla="val 23529"/>
            </a:avLst>
          </a:prstGeom>
          <a:solidFill>
            <a:srgbClr val="3A6AD6"/>
          </a:solidFill>
          <a:ln w="12700">
            <a:solidFill>
              <a:srgbClr val="3A6AD6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865336460" name="Text 5"/>
          <p:cNvSpPr txBox="1"/>
          <p:nvPr/>
        </p:nvSpPr>
        <p:spPr bwMode="auto">
          <a:xfrm>
            <a:off x="11356848" y="6236208"/>
            <a:ext cx="384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  <a:endParaRPr lang="en-US" sz="1000"/>
          </a:p>
        </p:txBody>
      </p:sp>
      <p:sp>
        <p:nvSpPr>
          <p:cNvPr id="1875849456" name="Text 6"/>
          <p:cNvSpPr txBox="1"/>
          <p:nvPr/>
        </p:nvSpPr>
        <p:spPr bwMode="auto">
          <a:xfrm>
            <a:off x="685800" y="868680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3400" b="1">
                <a:solidFill>
                  <a:srgbClr val="1F2020"/>
                </a:solidFill>
                <a:latin typeface="Calibri"/>
                <a:ea typeface="Calibri"/>
                <a:cs typeface="Calibri"/>
              </a:rPr>
              <a:t>The ML Pipeline: real models or mock, same contract</a:t>
            </a:r>
            <a:endParaRPr lang="en-US" sz="3400"/>
          </a:p>
        </p:txBody>
      </p:sp>
      <p:sp>
        <p:nvSpPr>
          <p:cNvPr id="1087007987" name="Text 7"/>
          <p:cNvSpPr txBox="1"/>
          <p:nvPr/>
        </p:nvSpPr>
        <p:spPr bwMode="auto">
          <a:xfrm>
            <a:off x="685800" y="1472184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Swap the predictor behind a single environment flag — nothing downstream notices.</a:t>
            </a:r>
            <a:endParaRPr lang="en-US" sz="1400"/>
          </a:p>
        </p:txBody>
      </p:sp>
      <p:sp>
        <p:nvSpPr>
          <p:cNvPr id="524786446" name="Shape 8"/>
          <p:cNvSpPr/>
          <p:nvPr/>
        </p:nvSpPr>
        <p:spPr bwMode="auto">
          <a:xfrm>
            <a:off x="685800" y="2286000"/>
            <a:ext cx="3703320" cy="1371600"/>
          </a:xfrm>
          <a:prstGeom prst="roundRect">
            <a:avLst>
              <a:gd name="adj" fmla="val 4000"/>
            </a:avLst>
          </a:prstGeom>
          <a:solidFill>
            <a:srgbClr val="EEF7F2"/>
          </a:solidFill>
          <a:ln w="12700">
            <a:solidFill>
              <a:srgbClr val="CFE7DB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885916466" name="Text 9"/>
          <p:cNvSpPr txBox="1"/>
          <p:nvPr/>
        </p:nvSpPr>
        <p:spPr bwMode="auto">
          <a:xfrm>
            <a:off x="923544" y="2468880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50" b="1">
                <a:solidFill>
                  <a:srgbClr val="1E8E5A"/>
                </a:solidFill>
                <a:latin typeface="Courier New"/>
                <a:ea typeface="Courier New"/>
                <a:cs typeface="Courier New"/>
              </a:rPr>
              <a:t>GRIDSHIELD_USE_REAL_ML=1</a:t>
            </a:r>
            <a:endParaRPr lang="en-US" sz="1150"/>
          </a:p>
        </p:txBody>
      </p:sp>
      <p:sp>
        <p:nvSpPr>
          <p:cNvPr id="1513057454" name="Text 10"/>
          <p:cNvSpPr txBox="1"/>
          <p:nvPr/>
        </p:nvSpPr>
        <p:spPr bwMode="auto">
          <a:xfrm>
            <a:off x="923544" y="2871216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150">
                <a:solidFill>
                  <a:srgbClr val="3F4651"/>
                </a:solidFill>
                <a:latin typeface="Calibri"/>
                <a:ea typeface="Calibri"/>
                <a:cs typeface="Calibri"/>
              </a:rPr>
              <a:t>Real XGBoost models load from models/bottleneck/</a:t>
            </a:r>
            <a:endParaRPr lang="en-US" sz="1150"/>
          </a:p>
        </p:txBody>
      </p:sp>
      <p:sp>
        <p:nvSpPr>
          <p:cNvPr id="986853381" name="Shape 11"/>
          <p:cNvSpPr/>
          <p:nvPr/>
        </p:nvSpPr>
        <p:spPr bwMode="auto">
          <a:xfrm>
            <a:off x="4617720" y="2286000"/>
            <a:ext cx="3703320" cy="1371600"/>
          </a:xfrm>
          <a:prstGeom prst="roundRect">
            <a:avLst>
              <a:gd name="adj" fmla="val 4000"/>
            </a:avLst>
          </a:prstGeom>
          <a:solidFill>
            <a:srgbClr val="FDF3F0"/>
          </a:solidFill>
          <a:ln w="12700">
            <a:solidFill>
              <a:srgbClr val="F7DED5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623797448" name="Text 12"/>
          <p:cNvSpPr txBox="1"/>
          <p:nvPr/>
        </p:nvSpPr>
        <p:spPr bwMode="auto">
          <a:xfrm>
            <a:off x="4855464" y="2468880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50" b="1">
                <a:solidFill>
                  <a:srgbClr val="E8511F"/>
                </a:solidFill>
                <a:latin typeface="Courier New"/>
                <a:ea typeface="Courier New"/>
                <a:cs typeface="Courier New"/>
              </a:rPr>
              <a:t>Models missing or flag off</a:t>
            </a:r>
            <a:endParaRPr lang="en-US" sz="1150"/>
          </a:p>
        </p:txBody>
      </p:sp>
      <p:sp>
        <p:nvSpPr>
          <p:cNvPr id="1159384375" name="Text 13"/>
          <p:cNvSpPr txBox="1"/>
          <p:nvPr/>
        </p:nvSpPr>
        <p:spPr bwMode="auto">
          <a:xfrm>
            <a:off x="4855464" y="2871216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150">
                <a:solidFill>
                  <a:srgbClr val="3F4651"/>
                </a:solidFill>
                <a:latin typeface="Calibri"/>
                <a:ea typeface="Calibri"/>
                <a:cs typeface="Calibri"/>
              </a:rPr>
              <a:t>Deterministic mock predictor keeps the demo reproducible</a:t>
            </a:r>
            <a:endParaRPr lang="en-US" sz="1150"/>
          </a:p>
        </p:txBody>
      </p:sp>
      <p:sp>
        <p:nvSpPr>
          <p:cNvPr id="870048596" name="Text 14"/>
          <p:cNvSpPr txBox="1"/>
          <p:nvPr/>
        </p:nvSpPr>
        <p:spPr bwMode="auto">
          <a:xfrm>
            <a:off x="8339328" y="27889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2000" b="1">
                <a:solidFill>
                  <a:srgbClr val="B6C2DC"/>
                </a:solidFill>
                <a:latin typeface="Calibri"/>
                <a:ea typeface="Calibri"/>
                <a:cs typeface="Calibri"/>
              </a:rPr>
              <a:t>→</a:t>
            </a:r>
            <a:endParaRPr lang="en-US" sz="2000"/>
          </a:p>
        </p:txBody>
      </p:sp>
      <p:sp>
        <p:nvSpPr>
          <p:cNvPr id="42456587" name="Shape 15"/>
          <p:cNvSpPr/>
          <p:nvPr/>
        </p:nvSpPr>
        <p:spPr bwMode="auto">
          <a:xfrm>
            <a:off x="8796528" y="2286000"/>
            <a:ext cx="2843784" cy="1371600"/>
          </a:xfrm>
          <a:prstGeom prst="roundRect">
            <a:avLst>
              <a:gd name="adj" fmla="val 4000"/>
            </a:avLst>
          </a:prstGeom>
          <a:solidFill>
            <a:srgbClr val="0F1B3D"/>
          </a:solidFill>
          <a:ln w="12700">
            <a:solidFill>
              <a:srgbClr val="0F1B3D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932556347" name="Text 16"/>
          <p:cNvSpPr txBox="1"/>
          <p:nvPr/>
        </p:nvSpPr>
        <p:spPr bwMode="auto">
          <a:xfrm>
            <a:off x="8979408" y="2542032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FailurePrediction</a:t>
            </a:r>
            <a:endParaRPr lang="en-US" sz="1300"/>
          </a:p>
        </p:txBody>
      </p:sp>
      <p:sp>
        <p:nvSpPr>
          <p:cNvPr id="1775455634" name="Text 17"/>
          <p:cNvSpPr txBox="1"/>
          <p:nvPr/>
        </p:nvSpPr>
        <p:spPr bwMode="auto">
          <a:xfrm>
            <a:off x="8979408" y="2889504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  <a:defRPr/>
            </a:pPr>
            <a:r>
              <a:rPr lang="en-US" sz="1050">
                <a:solidFill>
                  <a:srgbClr val="C6D2EE"/>
                </a:solidFill>
                <a:latin typeface="Calibri"/>
                <a:ea typeface="Calibri"/>
                <a:cs typeface="Calibri"/>
              </a:rPr>
              <a:t>One stable contract — zero UI, risk-engine, or planner changes</a:t>
            </a:r>
            <a:endParaRPr lang="en-US" sz="1050"/>
          </a:p>
        </p:txBody>
      </p:sp>
      <p:sp>
        <p:nvSpPr>
          <p:cNvPr id="719983758" name="Text 18"/>
          <p:cNvSpPr txBox="1"/>
          <p:nvPr/>
        </p:nvSpPr>
        <p:spPr bwMode="auto">
          <a:xfrm>
            <a:off x="685800" y="391363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50" b="1" spc="160">
                <a:solidFill>
                  <a:srgbClr val="3A6AD6"/>
                </a:solidFill>
                <a:latin typeface="Calibri"/>
                <a:ea typeface="Calibri"/>
                <a:cs typeface="Calibri"/>
              </a:rPr>
              <a:t>RETRAINING PIPELINE</a:t>
            </a:r>
            <a:endParaRPr lang="en-US" sz="950"/>
          </a:p>
        </p:txBody>
      </p:sp>
      <p:sp>
        <p:nvSpPr>
          <p:cNvPr id="326631662" name="Shape 19"/>
          <p:cNvSpPr/>
          <p:nvPr/>
        </p:nvSpPr>
        <p:spPr bwMode="auto">
          <a:xfrm>
            <a:off x="685800" y="4261104"/>
            <a:ext cx="4617720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DDE3F2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680905040" name="Text 20"/>
          <p:cNvSpPr txBox="1"/>
          <p:nvPr/>
        </p:nvSpPr>
        <p:spPr bwMode="auto">
          <a:xfrm>
            <a:off x="905256" y="4261104"/>
            <a:ext cx="365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C9D3E8"/>
                </a:solidFill>
                <a:latin typeface="Calibri"/>
                <a:ea typeface="Calibri"/>
                <a:cs typeface="Calibri"/>
              </a:rPr>
              <a:t>1</a:t>
            </a:r>
            <a:endParaRPr lang="en-US" sz="1600"/>
          </a:p>
        </p:txBody>
      </p:sp>
      <p:sp>
        <p:nvSpPr>
          <p:cNvPr id="1759711127" name="Text 21"/>
          <p:cNvSpPr txBox="1"/>
          <p:nvPr/>
        </p:nvSpPr>
        <p:spPr bwMode="auto">
          <a:xfrm>
            <a:off x="1289304" y="4261104"/>
            <a:ext cx="3749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1F2020"/>
                </a:solidFill>
                <a:latin typeface="Courier New"/>
                <a:ea typeface="Courier New"/>
                <a:cs typeface="Courier New"/>
              </a:rPr>
              <a:t>generate_training_data</a:t>
            </a:r>
            <a:endParaRPr lang="en-US" sz="1200"/>
          </a:p>
        </p:txBody>
      </p:sp>
      <p:sp>
        <p:nvSpPr>
          <p:cNvPr id="1201266987" name="Text 22"/>
          <p:cNvSpPr txBox="1"/>
          <p:nvPr/>
        </p:nvSpPr>
        <p:spPr bwMode="auto">
          <a:xfrm>
            <a:off x="960120" y="484632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100" b="1">
                <a:solidFill>
                  <a:srgbClr val="B6C2DC"/>
                </a:solidFill>
                <a:latin typeface="Calibri"/>
                <a:ea typeface="Calibri"/>
                <a:cs typeface="Calibri"/>
              </a:rPr>
              <a:t>↓</a:t>
            </a:r>
            <a:endParaRPr lang="en-US" sz="1100"/>
          </a:p>
        </p:txBody>
      </p:sp>
      <p:sp>
        <p:nvSpPr>
          <p:cNvPr id="1388757536" name="Shape 23"/>
          <p:cNvSpPr/>
          <p:nvPr/>
        </p:nvSpPr>
        <p:spPr bwMode="auto">
          <a:xfrm>
            <a:off x="685800" y="4974336"/>
            <a:ext cx="4617720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DDE3F2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034033974" name="Text 24"/>
          <p:cNvSpPr txBox="1"/>
          <p:nvPr/>
        </p:nvSpPr>
        <p:spPr bwMode="auto">
          <a:xfrm>
            <a:off x="905256" y="4974336"/>
            <a:ext cx="365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C9D3E8"/>
                </a:solidFill>
                <a:latin typeface="Calibri"/>
                <a:ea typeface="Calibri"/>
                <a:cs typeface="Calibri"/>
              </a:rPr>
              <a:t>2</a:t>
            </a:r>
            <a:endParaRPr lang="en-US" sz="1600"/>
          </a:p>
        </p:txBody>
      </p:sp>
      <p:sp>
        <p:nvSpPr>
          <p:cNvPr id="303818446" name="Text 25"/>
          <p:cNvSpPr txBox="1"/>
          <p:nvPr/>
        </p:nvSpPr>
        <p:spPr bwMode="auto">
          <a:xfrm>
            <a:off x="1289304" y="4974336"/>
            <a:ext cx="3749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1F2020"/>
                </a:solidFill>
                <a:latin typeface="Courier New"/>
                <a:ea typeface="Courier New"/>
                <a:cs typeface="Courier New"/>
              </a:rPr>
              <a:t>train_models</a:t>
            </a:r>
            <a:endParaRPr lang="en-US" sz="1200"/>
          </a:p>
        </p:txBody>
      </p:sp>
      <p:sp>
        <p:nvSpPr>
          <p:cNvPr id="455502248" name="Text 26"/>
          <p:cNvSpPr txBox="1"/>
          <p:nvPr/>
        </p:nvSpPr>
        <p:spPr bwMode="auto">
          <a:xfrm>
            <a:off x="960120" y="5559552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100" b="1">
                <a:solidFill>
                  <a:srgbClr val="B6C2DC"/>
                </a:solidFill>
                <a:latin typeface="Calibri"/>
                <a:ea typeface="Calibri"/>
                <a:cs typeface="Calibri"/>
              </a:rPr>
              <a:t>↓</a:t>
            </a:r>
            <a:endParaRPr lang="en-US" sz="1100"/>
          </a:p>
        </p:txBody>
      </p:sp>
      <p:sp>
        <p:nvSpPr>
          <p:cNvPr id="452626272" name="Shape 27"/>
          <p:cNvSpPr/>
          <p:nvPr/>
        </p:nvSpPr>
        <p:spPr bwMode="auto">
          <a:xfrm>
            <a:off x="685800" y="5687568"/>
            <a:ext cx="4617720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DDE3F2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584858450" name="Text 28"/>
          <p:cNvSpPr txBox="1"/>
          <p:nvPr/>
        </p:nvSpPr>
        <p:spPr bwMode="auto">
          <a:xfrm>
            <a:off x="905256" y="5687568"/>
            <a:ext cx="365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C9D3E8"/>
                </a:solidFill>
                <a:latin typeface="Calibri"/>
                <a:ea typeface="Calibri"/>
                <a:cs typeface="Calibri"/>
              </a:rPr>
              <a:t>3</a:t>
            </a:r>
            <a:endParaRPr lang="en-US" sz="1600"/>
          </a:p>
        </p:txBody>
      </p:sp>
      <p:sp>
        <p:nvSpPr>
          <p:cNvPr id="139524952" name="Text 29"/>
          <p:cNvSpPr txBox="1"/>
          <p:nvPr/>
        </p:nvSpPr>
        <p:spPr bwMode="auto">
          <a:xfrm>
            <a:off x="1289304" y="5687568"/>
            <a:ext cx="3749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1F2020"/>
                </a:solidFill>
                <a:latin typeface="Courier New"/>
                <a:ea typeface="Courier New"/>
                <a:cs typeface="Courier New"/>
              </a:rPr>
              <a:t>evaluate</a:t>
            </a:r>
            <a:endParaRPr lang="en-US" sz="1200"/>
          </a:p>
        </p:txBody>
      </p:sp>
      <p:sp>
        <p:nvSpPr>
          <p:cNvPr id="640923962" name="Text 30"/>
          <p:cNvSpPr txBox="1"/>
          <p:nvPr/>
        </p:nvSpPr>
        <p:spPr bwMode="auto">
          <a:xfrm>
            <a:off x="5669280" y="3913632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50" b="1" spc="160">
                <a:solidFill>
                  <a:srgbClr val="3A6AD6"/>
                </a:solidFill>
                <a:latin typeface="Calibri"/>
                <a:ea typeface="Calibri"/>
                <a:cs typeface="Calibri"/>
              </a:rPr>
              <a:t>SETTINGS &amp; CONFIGURATION · 30-ASSET FLEET</a:t>
            </a:r>
            <a:endParaRPr lang="en-US" sz="950"/>
          </a:p>
        </p:txBody>
      </p:sp>
      <p:pic>
        <p:nvPicPr>
          <p:cNvPr id="1919098334" name="Image 0" descr="shots/settings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669280" y="4261104"/>
            <a:ext cx="5852160" cy="1883664"/>
          </a:xfrm>
          <a:prstGeom prst="rect">
            <a:avLst/>
          </a:prstGeom>
          <a:effectLst>
            <a:outerShdw blurRad="152400" dist="38100" dir="5400000" sx="100000" sy="100000" kx="0" ky="0" algn="bl" rotWithShape="0">
              <a:srgbClr val="8C97AD">
                <a:alpha val="35000"/>
              </a:srgbClr>
            </a:outerShdw>
          </a:effectLst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2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7919188" name="Shape 0"/>
          <p:cNvSpPr/>
          <p:nvPr/>
        </p:nvSpPr>
        <p:spPr bwMode="auto">
          <a:xfrm>
            <a:off x="502920" y="310896"/>
            <a:ext cx="274320" cy="274320"/>
          </a:xfrm>
          <a:prstGeom prst="roundRect">
            <a:avLst>
              <a:gd name="adj" fmla="val 23333"/>
            </a:avLst>
          </a:prstGeom>
          <a:solidFill>
            <a:srgbClr val="3A6AD6"/>
          </a:solidFill>
          <a:ln w="12700">
            <a:solidFill>
              <a:srgbClr val="3A6AD6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98921905" name="Text 1"/>
          <p:cNvSpPr txBox="1"/>
          <p:nvPr/>
        </p:nvSpPr>
        <p:spPr bwMode="auto">
          <a:xfrm>
            <a:off x="502920" y="3108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FFFFFF"/>
                </a:solidFill>
              </a:rPr>
              <a:t>⚡</a:t>
            </a:r>
            <a:endParaRPr lang="en-US" sz="1200"/>
          </a:p>
        </p:txBody>
      </p:sp>
      <p:sp>
        <p:nvSpPr>
          <p:cNvPr id="485000150" name="Text 2"/>
          <p:cNvSpPr txBox="1"/>
          <p:nvPr/>
        </p:nvSpPr>
        <p:spPr bwMode="auto">
          <a:xfrm>
            <a:off x="850392" y="30175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1F2020"/>
                </a:solidFill>
                <a:latin typeface="Calibri"/>
                <a:ea typeface="Calibri"/>
                <a:cs typeface="Calibri"/>
              </a:rPr>
              <a:t>Bottleneck AI</a:t>
            </a:r>
            <a:endParaRPr lang="en-US" sz="1200"/>
          </a:p>
        </p:txBody>
      </p:sp>
      <p:sp>
        <p:nvSpPr>
          <p:cNvPr id="75388254" name="Text 3"/>
          <p:cNvSpPr txBox="1"/>
          <p:nvPr/>
        </p:nvSpPr>
        <p:spPr bwMode="auto">
          <a:xfrm>
            <a:off x="8229600" y="30175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  <a:defRPr/>
            </a:pPr>
            <a:r>
              <a:rPr lang="en-US" sz="950" b="1" spc="160">
                <a:solidFill>
                  <a:srgbClr val="3A6AD6"/>
                </a:solidFill>
                <a:latin typeface="Calibri"/>
                <a:ea typeface="Calibri"/>
                <a:cs typeface="Calibri"/>
              </a:rPr>
              <a:t>AI COPILOT</a:t>
            </a:r>
            <a:endParaRPr lang="en-US" sz="950"/>
          </a:p>
        </p:txBody>
      </p:sp>
      <p:sp>
        <p:nvSpPr>
          <p:cNvPr id="1585962708" name="Shape 4"/>
          <p:cNvSpPr/>
          <p:nvPr/>
        </p:nvSpPr>
        <p:spPr bwMode="auto">
          <a:xfrm>
            <a:off x="11356848" y="6236208"/>
            <a:ext cx="384048" cy="310896"/>
          </a:xfrm>
          <a:prstGeom prst="roundRect">
            <a:avLst>
              <a:gd name="adj" fmla="val 23529"/>
            </a:avLst>
          </a:prstGeom>
          <a:solidFill>
            <a:srgbClr val="3A6AD6"/>
          </a:solidFill>
          <a:ln w="12700">
            <a:solidFill>
              <a:srgbClr val="3A6AD6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314303822" name="Text 5"/>
          <p:cNvSpPr txBox="1"/>
          <p:nvPr/>
        </p:nvSpPr>
        <p:spPr bwMode="auto">
          <a:xfrm>
            <a:off x="11356848" y="6236208"/>
            <a:ext cx="384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  <a:endParaRPr lang="en-US" sz="1000"/>
          </a:p>
        </p:txBody>
      </p:sp>
      <p:sp>
        <p:nvSpPr>
          <p:cNvPr id="1404585742" name="Text 6"/>
          <p:cNvSpPr txBox="1"/>
          <p:nvPr/>
        </p:nvSpPr>
        <p:spPr bwMode="auto">
          <a:xfrm>
            <a:off x="685800" y="868680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3400" b="1">
                <a:solidFill>
                  <a:srgbClr val="1F2020"/>
                </a:solidFill>
                <a:latin typeface="Calibri"/>
                <a:ea typeface="Calibri"/>
                <a:cs typeface="Calibri"/>
              </a:rPr>
              <a:t>Every answer grounded in live backend telemetry</a:t>
            </a:r>
            <a:endParaRPr lang="en-US" sz="3400"/>
          </a:p>
        </p:txBody>
      </p:sp>
      <p:sp>
        <p:nvSpPr>
          <p:cNvPr id="1373784191" name="Text 7"/>
          <p:cNvSpPr txBox="1"/>
          <p:nvPr/>
        </p:nvSpPr>
        <p:spPr bwMode="auto">
          <a:xfrm>
            <a:off x="685800" y="1472184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The copilot never invents a sensor value — it cites the data the risk engine actually used.</a:t>
            </a:r>
            <a:endParaRPr lang="en-US" sz="1400"/>
          </a:p>
        </p:txBody>
      </p:sp>
      <p:pic>
        <p:nvPicPr>
          <p:cNvPr id="92507428" name="Image 0" descr="shots/copilo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685800" y="2212848"/>
            <a:ext cx="6858000" cy="2990088"/>
          </a:xfrm>
          <a:prstGeom prst="rect">
            <a:avLst/>
          </a:prstGeom>
          <a:effectLst>
            <a:outerShdw blurRad="177800" dist="38100" dir="5400000" sx="100000" sy="100000" kx="0" ky="0" algn="bl" rotWithShape="0">
              <a:srgbClr val="8C97AD">
                <a:alpha val="35000"/>
              </a:srgbClr>
            </a:outerShdw>
          </a:effectLst>
        </p:spPr>
      </p:pic>
      <p:sp>
        <p:nvSpPr>
          <p:cNvPr id="1311400432" name="Shape 8"/>
          <p:cNvSpPr/>
          <p:nvPr/>
        </p:nvSpPr>
        <p:spPr bwMode="auto">
          <a:xfrm>
            <a:off x="7772400" y="2212848"/>
            <a:ext cx="3867911" cy="2990088"/>
          </a:xfrm>
          <a:prstGeom prst="roundRect">
            <a:avLst>
              <a:gd name="adj" fmla="val 1835"/>
            </a:avLst>
          </a:prstGeom>
          <a:solidFill>
            <a:srgbClr val="F4F6FB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980102013" name="Text 9"/>
          <p:cNvSpPr txBox="1"/>
          <p:nvPr/>
        </p:nvSpPr>
        <p:spPr bwMode="auto">
          <a:xfrm>
            <a:off x="8010144" y="239572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3A6AD6"/>
                </a:solidFill>
                <a:latin typeface="Calibri"/>
                <a:ea typeface="Calibri"/>
                <a:cs typeface="Calibri"/>
              </a:rPr>
              <a:t>“Why is TR-1042 critical?”</a:t>
            </a:r>
            <a:endParaRPr lang="en-US" sz="1400"/>
          </a:p>
        </p:txBody>
      </p:sp>
      <p:sp>
        <p:nvSpPr>
          <p:cNvPr id="11092558" name="Text 10"/>
          <p:cNvSpPr txBox="1"/>
          <p:nvPr/>
        </p:nvSpPr>
        <p:spPr bwMode="auto">
          <a:xfrm>
            <a:off x="8010144" y="2834640"/>
            <a:ext cx="33832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▪"/>
              <a:defRPr/>
            </a:pPr>
            <a:r>
              <a:rPr lang="en-US" sz="1150">
                <a:solidFill>
                  <a:srgbClr val="3F4651"/>
                </a:solidFill>
                <a:latin typeface="Calibri"/>
                <a:ea typeface="Calibri"/>
                <a:cs typeface="Calibri"/>
              </a:rPr>
              <a:t>Anomalous temperature sustained over the last 24h</a:t>
            </a:r>
            <a:endParaRPr lang="en-US" sz="115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▪"/>
              <a:defRPr/>
            </a:pPr>
            <a:r>
              <a:rPr lang="en-US" sz="1150">
                <a:solidFill>
                  <a:srgbClr val="3F4651"/>
                </a:solidFill>
                <a:latin typeface="Calibri"/>
                <a:ea typeface="Calibri"/>
                <a:cs typeface="Calibri"/>
              </a:rPr>
              <a:t>Severe weather exposure across the North region</a:t>
            </a:r>
            <a:endParaRPr lang="en-US" sz="115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▪"/>
              <a:defRPr/>
            </a:pPr>
            <a:r>
              <a:rPr lang="en-US" sz="1150">
                <a:solidFill>
                  <a:srgbClr val="3F4651"/>
                </a:solidFill>
                <a:latin typeface="Calibri"/>
                <a:ea typeface="Calibri"/>
                <a:cs typeface="Calibri"/>
              </a:rPr>
              <a:t>8,420 customers and 7 critical facilities downstream</a:t>
            </a:r>
            <a:endParaRPr lang="en-US" sz="115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▪"/>
              <a:defRPr/>
            </a:pPr>
            <a:r>
              <a:rPr lang="en-US" sz="1150">
                <a:solidFill>
                  <a:srgbClr val="3F4651"/>
                </a:solidFill>
                <a:latin typeface="Calibri"/>
                <a:ea typeface="Calibri"/>
                <a:cs typeface="Calibri"/>
              </a:rPr>
              <a:t>Health score 18/100 on a 17-year-old asset</a:t>
            </a:r>
            <a:endParaRPr lang="en-US" sz="115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▪"/>
              <a:defRPr/>
            </a:pPr>
            <a:r>
              <a:rPr lang="en-US" sz="1150">
                <a:solidFill>
                  <a:srgbClr val="3F4651"/>
                </a:solidFill>
                <a:latin typeface="Calibri"/>
                <a:ea typeface="Calibri"/>
                <a:cs typeface="Calibri"/>
              </a:rPr>
              <a:t>Nearest matched crew: Alpha Transformer Team, 2.5 km</a:t>
            </a:r>
            <a:endParaRPr lang="en-US" sz="1150"/>
          </a:p>
        </p:txBody>
      </p:sp>
      <p:sp>
        <p:nvSpPr>
          <p:cNvPr id="1297910281" name="Shape 11"/>
          <p:cNvSpPr/>
          <p:nvPr/>
        </p:nvSpPr>
        <p:spPr bwMode="auto">
          <a:xfrm>
            <a:off x="685800" y="5440680"/>
            <a:ext cx="10954511" cy="566928"/>
          </a:xfrm>
          <a:prstGeom prst="roundRect">
            <a:avLst>
              <a:gd name="adj" fmla="val 9677"/>
            </a:avLst>
          </a:prstGeom>
          <a:solidFill>
            <a:srgbClr val="EEF7F2"/>
          </a:solidFill>
          <a:ln w="12700">
            <a:solidFill>
              <a:srgbClr val="CFE7DB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590705502" name="Text 12"/>
          <p:cNvSpPr txBox="1"/>
          <p:nvPr/>
        </p:nvSpPr>
        <p:spPr bwMode="auto">
          <a:xfrm>
            <a:off x="914400" y="5440680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146848"/>
                </a:solidFill>
                <a:latin typeface="Calibri"/>
                <a:ea typeface="Calibri"/>
                <a:cs typeface="Calibri"/>
              </a:rPr>
              <a:t>No hallucination by construction: the copilot answers only from backend records — risk breakdowns, telemetry, incidents, and crew state.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3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1740027" name="Shape 0"/>
          <p:cNvSpPr/>
          <p:nvPr/>
        </p:nvSpPr>
        <p:spPr bwMode="auto">
          <a:xfrm>
            <a:off x="502920" y="310896"/>
            <a:ext cx="274320" cy="274320"/>
          </a:xfrm>
          <a:prstGeom prst="roundRect">
            <a:avLst>
              <a:gd name="adj" fmla="val 23333"/>
            </a:avLst>
          </a:prstGeom>
          <a:solidFill>
            <a:srgbClr val="3A6AD6"/>
          </a:solidFill>
          <a:ln w="12700">
            <a:solidFill>
              <a:srgbClr val="3A6AD6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408438935" name="Text 1"/>
          <p:cNvSpPr txBox="1"/>
          <p:nvPr/>
        </p:nvSpPr>
        <p:spPr bwMode="auto">
          <a:xfrm>
            <a:off x="502920" y="3108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FFFFFF"/>
                </a:solidFill>
              </a:rPr>
              <a:t>⚡</a:t>
            </a:r>
            <a:endParaRPr lang="en-US" sz="1200"/>
          </a:p>
        </p:txBody>
      </p:sp>
      <p:sp>
        <p:nvSpPr>
          <p:cNvPr id="2091128413" name="Text 2"/>
          <p:cNvSpPr txBox="1"/>
          <p:nvPr/>
        </p:nvSpPr>
        <p:spPr bwMode="auto">
          <a:xfrm>
            <a:off x="850392" y="30175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1F2020"/>
                </a:solidFill>
                <a:latin typeface="Calibri"/>
                <a:ea typeface="Calibri"/>
                <a:cs typeface="Calibri"/>
              </a:rPr>
              <a:t>Bottleneck AI</a:t>
            </a:r>
            <a:endParaRPr lang="en-US" sz="1200"/>
          </a:p>
        </p:txBody>
      </p:sp>
      <p:sp>
        <p:nvSpPr>
          <p:cNvPr id="1962850186" name="Text 3"/>
          <p:cNvSpPr txBox="1"/>
          <p:nvPr/>
        </p:nvSpPr>
        <p:spPr bwMode="auto">
          <a:xfrm>
            <a:off x="8229600" y="30175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  <a:defRPr/>
            </a:pPr>
            <a:r>
              <a:rPr lang="en-US" sz="950" b="1" spc="160">
                <a:solidFill>
                  <a:srgbClr val="3A6AD6"/>
                </a:solidFill>
                <a:latin typeface="Calibri"/>
                <a:ea typeface="Calibri"/>
                <a:cs typeface="Calibri"/>
              </a:rPr>
              <a:t>HARDWARE INTEGRATION</a:t>
            </a:r>
            <a:endParaRPr lang="en-US" sz="950"/>
          </a:p>
        </p:txBody>
      </p:sp>
      <p:sp>
        <p:nvSpPr>
          <p:cNvPr id="1311265815" name="Shape 4"/>
          <p:cNvSpPr/>
          <p:nvPr/>
        </p:nvSpPr>
        <p:spPr bwMode="auto">
          <a:xfrm>
            <a:off x="11356848" y="6236208"/>
            <a:ext cx="384048" cy="310896"/>
          </a:xfrm>
          <a:prstGeom prst="roundRect">
            <a:avLst>
              <a:gd name="adj" fmla="val 23529"/>
            </a:avLst>
          </a:prstGeom>
          <a:solidFill>
            <a:srgbClr val="3A6AD6"/>
          </a:solidFill>
          <a:ln w="12700">
            <a:solidFill>
              <a:srgbClr val="3A6AD6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973834948" name="Text 5"/>
          <p:cNvSpPr txBox="1"/>
          <p:nvPr/>
        </p:nvSpPr>
        <p:spPr bwMode="auto">
          <a:xfrm>
            <a:off x="11356848" y="6236208"/>
            <a:ext cx="384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  <a:endParaRPr lang="en-US" sz="1000"/>
          </a:p>
        </p:txBody>
      </p:sp>
      <p:sp>
        <p:nvSpPr>
          <p:cNvPr id="540594355" name="Text 6"/>
          <p:cNvSpPr txBox="1"/>
          <p:nvPr/>
        </p:nvSpPr>
        <p:spPr bwMode="auto">
          <a:xfrm flipH="0" flipV="0">
            <a:off x="685800" y="868679"/>
            <a:ext cx="10726750" cy="4725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3000" b="1">
                <a:solidFill>
                  <a:srgbClr val="1F2020"/>
                </a:solidFill>
                <a:latin typeface="Calibri"/>
                <a:ea typeface="Calibri"/>
                <a:cs typeface="Calibri"/>
              </a:rPr>
              <a:t>Future Enhancement : Ready for the substation, not just the laptop</a:t>
            </a:r>
            <a:endParaRPr sz="3000"/>
          </a:p>
        </p:txBody>
      </p:sp>
      <p:sp>
        <p:nvSpPr>
          <p:cNvPr id="362727751" name="Text 7"/>
          <p:cNvSpPr txBox="1"/>
          <p:nvPr/>
        </p:nvSpPr>
        <p:spPr bwMode="auto">
          <a:xfrm>
            <a:off x="685800" y="1472184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Protocol documentation and register maps ship with test and sync endpoints for each standard.</a:t>
            </a:r>
            <a:endParaRPr lang="en-US" sz="1400"/>
          </a:p>
        </p:txBody>
      </p:sp>
      <p:sp>
        <p:nvSpPr>
          <p:cNvPr id="1662988505" name="Shape 8"/>
          <p:cNvSpPr/>
          <p:nvPr/>
        </p:nvSpPr>
        <p:spPr bwMode="auto">
          <a:xfrm>
            <a:off x="685800" y="2286000"/>
            <a:ext cx="2048256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F2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855972143" name="Shape 9"/>
          <p:cNvSpPr/>
          <p:nvPr/>
        </p:nvSpPr>
        <p:spPr bwMode="auto">
          <a:xfrm>
            <a:off x="1472184" y="2468880"/>
            <a:ext cx="475488" cy="475488"/>
          </a:xfrm>
          <a:prstGeom prst="ellipse">
            <a:avLst/>
          </a:prstGeom>
          <a:solidFill>
            <a:srgbClr val="EAF0FE"/>
          </a:solidFill>
          <a:ln w="12700">
            <a:solidFill>
              <a:srgbClr val="D5E0FB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258647994" name="Text 10"/>
          <p:cNvSpPr txBox="1"/>
          <p:nvPr/>
        </p:nvSpPr>
        <p:spPr bwMode="auto">
          <a:xfrm>
            <a:off x="1472184" y="24688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rgbClr val="3A6AD6"/>
                </a:solidFill>
                <a:latin typeface="Calibri"/>
                <a:ea typeface="Calibri"/>
                <a:cs typeface="Calibri"/>
              </a:rPr>
              <a:t>MB</a:t>
            </a:r>
            <a:endParaRPr lang="en-US" sz="1200"/>
          </a:p>
        </p:txBody>
      </p:sp>
      <p:sp>
        <p:nvSpPr>
          <p:cNvPr id="237236256" name="Text 11"/>
          <p:cNvSpPr txBox="1"/>
          <p:nvPr/>
        </p:nvSpPr>
        <p:spPr bwMode="auto">
          <a:xfrm>
            <a:off x="832104" y="3017519"/>
            <a:ext cx="1755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300" b="1">
                <a:solidFill>
                  <a:srgbClr val="1F2020"/>
                </a:solidFill>
                <a:latin typeface="Calibri"/>
                <a:ea typeface="Calibri"/>
                <a:cs typeface="Calibri"/>
              </a:rPr>
              <a:t>Modbus</a:t>
            </a:r>
            <a:endParaRPr lang="en-US" sz="1300"/>
          </a:p>
        </p:txBody>
      </p:sp>
      <p:sp>
        <p:nvSpPr>
          <p:cNvPr id="1730016852" name="Text 12"/>
          <p:cNvSpPr txBox="1"/>
          <p:nvPr/>
        </p:nvSpPr>
        <p:spPr bwMode="auto">
          <a:xfrm>
            <a:off x="832104" y="3291840"/>
            <a:ext cx="1755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00"/>
              </a:lnSpc>
              <a:buNone/>
              <a:defRPr/>
            </a:pPr>
            <a:r>
              <a:rPr lang="en-US" sz="950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Register maps + test endpoint</a:t>
            </a:r>
            <a:endParaRPr lang="en-US" sz="950"/>
          </a:p>
        </p:txBody>
      </p:sp>
      <p:sp>
        <p:nvSpPr>
          <p:cNvPr id="653737971" name="Shape 13"/>
          <p:cNvSpPr/>
          <p:nvPr/>
        </p:nvSpPr>
        <p:spPr bwMode="auto">
          <a:xfrm>
            <a:off x="2926080" y="2286000"/>
            <a:ext cx="2048256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F2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290455855" name="Shape 14"/>
          <p:cNvSpPr/>
          <p:nvPr/>
        </p:nvSpPr>
        <p:spPr bwMode="auto">
          <a:xfrm>
            <a:off x="3712464" y="2468880"/>
            <a:ext cx="475488" cy="475488"/>
          </a:xfrm>
          <a:prstGeom prst="ellipse">
            <a:avLst/>
          </a:prstGeom>
          <a:solidFill>
            <a:srgbClr val="EAF0FE"/>
          </a:solidFill>
          <a:ln w="12700">
            <a:solidFill>
              <a:srgbClr val="D5E0FB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999338689" name="Text 15"/>
          <p:cNvSpPr txBox="1"/>
          <p:nvPr/>
        </p:nvSpPr>
        <p:spPr bwMode="auto">
          <a:xfrm>
            <a:off x="3712464" y="24688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rgbClr val="3A6AD6"/>
                </a:solidFill>
                <a:latin typeface="Calibri"/>
                <a:ea typeface="Calibri"/>
                <a:cs typeface="Calibri"/>
              </a:rPr>
              <a:t>D3</a:t>
            </a:r>
            <a:endParaRPr lang="en-US" sz="1200"/>
          </a:p>
        </p:txBody>
      </p:sp>
      <p:sp>
        <p:nvSpPr>
          <p:cNvPr id="1339871945" name="Text 16"/>
          <p:cNvSpPr txBox="1"/>
          <p:nvPr/>
        </p:nvSpPr>
        <p:spPr bwMode="auto">
          <a:xfrm>
            <a:off x="3072384" y="3017519"/>
            <a:ext cx="1755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300" b="1">
                <a:solidFill>
                  <a:srgbClr val="1F2020"/>
                </a:solidFill>
                <a:latin typeface="Calibri"/>
                <a:ea typeface="Calibri"/>
                <a:cs typeface="Calibri"/>
              </a:rPr>
              <a:t>DNP3</a:t>
            </a:r>
            <a:endParaRPr lang="en-US" sz="1300"/>
          </a:p>
        </p:txBody>
      </p:sp>
      <p:sp>
        <p:nvSpPr>
          <p:cNvPr id="1031484881" name="Text 17"/>
          <p:cNvSpPr txBox="1"/>
          <p:nvPr/>
        </p:nvSpPr>
        <p:spPr bwMode="auto">
          <a:xfrm>
            <a:off x="3072384" y="3291840"/>
            <a:ext cx="1755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00"/>
              </a:lnSpc>
              <a:buNone/>
              <a:defRPr/>
            </a:pPr>
            <a:r>
              <a:rPr lang="en-US" sz="950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Outstation point mapping</a:t>
            </a:r>
            <a:endParaRPr lang="en-US" sz="950"/>
          </a:p>
        </p:txBody>
      </p:sp>
      <p:sp>
        <p:nvSpPr>
          <p:cNvPr id="713497657" name="Shape 18"/>
          <p:cNvSpPr/>
          <p:nvPr/>
        </p:nvSpPr>
        <p:spPr bwMode="auto">
          <a:xfrm>
            <a:off x="5166360" y="2286000"/>
            <a:ext cx="2048256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F2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223607093" name="Shape 19"/>
          <p:cNvSpPr/>
          <p:nvPr/>
        </p:nvSpPr>
        <p:spPr bwMode="auto">
          <a:xfrm>
            <a:off x="5952744" y="2468880"/>
            <a:ext cx="475488" cy="475488"/>
          </a:xfrm>
          <a:prstGeom prst="ellipse">
            <a:avLst/>
          </a:prstGeom>
          <a:solidFill>
            <a:srgbClr val="EAF0FE"/>
          </a:solidFill>
          <a:ln w="12700">
            <a:solidFill>
              <a:srgbClr val="D5E0FB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44527368" name="Text 20"/>
          <p:cNvSpPr txBox="1"/>
          <p:nvPr/>
        </p:nvSpPr>
        <p:spPr bwMode="auto">
          <a:xfrm>
            <a:off x="5952744" y="24688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rgbClr val="3A6AD6"/>
                </a:solidFill>
                <a:latin typeface="Calibri"/>
                <a:ea typeface="Calibri"/>
                <a:cs typeface="Calibri"/>
              </a:rPr>
              <a:t>61</a:t>
            </a:r>
            <a:endParaRPr lang="en-US" sz="1200"/>
          </a:p>
        </p:txBody>
      </p:sp>
      <p:sp>
        <p:nvSpPr>
          <p:cNvPr id="1870528843" name="Text 21"/>
          <p:cNvSpPr txBox="1"/>
          <p:nvPr/>
        </p:nvSpPr>
        <p:spPr bwMode="auto">
          <a:xfrm>
            <a:off x="5312664" y="3017519"/>
            <a:ext cx="1755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300" b="1">
                <a:solidFill>
                  <a:srgbClr val="1F2020"/>
                </a:solidFill>
                <a:latin typeface="Calibri"/>
                <a:ea typeface="Calibri"/>
                <a:cs typeface="Calibri"/>
              </a:rPr>
              <a:t>IEC 61850</a:t>
            </a:r>
            <a:endParaRPr lang="en-US" sz="1300"/>
          </a:p>
        </p:txBody>
      </p:sp>
      <p:sp>
        <p:nvSpPr>
          <p:cNvPr id="320054367" name="Text 22"/>
          <p:cNvSpPr txBox="1"/>
          <p:nvPr/>
        </p:nvSpPr>
        <p:spPr bwMode="auto">
          <a:xfrm>
            <a:off x="5312664" y="3291840"/>
            <a:ext cx="1755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00"/>
              </a:lnSpc>
              <a:buNone/>
              <a:defRPr/>
            </a:pPr>
            <a:r>
              <a:rPr lang="en-US" sz="950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Logical node integration</a:t>
            </a:r>
            <a:endParaRPr lang="en-US" sz="950"/>
          </a:p>
        </p:txBody>
      </p:sp>
      <p:sp>
        <p:nvSpPr>
          <p:cNvPr id="379781575" name="Shape 23"/>
          <p:cNvSpPr/>
          <p:nvPr/>
        </p:nvSpPr>
        <p:spPr bwMode="auto">
          <a:xfrm>
            <a:off x="7406640" y="2286000"/>
            <a:ext cx="2048256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F2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044636106" name="Shape 24"/>
          <p:cNvSpPr/>
          <p:nvPr/>
        </p:nvSpPr>
        <p:spPr bwMode="auto">
          <a:xfrm>
            <a:off x="8193024" y="2468880"/>
            <a:ext cx="475488" cy="475488"/>
          </a:xfrm>
          <a:prstGeom prst="ellipse">
            <a:avLst/>
          </a:prstGeom>
          <a:solidFill>
            <a:srgbClr val="EAF0FE"/>
          </a:solidFill>
          <a:ln w="12700">
            <a:solidFill>
              <a:srgbClr val="D5E0FB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915961592" name="Text 25"/>
          <p:cNvSpPr txBox="1"/>
          <p:nvPr/>
        </p:nvSpPr>
        <p:spPr bwMode="auto">
          <a:xfrm>
            <a:off x="8193024" y="24688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rgbClr val="3A6AD6"/>
                </a:solidFill>
                <a:latin typeface="Calibri"/>
                <a:ea typeface="Calibri"/>
                <a:cs typeface="Calibri"/>
              </a:rPr>
              <a:t>MQ</a:t>
            </a:r>
            <a:endParaRPr lang="en-US" sz="1200"/>
          </a:p>
        </p:txBody>
      </p:sp>
      <p:sp>
        <p:nvSpPr>
          <p:cNvPr id="1814601967" name="Text 26"/>
          <p:cNvSpPr txBox="1"/>
          <p:nvPr/>
        </p:nvSpPr>
        <p:spPr bwMode="auto">
          <a:xfrm>
            <a:off x="7552944" y="3017519"/>
            <a:ext cx="1755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300" b="1">
                <a:solidFill>
                  <a:srgbClr val="1F2020"/>
                </a:solidFill>
                <a:latin typeface="Calibri"/>
                <a:ea typeface="Calibri"/>
                <a:cs typeface="Calibri"/>
              </a:rPr>
              <a:t>MQTT</a:t>
            </a:r>
            <a:endParaRPr lang="en-US" sz="1300"/>
          </a:p>
        </p:txBody>
      </p:sp>
      <p:sp>
        <p:nvSpPr>
          <p:cNvPr id="984933731" name="Text 27"/>
          <p:cNvSpPr txBox="1"/>
          <p:nvPr/>
        </p:nvSpPr>
        <p:spPr bwMode="auto">
          <a:xfrm>
            <a:off x="7552944" y="3291840"/>
            <a:ext cx="1755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00"/>
              </a:lnSpc>
              <a:buNone/>
              <a:defRPr/>
            </a:pPr>
            <a:r>
              <a:rPr lang="en-US" sz="950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Telemetry topic subscribe</a:t>
            </a:r>
            <a:endParaRPr lang="en-US" sz="950"/>
          </a:p>
        </p:txBody>
      </p:sp>
      <p:sp>
        <p:nvSpPr>
          <p:cNvPr id="252051880" name="Shape 28"/>
          <p:cNvSpPr/>
          <p:nvPr/>
        </p:nvSpPr>
        <p:spPr bwMode="auto">
          <a:xfrm>
            <a:off x="9646920" y="2286000"/>
            <a:ext cx="2048256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F2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438840256" name="Shape 29"/>
          <p:cNvSpPr/>
          <p:nvPr/>
        </p:nvSpPr>
        <p:spPr bwMode="auto">
          <a:xfrm>
            <a:off x="10433304" y="2468880"/>
            <a:ext cx="475488" cy="475488"/>
          </a:xfrm>
          <a:prstGeom prst="ellipse">
            <a:avLst/>
          </a:prstGeom>
          <a:solidFill>
            <a:srgbClr val="EAF0FE"/>
          </a:solidFill>
          <a:ln w="12700">
            <a:solidFill>
              <a:srgbClr val="D5E0FB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255096669" name="Text 30"/>
          <p:cNvSpPr txBox="1"/>
          <p:nvPr/>
        </p:nvSpPr>
        <p:spPr bwMode="auto">
          <a:xfrm>
            <a:off x="10433304" y="24688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rgbClr val="3A6AD6"/>
                </a:solidFill>
                <a:latin typeface="Calibri"/>
                <a:ea typeface="Calibri"/>
                <a:cs typeface="Calibri"/>
              </a:rPr>
              <a:t>UA</a:t>
            </a:r>
            <a:endParaRPr lang="en-US" sz="1200"/>
          </a:p>
        </p:txBody>
      </p:sp>
      <p:sp>
        <p:nvSpPr>
          <p:cNvPr id="791947671" name="Text 31"/>
          <p:cNvSpPr txBox="1"/>
          <p:nvPr/>
        </p:nvSpPr>
        <p:spPr bwMode="auto">
          <a:xfrm>
            <a:off x="9793224" y="3017519"/>
            <a:ext cx="1755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300" b="1">
                <a:solidFill>
                  <a:srgbClr val="1F2020"/>
                </a:solidFill>
                <a:latin typeface="Calibri"/>
                <a:ea typeface="Calibri"/>
                <a:cs typeface="Calibri"/>
              </a:rPr>
              <a:t>OPC-UA</a:t>
            </a:r>
            <a:endParaRPr lang="en-US" sz="1300"/>
          </a:p>
        </p:txBody>
      </p:sp>
      <p:sp>
        <p:nvSpPr>
          <p:cNvPr id="486857418" name="Text 32"/>
          <p:cNvSpPr txBox="1"/>
          <p:nvPr/>
        </p:nvSpPr>
        <p:spPr bwMode="auto">
          <a:xfrm>
            <a:off x="9793224" y="3291840"/>
            <a:ext cx="1755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00"/>
              </a:lnSpc>
              <a:buNone/>
              <a:defRPr/>
            </a:pPr>
            <a:r>
              <a:rPr lang="en-US" sz="950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Node browse + sync</a:t>
            </a:r>
            <a:endParaRPr lang="en-US" sz="950"/>
          </a:p>
        </p:txBody>
      </p:sp>
      <p:sp>
        <p:nvSpPr>
          <p:cNvPr id="1734597789" name="Shape 33"/>
          <p:cNvSpPr/>
          <p:nvPr/>
        </p:nvSpPr>
        <p:spPr bwMode="auto">
          <a:xfrm>
            <a:off x="685800" y="3950208"/>
            <a:ext cx="10954511" cy="1188720"/>
          </a:xfrm>
          <a:prstGeom prst="roundRect">
            <a:avLst>
              <a:gd name="adj" fmla="val 4615"/>
            </a:avLst>
          </a:prstGeom>
          <a:solidFill>
            <a:srgbClr val="EAF0FE"/>
          </a:solidFill>
          <a:ln w="12700">
            <a:solidFill>
              <a:srgbClr val="D5E0FB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980041182" name="Text 34"/>
          <p:cNvSpPr txBox="1"/>
          <p:nvPr/>
        </p:nvSpPr>
        <p:spPr bwMode="auto">
          <a:xfrm>
            <a:off x="960120" y="4114800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3A6AD6"/>
                </a:solidFill>
                <a:latin typeface="Calibri"/>
                <a:ea typeface="Calibri"/>
                <a:cs typeface="Calibri"/>
              </a:rPr>
              <a:t>NEW  ·  Assignment e-mail notifications</a:t>
            </a:r>
            <a:endParaRPr lang="en-US" sz="1400"/>
          </a:p>
        </p:txBody>
      </p:sp>
      <p:sp>
        <p:nvSpPr>
          <p:cNvPr id="944759133" name="Text 35"/>
          <p:cNvSpPr txBox="1"/>
          <p:nvPr/>
        </p:nvSpPr>
        <p:spPr bwMode="auto">
          <a:xfrm>
            <a:off x="960120" y="4443984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  <a:defRPr/>
            </a:pPr>
            <a:r>
              <a:rPr lang="en-US" sz="1200">
                <a:solidFill>
                  <a:srgbClr val="3F4651"/>
                </a:solidFill>
                <a:latin typeface="Calibri"/>
                <a:ea typeface="Calibri"/>
                <a:cs typeface="Calibri"/>
              </a:rPr>
              <a:t>When a crew is assigned, Bottleneck delivers an SMTP notification straight to the crew mailbox with the asset ID, GPS coordinates, distance from the depot, and ETA — so the dispatch leaves the platform and reaches a person.</a:t>
            </a:r>
            <a:endParaRPr lang="en-US" sz="1200"/>
          </a:p>
        </p:txBody>
      </p:sp>
      <p:sp>
        <p:nvSpPr>
          <p:cNvPr id="1586637578" name="Shape 36"/>
          <p:cNvSpPr/>
          <p:nvPr/>
        </p:nvSpPr>
        <p:spPr bwMode="auto">
          <a:xfrm>
            <a:off x="685800" y="5285232"/>
            <a:ext cx="3520440" cy="841248"/>
          </a:xfrm>
          <a:prstGeom prst="roundRect">
            <a:avLst>
              <a:gd name="adj" fmla="val 6522"/>
            </a:avLst>
          </a:prstGeom>
          <a:solidFill>
            <a:srgbClr val="F4F6FB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711370436" name="Text 37"/>
          <p:cNvSpPr txBox="1"/>
          <p:nvPr/>
        </p:nvSpPr>
        <p:spPr bwMode="auto">
          <a:xfrm>
            <a:off x="905256" y="53949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1F2020"/>
                </a:solidFill>
                <a:latin typeface="Calibri"/>
                <a:ea typeface="Calibri"/>
                <a:cs typeface="Calibri"/>
              </a:rPr>
              <a:t>Protocol docs included</a:t>
            </a:r>
            <a:endParaRPr lang="en-US" sz="1200"/>
          </a:p>
        </p:txBody>
      </p:sp>
      <p:sp>
        <p:nvSpPr>
          <p:cNvPr id="352354884" name="Text 38"/>
          <p:cNvSpPr txBox="1"/>
          <p:nvPr/>
        </p:nvSpPr>
        <p:spPr bwMode="auto">
          <a:xfrm>
            <a:off x="905256" y="5669280"/>
            <a:ext cx="3108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300"/>
              </a:lnSpc>
              <a:buNone/>
              <a:defRPr/>
            </a:pPr>
            <a:r>
              <a:rPr lang="en-US" sz="1000">
                <a:solidFill>
                  <a:srgbClr val="4B5563"/>
                </a:solidFill>
                <a:latin typeface="Calibri"/>
                <a:ea typeface="Calibri"/>
                <a:cs typeface="Calibri"/>
              </a:rPr>
              <a:t>Every integration ships with its register map and a documented sync path</a:t>
            </a:r>
            <a:endParaRPr lang="en-US" sz="1000"/>
          </a:p>
        </p:txBody>
      </p:sp>
      <p:sp>
        <p:nvSpPr>
          <p:cNvPr id="819376165" name="Shape 39"/>
          <p:cNvSpPr/>
          <p:nvPr/>
        </p:nvSpPr>
        <p:spPr bwMode="auto">
          <a:xfrm>
            <a:off x="4425696" y="5285232"/>
            <a:ext cx="3520440" cy="841248"/>
          </a:xfrm>
          <a:prstGeom prst="roundRect">
            <a:avLst>
              <a:gd name="adj" fmla="val 6522"/>
            </a:avLst>
          </a:prstGeom>
          <a:solidFill>
            <a:srgbClr val="F4F6FB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633546560" name="Text 40"/>
          <p:cNvSpPr txBox="1"/>
          <p:nvPr/>
        </p:nvSpPr>
        <p:spPr bwMode="auto">
          <a:xfrm>
            <a:off x="4645152" y="53949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1F2020"/>
                </a:solidFill>
                <a:latin typeface="Calibri"/>
                <a:ea typeface="Calibri"/>
                <a:cs typeface="Calibri"/>
              </a:rPr>
              <a:t>Test endpoints per protocol</a:t>
            </a:r>
            <a:endParaRPr lang="en-US" sz="1200"/>
          </a:p>
        </p:txBody>
      </p:sp>
      <p:sp>
        <p:nvSpPr>
          <p:cNvPr id="1652181103" name="Text 41"/>
          <p:cNvSpPr txBox="1"/>
          <p:nvPr/>
        </p:nvSpPr>
        <p:spPr bwMode="auto">
          <a:xfrm>
            <a:off x="4645152" y="5669280"/>
            <a:ext cx="3108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300"/>
              </a:lnSpc>
              <a:buNone/>
              <a:defRPr/>
            </a:pPr>
            <a:r>
              <a:rPr lang="en-US" sz="1000">
                <a:solidFill>
                  <a:srgbClr val="4B5563"/>
                </a:solidFill>
                <a:latin typeface="Calibri"/>
                <a:ea typeface="Calibri"/>
                <a:cs typeface="Calibri"/>
              </a:rPr>
              <a:t>Connectivity can be validated before a single field device is wired in</a:t>
            </a:r>
            <a:endParaRPr lang="en-US" sz="1000"/>
          </a:p>
        </p:txBody>
      </p:sp>
      <p:sp>
        <p:nvSpPr>
          <p:cNvPr id="1786295244" name="Shape 42"/>
          <p:cNvSpPr/>
          <p:nvPr/>
        </p:nvSpPr>
        <p:spPr bwMode="auto">
          <a:xfrm>
            <a:off x="8165592" y="5285232"/>
            <a:ext cx="3520440" cy="841248"/>
          </a:xfrm>
          <a:prstGeom prst="roundRect">
            <a:avLst>
              <a:gd name="adj" fmla="val 6522"/>
            </a:avLst>
          </a:prstGeom>
          <a:solidFill>
            <a:srgbClr val="F4F6FB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369918205" name="Text 43"/>
          <p:cNvSpPr txBox="1"/>
          <p:nvPr/>
        </p:nvSpPr>
        <p:spPr bwMode="auto">
          <a:xfrm>
            <a:off x="8385048" y="53949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1F2020"/>
                </a:solidFill>
                <a:latin typeface="Calibri"/>
                <a:ea typeface="Calibri"/>
                <a:cs typeface="Calibri"/>
              </a:rPr>
              <a:t>Zero credentials to demo</a:t>
            </a:r>
            <a:endParaRPr lang="en-US" sz="1200"/>
          </a:p>
        </p:txBody>
      </p:sp>
      <p:sp>
        <p:nvSpPr>
          <p:cNvPr id="1144182696" name="Text 44"/>
          <p:cNvSpPr txBox="1"/>
          <p:nvPr/>
        </p:nvSpPr>
        <p:spPr bwMode="auto">
          <a:xfrm>
            <a:off x="8385048" y="5669280"/>
            <a:ext cx="3108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300"/>
              </a:lnSpc>
              <a:buNone/>
              <a:defRPr/>
            </a:pPr>
            <a:r>
              <a:rPr lang="en-US" sz="1000">
                <a:solidFill>
                  <a:srgbClr val="4B5563"/>
                </a:solidFill>
                <a:latin typeface="Calibri"/>
                <a:ea typeface="Calibri"/>
                <a:cs typeface="Calibri"/>
              </a:rPr>
              <a:t>The offline path runs on deterministic synthetic telemetry</a:t>
            </a:r>
            <a:endParaRPr lang="en-US" sz="1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4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5662692" name="Shape 0"/>
          <p:cNvSpPr/>
          <p:nvPr/>
        </p:nvSpPr>
        <p:spPr bwMode="auto">
          <a:xfrm>
            <a:off x="502920" y="310896"/>
            <a:ext cx="274320" cy="274320"/>
          </a:xfrm>
          <a:prstGeom prst="roundRect">
            <a:avLst>
              <a:gd name="adj" fmla="val 23333"/>
            </a:avLst>
          </a:prstGeom>
          <a:solidFill>
            <a:srgbClr val="3A6AD6"/>
          </a:solidFill>
          <a:ln w="12700">
            <a:solidFill>
              <a:srgbClr val="3A6AD6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568651984" name="Text 1"/>
          <p:cNvSpPr txBox="1"/>
          <p:nvPr/>
        </p:nvSpPr>
        <p:spPr bwMode="auto">
          <a:xfrm>
            <a:off x="502920" y="3108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FFFFFF"/>
                </a:solidFill>
              </a:rPr>
              <a:t>⚡</a:t>
            </a:r>
            <a:endParaRPr lang="en-US" sz="1200"/>
          </a:p>
        </p:txBody>
      </p:sp>
      <p:sp>
        <p:nvSpPr>
          <p:cNvPr id="1537455272" name="Text 2"/>
          <p:cNvSpPr txBox="1"/>
          <p:nvPr/>
        </p:nvSpPr>
        <p:spPr bwMode="auto">
          <a:xfrm>
            <a:off x="850392" y="30175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1F2020"/>
                </a:solidFill>
                <a:latin typeface="Calibri"/>
                <a:ea typeface="Calibri"/>
                <a:cs typeface="Calibri"/>
              </a:rPr>
              <a:t>Bottleneck AI</a:t>
            </a:r>
            <a:endParaRPr lang="en-US" sz="1200"/>
          </a:p>
        </p:txBody>
      </p:sp>
      <p:sp>
        <p:nvSpPr>
          <p:cNvPr id="2009392201" name="Text 3"/>
          <p:cNvSpPr txBox="1"/>
          <p:nvPr/>
        </p:nvSpPr>
        <p:spPr bwMode="auto">
          <a:xfrm>
            <a:off x="8229600" y="30175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  <a:defRPr/>
            </a:pPr>
            <a:r>
              <a:rPr lang="en-US" sz="950" b="1" spc="160">
                <a:solidFill>
                  <a:srgbClr val="3A6AD6"/>
                </a:solidFill>
                <a:latin typeface="Calibri"/>
                <a:ea typeface="Calibri"/>
                <a:cs typeface="Calibri"/>
              </a:rPr>
              <a:t>IBM BOB &amp; ROADMAP</a:t>
            </a:r>
            <a:endParaRPr lang="en-US" sz="950"/>
          </a:p>
        </p:txBody>
      </p:sp>
      <p:sp>
        <p:nvSpPr>
          <p:cNvPr id="1883290366" name="Shape 4"/>
          <p:cNvSpPr/>
          <p:nvPr/>
        </p:nvSpPr>
        <p:spPr bwMode="auto">
          <a:xfrm>
            <a:off x="11356848" y="6236208"/>
            <a:ext cx="384048" cy="310896"/>
          </a:xfrm>
          <a:prstGeom prst="roundRect">
            <a:avLst>
              <a:gd name="adj" fmla="val 23529"/>
            </a:avLst>
          </a:prstGeom>
          <a:solidFill>
            <a:srgbClr val="3A6AD6"/>
          </a:solidFill>
          <a:ln w="12700">
            <a:solidFill>
              <a:srgbClr val="3A6AD6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448097292" name="Text 5"/>
          <p:cNvSpPr txBox="1"/>
          <p:nvPr/>
        </p:nvSpPr>
        <p:spPr bwMode="auto">
          <a:xfrm>
            <a:off x="11356848" y="6236208"/>
            <a:ext cx="384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  <a:endParaRPr lang="en-US" sz="1000"/>
          </a:p>
        </p:txBody>
      </p:sp>
      <p:sp>
        <p:nvSpPr>
          <p:cNvPr id="1437635326" name="Text 6"/>
          <p:cNvSpPr txBox="1"/>
          <p:nvPr/>
        </p:nvSpPr>
        <p:spPr bwMode="auto">
          <a:xfrm>
            <a:off x="685800" y="868680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3400" b="1">
                <a:solidFill>
                  <a:srgbClr val="1F2020"/>
                </a:solidFill>
                <a:latin typeface="Calibri"/>
                <a:ea typeface="Calibri"/>
                <a:cs typeface="Calibri"/>
              </a:rPr>
              <a:t>Built with IBM Bob, and built to keep going</a:t>
            </a:r>
            <a:endParaRPr lang="en-US" sz="3400"/>
          </a:p>
        </p:txBody>
      </p:sp>
      <p:sp>
        <p:nvSpPr>
          <p:cNvPr id="1319417130" name="Text 7"/>
          <p:cNvSpPr txBox="1"/>
          <p:nvPr/>
        </p:nvSpPr>
        <p:spPr bwMode="auto">
          <a:xfrm>
            <a:off x="685800" y="1472184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Bob was our primary AI coding agent across every phase — the full log lives in docs/BOB_ENGINEERING_LOG.md.</a:t>
            </a:r>
            <a:endParaRPr lang="en-US" sz="1400"/>
          </a:p>
        </p:txBody>
      </p:sp>
      <p:sp>
        <p:nvSpPr>
          <p:cNvPr id="1445755899" name="Shape 8"/>
          <p:cNvSpPr/>
          <p:nvPr/>
        </p:nvSpPr>
        <p:spPr bwMode="auto">
          <a:xfrm>
            <a:off x="685800" y="2286000"/>
            <a:ext cx="5029200" cy="2743200"/>
          </a:xfrm>
          <a:prstGeom prst="roundRect">
            <a:avLst>
              <a:gd name="adj" fmla="val 2000"/>
            </a:avLst>
          </a:prstGeom>
          <a:solidFill>
            <a:srgbClr val="0F1B3D"/>
          </a:solidFill>
          <a:ln w="12700">
            <a:solidFill>
              <a:srgbClr val="0F1B3D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822109776" name="Text 9"/>
          <p:cNvSpPr txBox="1"/>
          <p:nvPr/>
        </p:nvSpPr>
        <p:spPr bwMode="auto">
          <a:xfrm>
            <a:off x="960120" y="250545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IBM Bob as the engineering partner</a:t>
            </a:r>
            <a:endParaRPr lang="en-US" sz="1600"/>
          </a:p>
        </p:txBody>
      </p:sp>
      <p:sp>
        <p:nvSpPr>
          <p:cNvPr id="42494317" name="Text 10"/>
          <p:cNvSpPr txBox="1"/>
          <p:nvPr/>
        </p:nvSpPr>
        <p:spPr bwMode="auto">
          <a:xfrm>
            <a:off x="960120" y="2980944"/>
            <a:ext cx="4480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▪"/>
              <a:defRPr/>
            </a:pPr>
            <a:r>
              <a:rPr lang="en-US" sz="1200">
                <a:solidFill>
                  <a:srgbClr val="C6D2EE"/>
                </a:solidFill>
                <a:latin typeface="Calibri"/>
                <a:ea typeface="Calibri"/>
                <a:cs typeface="Calibri"/>
              </a:rPr>
              <a:t>Scaffolding the FastAPI service and the React 18 client</a:t>
            </a:r>
            <a:endParaRPr lang="en-US" sz="120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▪"/>
              <a:defRPr/>
            </a:pPr>
            <a:r>
              <a:rPr lang="en-US" sz="1200">
                <a:solidFill>
                  <a:srgbClr val="C6D2EE"/>
                </a:solidFill>
                <a:latin typeface="Calibri"/>
                <a:ea typeface="Calibri"/>
                <a:cs typeface="Calibri"/>
              </a:rPr>
              <a:t>Designing the composite risk engine and the crew-matching logic</a:t>
            </a:r>
            <a:endParaRPr lang="en-US" sz="120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▪"/>
              <a:defRPr/>
            </a:pPr>
            <a:r>
              <a:rPr lang="en-US" sz="1200">
                <a:solidFill>
                  <a:srgbClr val="C6D2EE"/>
                </a:solidFill>
                <a:latin typeface="Calibri"/>
                <a:ea typeface="Calibri"/>
                <a:cs typeface="Calibri"/>
              </a:rPr>
              <a:t>Wiring the XGBoost seam and the deterministic mock fallback</a:t>
            </a:r>
            <a:endParaRPr lang="en-US" sz="120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▪"/>
              <a:defRPr/>
            </a:pPr>
            <a:r>
              <a:rPr lang="en-US" sz="1200">
                <a:solidFill>
                  <a:srgbClr val="C6D2EE"/>
                </a:solidFill>
                <a:latin typeface="Calibri"/>
                <a:ea typeface="Calibri"/>
                <a:cs typeface="Calibri"/>
              </a:rPr>
              <a:t>Debugging, refactoring, and documenting all 30+ endpoints</a:t>
            </a:r>
            <a:endParaRPr lang="en-US" sz="1200"/>
          </a:p>
        </p:txBody>
      </p:sp>
      <p:sp>
        <p:nvSpPr>
          <p:cNvPr id="2070355464" name="Text 11"/>
          <p:cNvSpPr txBox="1"/>
          <p:nvPr/>
        </p:nvSpPr>
        <p:spPr bwMode="auto">
          <a:xfrm>
            <a:off x="6126480" y="2286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50" b="1" spc="160">
                <a:solidFill>
                  <a:srgbClr val="3A6AD6"/>
                </a:solidFill>
                <a:latin typeface="Calibri"/>
                <a:ea typeface="Calibri"/>
                <a:cs typeface="Calibri"/>
              </a:rPr>
              <a:t>ROADMAP</a:t>
            </a:r>
            <a:endParaRPr lang="en-US" sz="950"/>
          </a:p>
        </p:txBody>
      </p:sp>
      <p:sp>
        <p:nvSpPr>
          <p:cNvPr id="393162799" name="Shape 12"/>
          <p:cNvSpPr/>
          <p:nvPr/>
        </p:nvSpPr>
        <p:spPr bwMode="auto">
          <a:xfrm>
            <a:off x="6126480" y="2743200"/>
            <a:ext cx="274320" cy="274320"/>
          </a:xfrm>
          <a:prstGeom prst="ellipse">
            <a:avLst/>
          </a:prstGeom>
          <a:solidFill>
            <a:srgbClr val="3A6AD6"/>
          </a:solidFill>
          <a:ln w="12700">
            <a:solidFill>
              <a:srgbClr val="3A6AD6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294881812" name="Text 13"/>
          <p:cNvSpPr txBox="1"/>
          <p:nvPr/>
        </p:nvSpPr>
        <p:spPr bwMode="auto">
          <a:xfrm>
            <a:off x="6547104" y="263347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50" b="1">
                <a:solidFill>
                  <a:srgbClr val="1F2020"/>
                </a:solidFill>
                <a:latin typeface="Calibri"/>
                <a:ea typeface="Calibri"/>
                <a:cs typeface="Calibri"/>
              </a:rPr>
              <a:t>Real SCADA / IoT telemetry</a:t>
            </a:r>
            <a:endParaRPr lang="en-US" sz="1250"/>
          </a:p>
        </p:txBody>
      </p:sp>
      <p:sp>
        <p:nvSpPr>
          <p:cNvPr id="162137393" name="Text 14"/>
          <p:cNvSpPr txBox="1"/>
          <p:nvPr/>
        </p:nvSpPr>
        <p:spPr bwMode="auto">
          <a:xfrm>
            <a:off x="6547104" y="2889504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Replace synthetic feeds with live substation data</a:t>
            </a:r>
            <a:endParaRPr lang="en-US" sz="1050"/>
          </a:p>
        </p:txBody>
      </p:sp>
      <p:sp>
        <p:nvSpPr>
          <p:cNvPr id="1423125435" name="Shape 15"/>
          <p:cNvSpPr/>
          <p:nvPr/>
        </p:nvSpPr>
        <p:spPr bwMode="auto">
          <a:xfrm>
            <a:off x="6263640" y="3017519"/>
            <a:ext cx="0" cy="329184"/>
          </a:xfrm>
          <a:prstGeom prst="line">
            <a:avLst/>
          </a:prstGeom>
          <a:noFill/>
          <a:ln w="19050">
            <a:solidFill>
              <a:srgbClr val="D5E0FB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484760996" name="Shape 16"/>
          <p:cNvSpPr/>
          <p:nvPr/>
        </p:nvSpPr>
        <p:spPr bwMode="auto">
          <a:xfrm>
            <a:off x="6126480" y="3346704"/>
            <a:ext cx="274320" cy="274320"/>
          </a:xfrm>
          <a:prstGeom prst="ellipse">
            <a:avLst/>
          </a:prstGeom>
          <a:solidFill>
            <a:srgbClr val="6C4BD6"/>
          </a:solidFill>
          <a:ln w="12700">
            <a:solidFill>
              <a:srgbClr val="6C4BD6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894306140" name="Text 17"/>
          <p:cNvSpPr txBox="1"/>
          <p:nvPr/>
        </p:nvSpPr>
        <p:spPr bwMode="auto">
          <a:xfrm>
            <a:off x="6547104" y="323697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50" b="1">
                <a:solidFill>
                  <a:srgbClr val="1F2020"/>
                </a:solidFill>
                <a:latin typeface="Calibri"/>
                <a:ea typeface="Calibri"/>
                <a:cs typeface="Calibri"/>
              </a:rPr>
              <a:t>OAuth2 / OIDC</a:t>
            </a:r>
            <a:endParaRPr lang="en-US" sz="1250"/>
          </a:p>
        </p:txBody>
      </p:sp>
      <p:sp>
        <p:nvSpPr>
          <p:cNvPr id="88121727" name="Text 18"/>
          <p:cNvSpPr txBox="1"/>
          <p:nvPr/>
        </p:nvSpPr>
        <p:spPr bwMode="auto">
          <a:xfrm>
            <a:off x="6547104" y="3493008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Enterprise identity in place of demo JWT auth</a:t>
            </a:r>
            <a:endParaRPr lang="en-US" sz="1050"/>
          </a:p>
        </p:txBody>
      </p:sp>
      <p:sp>
        <p:nvSpPr>
          <p:cNvPr id="352054449" name="Shape 19"/>
          <p:cNvSpPr/>
          <p:nvPr/>
        </p:nvSpPr>
        <p:spPr bwMode="auto">
          <a:xfrm>
            <a:off x="6263640" y="3621024"/>
            <a:ext cx="0" cy="329184"/>
          </a:xfrm>
          <a:prstGeom prst="line">
            <a:avLst/>
          </a:prstGeom>
          <a:noFill/>
          <a:ln w="19050">
            <a:solidFill>
              <a:srgbClr val="D5E0FB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346159853" name="Shape 20"/>
          <p:cNvSpPr/>
          <p:nvPr/>
        </p:nvSpPr>
        <p:spPr bwMode="auto">
          <a:xfrm>
            <a:off x="6126480" y="3950208"/>
            <a:ext cx="274320" cy="274320"/>
          </a:xfrm>
          <a:prstGeom prst="ellipse">
            <a:avLst/>
          </a:prstGeom>
          <a:solidFill>
            <a:srgbClr val="E8511F"/>
          </a:solidFill>
          <a:ln w="12700">
            <a:solidFill>
              <a:srgbClr val="E8511F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13547644" name="Text 21"/>
          <p:cNvSpPr txBox="1"/>
          <p:nvPr/>
        </p:nvSpPr>
        <p:spPr bwMode="auto">
          <a:xfrm>
            <a:off x="6547104" y="38404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50" b="1">
                <a:solidFill>
                  <a:srgbClr val="1F2020"/>
                </a:solidFill>
                <a:latin typeface="Calibri"/>
                <a:ea typeface="Calibri"/>
                <a:cs typeface="Calibri"/>
              </a:rPr>
              <a:t>Live weather feed</a:t>
            </a:r>
            <a:endParaRPr lang="en-US" sz="1250"/>
          </a:p>
        </p:txBody>
      </p:sp>
      <p:sp>
        <p:nvSpPr>
          <p:cNvPr id="1859741101" name="Text 22"/>
          <p:cNvSpPr txBox="1"/>
          <p:nvPr/>
        </p:nvSpPr>
        <p:spPr bwMode="auto">
          <a:xfrm>
            <a:off x="6547104" y="4096512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Continuous forecast ingestion for weather exposure</a:t>
            </a:r>
            <a:endParaRPr lang="en-US" sz="1050"/>
          </a:p>
        </p:txBody>
      </p:sp>
      <p:sp>
        <p:nvSpPr>
          <p:cNvPr id="1968182700" name="Shape 23"/>
          <p:cNvSpPr/>
          <p:nvPr/>
        </p:nvSpPr>
        <p:spPr bwMode="auto">
          <a:xfrm>
            <a:off x="6263640" y="4224528"/>
            <a:ext cx="0" cy="329184"/>
          </a:xfrm>
          <a:prstGeom prst="line">
            <a:avLst/>
          </a:prstGeom>
          <a:noFill/>
          <a:ln w="19050">
            <a:solidFill>
              <a:srgbClr val="D5E0FB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658430226" name="Shape 24"/>
          <p:cNvSpPr/>
          <p:nvPr/>
        </p:nvSpPr>
        <p:spPr bwMode="auto">
          <a:xfrm>
            <a:off x="6126480" y="4553712"/>
            <a:ext cx="274320" cy="274320"/>
          </a:xfrm>
          <a:prstGeom prst="ellipse">
            <a:avLst/>
          </a:prstGeom>
          <a:solidFill>
            <a:srgbClr val="1E8E5A"/>
          </a:solidFill>
          <a:ln w="12700">
            <a:solidFill>
              <a:srgbClr val="1E8E5A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787247128" name="Text 25"/>
          <p:cNvSpPr txBox="1"/>
          <p:nvPr/>
        </p:nvSpPr>
        <p:spPr bwMode="auto">
          <a:xfrm>
            <a:off x="6547104" y="444398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50" b="1">
                <a:solidFill>
                  <a:srgbClr val="1F2020"/>
                </a:solidFill>
                <a:latin typeface="Calibri"/>
                <a:ea typeface="Calibri"/>
                <a:cs typeface="Calibri"/>
              </a:rPr>
              <a:t>Deployment</a:t>
            </a:r>
            <a:endParaRPr lang="en-US" sz="1250"/>
          </a:p>
        </p:txBody>
      </p:sp>
      <p:sp>
        <p:nvSpPr>
          <p:cNvPr id="1197729400" name="Text 26"/>
          <p:cNvSpPr txBox="1"/>
          <p:nvPr/>
        </p:nvSpPr>
        <p:spPr bwMode="auto">
          <a:xfrm>
            <a:off x="6547104" y="470001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Containerised delivery via Docker and Railway</a:t>
            </a:r>
            <a:endParaRPr lang="en-US" sz="1050"/>
          </a:p>
        </p:txBody>
      </p:sp>
      <p:sp>
        <p:nvSpPr>
          <p:cNvPr id="104718917" name="Shape 27"/>
          <p:cNvSpPr/>
          <p:nvPr/>
        </p:nvSpPr>
        <p:spPr bwMode="auto">
          <a:xfrm>
            <a:off x="685800" y="5285232"/>
            <a:ext cx="10954511" cy="640080"/>
          </a:xfrm>
          <a:prstGeom prst="roundRect">
            <a:avLst>
              <a:gd name="adj" fmla="val 8571"/>
            </a:avLst>
          </a:prstGeom>
          <a:solidFill>
            <a:srgbClr val="EAF0FE"/>
          </a:solidFill>
          <a:ln w="12700">
            <a:solidFill>
              <a:srgbClr val="D5E0FB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804847230" name="Text 28"/>
          <p:cNvSpPr txBox="1"/>
          <p:nvPr/>
        </p:nvSpPr>
        <p:spPr bwMode="auto">
          <a:xfrm>
            <a:off x="914400" y="5285232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rgbClr val="3A6AD6"/>
                </a:solidFill>
                <a:latin typeface="Calibri"/>
                <a:ea typeface="Calibri"/>
                <a:cs typeface="Calibri"/>
              </a:rPr>
              <a:t>30 assets monitored  ·  24h &amp; 72h horizon  ·  0–100 risk score  ·  &lt;1s scenario re-compute  ·  100% offline-ready  ·  0 credentials needed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3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9344515" name=""/>
          <p:cNvSpPr txBox="1"/>
          <p:nvPr/>
        </p:nvSpPr>
        <p:spPr bwMode="auto">
          <a:xfrm rot="0" flipH="0" flipV="0">
            <a:off x="554340" y="408213"/>
            <a:ext cx="6660513" cy="36611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endParaRPr/>
          </a:p>
        </p:txBody>
      </p:sp>
      <p:sp>
        <p:nvSpPr>
          <p:cNvPr id="1919552978" name=""/>
          <p:cNvSpPr txBox="1"/>
          <p:nvPr/>
        </p:nvSpPr>
        <p:spPr bwMode="auto">
          <a:xfrm rot="0" flipH="0" flipV="0">
            <a:off x="615777" y="1188720"/>
            <a:ext cx="10775176" cy="228635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endParaRPr/>
          </a:p>
          <a:p>
            <a:pPr algn="l">
              <a:defRPr/>
            </a:pPr>
            <a:r>
              <a:rPr/>
              <a:t>bob-task-281127d7cc0558dbf1e8d055ae7122a7-2026-09-14_session2.md  </a:t>
            </a:r>
            <a:br>
              <a:rPr/>
            </a:br>
            <a:r>
              <a:rPr/>
              <a:t>bob-task-741d5570544a9fcb1d82546884caa0f7-2026-09-15.md</a:t>
            </a:r>
            <a:endParaRPr/>
          </a:p>
          <a:p>
            <a:pPr algn="l">
              <a:defRPr/>
            </a:pPr>
            <a:r>
              <a:rPr/>
              <a:t>bob-task-4b1a939007c0b58d20364adbb6fe86d3-2026-09-15.md</a:t>
            </a:r>
            <a:br>
              <a:rPr/>
            </a:br>
            <a:r>
              <a:rPr/>
              <a:t>bob-task-8623d7cee9b04b382641eacf5e9f8a84-2026-09-14.md       </a:t>
            </a:r>
            <a:br>
              <a:rPr/>
            </a:br>
            <a:r>
              <a:rPr/>
              <a:t>bob-task-53d856f17d662470228af0840d49f409-2026-09-14.md          </a:t>
            </a:r>
            <a:br>
              <a:rPr/>
            </a:br>
            <a:r>
              <a:rPr/>
              <a:t>bob-task-df828133b60a5549332a6a36dccce1ae-2026-09-14_heet.md</a:t>
            </a:r>
            <a:endParaRPr/>
          </a:p>
          <a:p>
            <a:pPr algn="l">
              <a:defRPr/>
            </a:pPr>
            <a:r>
              <a:rPr/>
              <a:t>bob-task-6197ff02640b6a6f4f6a4fd8b7f2d4f7-2026-09-15.md</a:t>
            </a:r>
            <a:endParaRPr/>
          </a:p>
        </p:txBody>
      </p:sp>
      <p:sp>
        <p:nvSpPr>
          <p:cNvPr id="204692487" name=""/>
          <p:cNvSpPr txBox="1"/>
          <p:nvPr/>
        </p:nvSpPr>
        <p:spPr bwMode="auto">
          <a:xfrm rot="0" flipH="0" flipV="0">
            <a:off x="615777" y="310863"/>
            <a:ext cx="10914485" cy="54899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indent="0" algn="l">
              <a:buNone/>
              <a:defRPr/>
            </a:pPr>
            <a:r>
              <a:rPr lang="en-US" sz="3000" b="1">
                <a:solidFill>
                  <a:srgbClr val="1F2020"/>
                </a:solidFill>
                <a:latin typeface="Calibri"/>
                <a:ea typeface="Calibri"/>
                <a:cs typeface="Calibri"/>
              </a:rPr>
              <a:t>Built with IBM Bob, and built to keep going</a:t>
            </a:r>
            <a:endParaRPr lang="en-US" sz="3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5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6629091" name="Shape 0"/>
          <p:cNvSpPr/>
          <p:nvPr/>
        </p:nvSpPr>
        <p:spPr bwMode="auto">
          <a:xfrm>
            <a:off x="-2011680" y="-1828800"/>
            <a:ext cx="6035039" cy="6035039"/>
          </a:xfrm>
          <a:prstGeom prst="ellipse">
            <a:avLst/>
          </a:prstGeom>
          <a:solidFill>
            <a:srgbClr val="F2F5FD"/>
          </a:solidFill>
          <a:ln w="12700">
            <a:solidFill>
              <a:srgbClr val="F2F5FD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087870267" name="Shape 1"/>
          <p:cNvSpPr/>
          <p:nvPr/>
        </p:nvSpPr>
        <p:spPr bwMode="auto">
          <a:xfrm>
            <a:off x="9966960" y="4480560"/>
            <a:ext cx="5120640" cy="5120640"/>
          </a:xfrm>
          <a:prstGeom prst="ellipse">
            <a:avLst/>
          </a:prstGeom>
          <a:solidFill>
            <a:srgbClr val="F6F8FE"/>
          </a:solidFill>
          <a:ln w="12700">
            <a:solidFill>
              <a:srgbClr val="F6F8FE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826264344" name="Text 2"/>
          <p:cNvSpPr txBox="1"/>
          <p:nvPr/>
        </p:nvSpPr>
        <p:spPr bwMode="auto">
          <a:xfrm>
            <a:off x="0" y="1920240"/>
            <a:ext cx="121889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5200" b="1">
                <a:solidFill>
                  <a:srgbClr val="1F2020"/>
                </a:solidFill>
                <a:latin typeface="Calibri"/>
                <a:ea typeface="Calibri"/>
                <a:cs typeface="Calibri"/>
              </a:rPr>
              <a:t>Thank You</a:t>
            </a:r>
            <a:endParaRPr lang="en-US" sz="5200"/>
          </a:p>
        </p:txBody>
      </p:sp>
      <p:sp>
        <p:nvSpPr>
          <p:cNvPr id="1362822031" name="Text 3"/>
          <p:cNvSpPr txBox="1"/>
          <p:nvPr/>
        </p:nvSpPr>
        <p:spPr bwMode="auto">
          <a:xfrm>
            <a:off x="0" y="2962656"/>
            <a:ext cx="121889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700" b="1">
                <a:solidFill>
                  <a:srgbClr val="3A6AD6"/>
                </a:solidFill>
                <a:latin typeface="Calibri"/>
                <a:ea typeface="Calibri"/>
                <a:cs typeface="Calibri"/>
              </a:rPr>
              <a:t>Bottleneck AI — predict the failure, explain the risk, position the crew.</a:t>
            </a:r>
            <a:endParaRPr lang="en-US" sz="1700"/>
          </a:p>
        </p:txBody>
      </p:sp>
      <p:sp>
        <p:nvSpPr>
          <p:cNvPr id="657263713" name="Text 4"/>
          <p:cNvSpPr txBox="1"/>
          <p:nvPr/>
        </p:nvSpPr>
        <p:spPr bwMode="auto">
          <a:xfrm>
            <a:off x="0" y="3438144"/>
            <a:ext cx="12188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50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Team Bottleneck  ·  IBM Bob Hackathon 2026  ·  Track U1</a:t>
            </a:r>
            <a:endParaRPr lang="en-US" sz="1250"/>
          </a:p>
        </p:txBody>
      </p:sp>
      <p:sp>
        <p:nvSpPr>
          <p:cNvPr id="851819653" name="Shape 5"/>
          <p:cNvSpPr/>
          <p:nvPr/>
        </p:nvSpPr>
        <p:spPr bwMode="auto">
          <a:xfrm>
            <a:off x="2761488" y="4114800"/>
            <a:ext cx="676656" cy="676656"/>
          </a:xfrm>
          <a:prstGeom prst="ellipse">
            <a:avLst/>
          </a:prstGeom>
          <a:solidFill>
            <a:srgbClr val="3A6AD6"/>
          </a:solidFill>
          <a:ln w="12700">
            <a:solidFill>
              <a:srgbClr val="3A6AD6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960033379" name="Text 6"/>
          <p:cNvSpPr txBox="1"/>
          <p:nvPr/>
        </p:nvSpPr>
        <p:spPr bwMode="auto">
          <a:xfrm>
            <a:off x="2761488" y="4114800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UK</a:t>
            </a:r>
            <a:endParaRPr lang="en-US" sz="1500"/>
          </a:p>
        </p:txBody>
      </p:sp>
      <p:sp>
        <p:nvSpPr>
          <p:cNvPr id="2082373892" name="Text 7"/>
          <p:cNvSpPr txBox="1"/>
          <p:nvPr/>
        </p:nvSpPr>
        <p:spPr bwMode="auto">
          <a:xfrm>
            <a:off x="2276856" y="4864607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50" b="1">
                <a:solidFill>
                  <a:srgbClr val="1F2020"/>
                </a:solidFill>
                <a:latin typeface="Calibri"/>
                <a:ea typeface="Calibri"/>
                <a:cs typeface="Calibri"/>
              </a:rPr>
              <a:t>Urval Kheni</a:t>
            </a:r>
            <a:endParaRPr lang="en-US" sz="1050"/>
          </a:p>
        </p:txBody>
      </p:sp>
      <p:sp>
        <p:nvSpPr>
          <p:cNvPr id="980149342" name="Text 8"/>
          <p:cNvSpPr txBox="1"/>
          <p:nvPr/>
        </p:nvSpPr>
        <p:spPr bwMode="auto">
          <a:xfrm>
            <a:off x="2276856" y="5102352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900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Team Lead</a:t>
            </a:r>
            <a:endParaRPr lang="en-US" sz="900"/>
          </a:p>
        </p:txBody>
      </p:sp>
      <p:sp>
        <p:nvSpPr>
          <p:cNvPr id="1682452752" name="Shape 9"/>
          <p:cNvSpPr/>
          <p:nvPr/>
        </p:nvSpPr>
        <p:spPr bwMode="auto">
          <a:xfrm>
            <a:off x="4517136" y="4114800"/>
            <a:ext cx="676656" cy="676656"/>
          </a:xfrm>
          <a:prstGeom prst="ellipse">
            <a:avLst/>
          </a:prstGeom>
          <a:solidFill>
            <a:srgbClr val="E9EFFD"/>
          </a:solidFill>
          <a:ln w="12700">
            <a:solidFill>
              <a:srgbClr val="D5E0FB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543156391" name="Text 10"/>
          <p:cNvSpPr txBox="1"/>
          <p:nvPr/>
        </p:nvSpPr>
        <p:spPr bwMode="auto">
          <a:xfrm>
            <a:off x="4517136" y="4114800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500" b="1">
                <a:solidFill>
                  <a:srgbClr val="3A6AD6"/>
                </a:solidFill>
                <a:latin typeface="Calibri"/>
                <a:ea typeface="Calibri"/>
                <a:cs typeface="Calibri"/>
              </a:rPr>
              <a:t>DV</a:t>
            </a:r>
            <a:endParaRPr lang="en-US" sz="1500"/>
          </a:p>
        </p:txBody>
      </p:sp>
      <p:sp>
        <p:nvSpPr>
          <p:cNvPr id="1722097899" name="Text 11"/>
          <p:cNvSpPr txBox="1"/>
          <p:nvPr/>
        </p:nvSpPr>
        <p:spPr bwMode="auto">
          <a:xfrm>
            <a:off x="4032504" y="4864607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50" b="1">
                <a:solidFill>
                  <a:srgbClr val="1F2020"/>
                </a:solidFill>
                <a:latin typeface="Calibri"/>
                <a:ea typeface="Calibri"/>
                <a:cs typeface="Calibri"/>
              </a:rPr>
              <a:t>Dhruvin Vaghasiya</a:t>
            </a:r>
            <a:endParaRPr lang="en-US" sz="1050"/>
          </a:p>
        </p:txBody>
      </p:sp>
      <p:sp>
        <p:nvSpPr>
          <p:cNvPr id="287806136" name="Text 12"/>
          <p:cNvSpPr txBox="1"/>
          <p:nvPr/>
        </p:nvSpPr>
        <p:spPr bwMode="auto">
          <a:xfrm>
            <a:off x="4032504" y="5102352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900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Engineer</a:t>
            </a:r>
            <a:endParaRPr lang="en-US" sz="900"/>
          </a:p>
        </p:txBody>
      </p:sp>
      <p:sp>
        <p:nvSpPr>
          <p:cNvPr id="1019361306" name="Shape 13"/>
          <p:cNvSpPr/>
          <p:nvPr/>
        </p:nvSpPr>
        <p:spPr bwMode="auto">
          <a:xfrm>
            <a:off x="6272784" y="4114800"/>
            <a:ext cx="676656" cy="676656"/>
          </a:xfrm>
          <a:prstGeom prst="ellipse">
            <a:avLst/>
          </a:prstGeom>
          <a:solidFill>
            <a:srgbClr val="E9EFFD"/>
          </a:solidFill>
          <a:ln w="12700">
            <a:solidFill>
              <a:srgbClr val="D5E0FB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445856442" name="Text 14"/>
          <p:cNvSpPr txBox="1"/>
          <p:nvPr/>
        </p:nvSpPr>
        <p:spPr bwMode="auto">
          <a:xfrm>
            <a:off x="6272784" y="4114800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500" b="1">
                <a:solidFill>
                  <a:srgbClr val="3A6AD6"/>
                </a:solidFill>
                <a:latin typeface="Calibri"/>
                <a:ea typeface="Calibri"/>
                <a:cs typeface="Calibri"/>
              </a:rPr>
              <a:t>HM</a:t>
            </a:r>
            <a:endParaRPr lang="en-US" sz="1500"/>
          </a:p>
        </p:txBody>
      </p:sp>
      <p:sp>
        <p:nvSpPr>
          <p:cNvPr id="1360790734" name="Text 15"/>
          <p:cNvSpPr txBox="1"/>
          <p:nvPr/>
        </p:nvSpPr>
        <p:spPr bwMode="auto">
          <a:xfrm>
            <a:off x="5788152" y="4864607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50" b="1">
                <a:solidFill>
                  <a:srgbClr val="1F2020"/>
                </a:solidFill>
                <a:latin typeface="Calibri"/>
                <a:ea typeface="Calibri"/>
                <a:cs typeface="Calibri"/>
              </a:rPr>
              <a:t>Heet Mehta</a:t>
            </a:r>
            <a:endParaRPr lang="en-US" sz="1050"/>
          </a:p>
        </p:txBody>
      </p:sp>
      <p:sp>
        <p:nvSpPr>
          <p:cNvPr id="1986515134" name="Text 16"/>
          <p:cNvSpPr txBox="1"/>
          <p:nvPr/>
        </p:nvSpPr>
        <p:spPr bwMode="auto">
          <a:xfrm>
            <a:off x="5788152" y="5102352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900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Engineer</a:t>
            </a:r>
            <a:endParaRPr lang="en-US" sz="900"/>
          </a:p>
        </p:txBody>
      </p:sp>
      <p:sp>
        <p:nvSpPr>
          <p:cNvPr id="615555314" name="Shape 17"/>
          <p:cNvSpPr/>
          <p:nvPr/>
        </p:nvSpPr>
        <p:spPr bwMode="auto">
          <a:xfrm>
            <a:off x="8028432" y="4114800"/>
            <a:ext cx="676656" cy="676656"/>
          </a:xfrm>
          <a:prstGeom prst="ellipse">
            <a:avLst/>
          </a:prstGeom>
          <a:solidFill>
            <a:srgbClr val="E9EFFD"/>
          </a:solidFill>
          <a:ln w="12700">
            <a:solidFill>
              <a:srgbClr val="D5E0FB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448890276" name="Text 18"/>
          <p:cNvSpPr txBox="1"/>
          <p:nvPr/>
        </p:nvSpPr>
        <p:spPr bwMode="auto">
          <a:xfrm>
            <a:off x="8028432" y="4114800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500" b="1">
                <a:solidFill>
                  <a:srgbClr val="3A6AD6"/>
                </a:solidFill>
                <a:latin typeface="Calibri"/>
                <a:ea typeface="Calibri"/>
                <a:cs typeface="Calibri"/>
              </a:rPr>
              <a:t>KP</a:t>
            </a:r>
            <a:endParaRPr lang="en-US" sz="1500"/>
          </a:p>
        </p:txBody>
      </p:sp>
      <p:sp>
        <p:nvSpPr>
          <p:cNvPr id="1429633901" name="Text 19"/>
          <p:cNvSpPr txBox="1"/>
          <p:nvPr/>
        </p:nvSpPr>
        <p:spPr bwMode="auto">
          <a:xfrm>
            <a:off x="7543800" y="4864607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50" b="1">
                <a:solidFill>
                  <a:srgbClr val="1F2020"/>
                </a:solidFill>
                <a:latin typeface="Calibri"/>
                <a:ea typeface="Calibri"/>
                <a:cs typeface="Calibri"/>
              </a:rPr>
              <a:t>Krish Patel</a:t>
            </a:r>
            <a:endParaRPr lang="en-US" sz="1050"/>
          </a:p>
        </p:txBody>
      </p:sp>
      <p:sp>
        <p:nvSpPr>
          <p:cNvPr id="744414619" name="Text 20"/>
          <p:cNvSpPr txBox="1"/>
          <p:nvPr/>
        </p:nvSpPr>
        <p:spPr bwMode="auto">
          <a:xfrm>
            <a:off x="7543800" y="5102352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900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Engineer</a:t>
            </a:r>
            <a:endParaRPr lang="en-US" sz="900"/>
          </a:p>
        </p:txBody>
      </p:sp>
      <p:sp>
        <p:nvSpPr>
          <p:cNvPr id="1059168311" name="Shape 21"/>
          <p:cNvSpPr/>
          <p:nvPr/>
        </p:nvSpPr>
        <p:spPr bwMode="auto">
          <a:xfrm>
            <a:off x="4224528" y="5650992"/>
            <a:ext cx="3749040" cy="402336"/>
          </a:xfrm>
          <a:prstGeom prst="roundRect">
            <a:avLst>
              <a:gd name="adj" fmla="val 45455"/>
            </a:avLst>
          </a:prstGeom>
          <a:solidFill>
            <a:srgbClr val="3A6AD6"/>
          </a:solidFill>
          <a:ln w="12700">
            <a:solidFill>
              <a:srgbClr val="3A6AD6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31479564" name="Text 22"/>
          <p:cNvSpPr txBox="1"/>
          <p:nvPr/>
        </p:nvSpPr>
        <p:spPr bwMode="auto">
          <a:xfrm>
            <a:off x="4224528" y="5650992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Questions welcome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ONLYOFFICE/9.4.0.129</Application>
  <PresentationFormat>On-screen Show (4:3)</PresentationFormat>
  <Paragraphs>0</Paragraphs>
  <Slides>16</Slides>
  <Notes>16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7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/>
  <cp:revision>2</cp:revision>
  <dcterms:created xsi:type="dcterms:W3CDTF">2026-09-15T16:51:27Z</dcterms:created>
  <dcterms:modified xsi:type="dcterms:W3CDTF">2026-09-15T17:16:45Z</dcterms:modified>
</cp:coreProperties>
</file>