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6585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423837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72051322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5412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603674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00620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22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6356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Bottleneck AI by Team Bottleneck — Heet Mehta (lead), Dhruvin Vaghasiya, Urval Kheni, Krish Patel. IBM Bob Hackathon 2026, Track U1.</a:t>
            </a:r>
            <a:endParaRPr lang="en-US"/>
          </a:p>
        </p:txBody>
      </p:sp>
      <p:sp>
        <p:nvSpPr>
          <p:cNvPr id="938212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257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1977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Failures are found too late because nothing connects condition, weather, and downstream impact.</a:t>
            </a:r>
            <a:endParaRPr lang="en-US"/>
          </a:p>
        </p:txBody>
      </p:sp>
      <p:sp>
        <p:nvSpPr>
          <p:cNvPr id="874372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491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89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Root cause: data silos, missing impact model, and reactive dispatch.</a:t>
            </a:r>
            <a:endParaRPr lang="en-US"/>
          </a:p>
        </p:txBody>
      </p:sp>
      <p:sp>
        <p:nvSpPr>
          <p:cNvPr id="2057742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25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3180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 complete decision-support loop from raw sensor data to crew dispatch, explainable at every step.</a:t>
            </a:r>
            <a:endParaRPr lang="en-US"/>
          </a:p>
        </p:txBody>
      </p:sp>
      <p:sp>
        <p:nvSpPr>
          <p:cNvPr id="1041095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681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8361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composite risk score is the core differentiator — probability alone misranks the work.</a:t>
            </a:r>
            <a:endParaRPr lang="en-US"/>
          </a:p>
        </p:txBody>
      </p:sp>
      <p:sp>
        <p:nvSpPr>
          <p:cNvPr id="2145665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286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1475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Layered architecture with a stable prediction contract at the seam.</a:t>
            </a:r>
            <a:endParaRPr lang="en-US"/>
          </a:p>
        </p:txBody>
      </p:sp>
      <p:sp>
        <p:nvSpPr>
          <p:cNvPr id="1090210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18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Drill into any asset for its full risk decomposition and nearest crews.</a:t>
            </a:r>
            <a:endParaRPr lang="en-US"/>
          </a:p>
        </p:txBody>
      </p:sp>
      <p:sp>
        <p:nvSpPr>
          <p:cNvPr id="84499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97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261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TR-1042 sits at Priority #1 with an immediate action recommendation.</a:t>
            </a:r>
            <a:endParaRPr lang="en-US"/>
          </a:p>
        </p:txBody>
      </p:sp>
      <p:sp>
        <p:nvSpPr>
          <p:cNvPr id="1237957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24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254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Maintenance ranking and crew planning are two views of one risk score.</a:t>
            </a:r>
            <a:endParaRPr lang="en-US"/>
          </a:p>
        </p:txBody>
      </p:sp>
      <p:sp>
        <p:nvSpPr>
          <p:cNvPr id="1564057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58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7208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Scenario simulation proves the loop is live, not a static report.</a:t>
            </a:r>
            <a:endParaRPr lang="en-US"/>
          </a:p>
        </p:txBody>
      </p:sp>
      <p:sp>
        <p:nvSpPr>
          <p:cNvPr id="1126360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875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743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ML seam keeps the demo bootable with or without trained models.</a:t>
            </a:r>
            <a:endParaRPr lang="en-US"/>
          </a:p>
        </p:txBody>
      </p:sp>
      <p:sp>
        <p:nvSpPr>
          <p:cNvPr id="1012993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599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4764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Grounding is what makes the explanation trustworthy to an operator.</a:t>
            </a:r>
            <a:endParaRPr lang="en-US"/>
          </a:p>
        </p:txBody>
      </p:sp>
      <p:sp>
        <p:nvSpPr>
          <p:cNvPr id="1685119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961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1525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Hardware readiness plus SMTP dispatch notifications close the loop to the field.</a:t>
            </a:r>
            <a:endParaRPr lang="en-US"/>
          </a:p>
        </p:txBody>
      </p:sp>
      <p:sp>
        <p:nvSpPr>
          <p:cNvPr id="1338153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AA9C9F-9BA4-FFD7-8C03-0A64DEB2AA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11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2413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Bob log is in docs/BOB_ENGINEERING_LOG.md. Roadmap moves from synthetic to live infrastructure.</a:t>
            </a:r>
            <a:endParaRPr lang="en-US"/>
          </a:p>
        </p:txBody>
      </p:sp>
      <p:sp>
        <p:nvSpPr>
          <p:cNvPr id="2006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249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2937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Hardware readiness plus SMTP dispatch notifications close the loop to the field.</a:t>
            </a:r>
            <a:endParaRPr lang="en-US"/>
          </a:p>
        </p:txBody>
      </p:sp>
      <p:sp>
        <p:nvSpPr>
          <p:cNvPr id="1427553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0E3652-1DD1-97E7-3C9E-5BFA539DFE65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255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439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Close and open the floor for questions.</a:t>
            </a:r>
            <a:endParaRPr lang="en-US"/>
          </a:p>
        </p:txBody>
      </p:sp>
      <p:sp>
        <p:nvSpPr>
          <p:cNvPr id="1285700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599244" name="Shape 0"/>
          <p:cNvSpPr/>
          <p:nvPr/>
        </p:nvSpPr>
        <p:spPr bwMode="auto">
          <a:xfrm>
            <a:off x="-2377440" y="-2194560"/>
            <a:ext cx="6766560" cy="6766560"/>
          </a:xfrm>
          <a:prstGeom prst="ellipse">
            <a:avLst/>
          </a:prstGeom>
          <a:solidFill>
            <a:srgbClr val="F2F5FD"/>
          </a:solidFill>
          <a:ln w="12700">
            <a:solidFill>
              <a:srgbClr val="F2F5FD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89200876" name="Shape 1"/>
          <p:cNvSpPr/>
          <p:nvPr/>
        </p:nvSpPr>
        <p:spPr bwMode="auto">
          <a:xfrm>
            <a:off x="9052560" y="3749040"/>
            <a:ext cx="4754880" cy="4754880"/>
          </a:xfrm>
          <a:prstGeom prst="ellipse">
            <a:avLst/>
          </a:prstGeom>
          <a:solidFill>
            <a:srgbClr val="F6F8FE"/>
          </a:solidFill>
          <a:ln w="12700">
            <a:solidFill>
              <a:srgbClr val="F6F8FE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4816747" name="Shape 2"/>
          <p:cNvSpPr/>
          <p:nvPr/>
        </p:nvSpPr>
        <p:spPr bwMode="auto">
          <a:xfrm>
            <a:off x="731520" y="56692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1868110" name="Text 3"/>
          <p:cNvSpPr txBox="1"/>
          <p:nvPr/>
        </p:nvSpPr>
        <p:spPr bwMode="auto">
          <a:xfrm>
            <a:off x="731520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FFFFFF"/>
                </a:solidFill>
              </a:rPr>
              <a:t>⚡</a:t>
            </a:r>
            <a:endParaRPr lang="en-US" sz="1500"/>
          </a:p>
        </p:txBody>
      </p:sp>
      <p:sp>
        <p:nvSpPr>
          <p:cNvPr id="1303156702" name="Text 4"/>
          <p:cNvSpPr txBox="1"/>
          <p:nvPr/>
        </p:nvSpPr>
        <p:spPr bwMode="auto">
          <a:xfrm>
            <a:off x="1207008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TEAM BOTTLENECK</a:t>
            </a:r>
            <a:endParaRPr lang="en-US" sz="1100"/>
          </a:p>
        </p:txBody>
      </p:sp>
      <p:sp>
        <p:nvSpPr>
          <p:cNvPr id="1285185052" name="Shape 5"/>
          <p:cNvSpPr/>
          <p:nvPr/>
        </p:nvSpPr>
        <p:spPr bwMode="auto">
          <a:xfrm>
            <a:off x="731520" y="1389888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70139230" name="Text 6"/>
          <p:cNvSpPr txBox="1"/>
          <p:nvPr/>
        </p:nvSpPr>
        <p:spPr bwMode="auto">
          <a:xfrm>
            <a:off x="731520" y="1389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IBM Bob Hackathon 2026  ·  Track U1</a:t>
            </a:r>
            <a:endParaRPr lang="en-US" sz="1050"/>
          </a:p>
        </p:txBody>
      </p:sp>
      <p:sp>
        <p:nvSpPr>
          <p:cNvPr id="178019468" name="Text 7"/>
          <p:cNvSpPr txBox="1"/>
          <p:nvPr/>
        </p:nvSpPr>
        <p:spPr bwMode="auto">
          <a:xfrm>
            <a:off x="731520" y="184708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5400"/>
          </a:p>
        </p:txBody>
      </p:sp>
      <p:sp>
        <p:nvSpPr>
          <p:cNvPr id="1902584677" name="Text 8"/>
          <p:cNvSpPr txBox="1"/>
          <p:nvPr/>
        </p:nvSpPr>
        <p:spPr bwMode="auto">
          <a:xfrm>
            <a:off x="731520" y="276148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Power Outage Prediction &amp;</a:t>
            </a:r>
            <a:endParaRPr lang="en-US" sz="2200"/>
          </a:p>
          <a:p>
            <a:pPr marL="0" indent="0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Grid Equipment Failure Advisor</a:t>
            </a:r>
            <a:endParaRPr lang="en-US" sz="2200"/>
          </a:p>
        </p:txBody>
      </p:sp>
      <p:sp>
        <p:nvSpPr>
          <p:cNvPr id="1634740034" name="Text 9"/>
          <p:cNvSpPr txBox="1"/>
          <p:nvPr/>
        </p:nvSpPr>
        <p:spPr bwMode="auto">
          <a:xfrm>
            <a:off x="731520" y="373075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Predict which grid equipment fails in the next 24–72 hours, explain why, rank it by real operational impact, and put the right crew on site before the lights go out.</a:t>
            </a:r>
            <a:endParaRPr lang="en-US" sz="1250"/>
          </a:p>
        </p:txBody>
      </p:sp>
      <p:sp>
        <p:nvSpPr>
          <p:cNvPr id="472079107" name="Text 10"/>
          <p:cNvSpPr txBox="1"/>
          <p:nvPr/>
        </p:nvSpPr>
        <p:spPr bwMode="auto">
          <a:xfrm>
            <a:off x="731520" y="4645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8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THE TEAM</a:t>
            </a:r>
            <a:endParaRPr lang="en-US" sz="950"/>
          </a:p>
        </p:txBody>
      </p:sp>
      <p:sp>
        <p:nvSpPr>
          <p:cNvPr id="2006456785" name="Shape 11"/>
          <p:cNvSpPr/>
          <p:nvPr/>
        </p:nvSpPr>
        <p:spPr bwMode="auto">
          <a:xfrm>
            <a:off x="731520" y="4974336"/>
            <a:ext cx="603504" cy="603504"/>
          </a:xfrm>
          <a:prstGeom prst="ellipse">
            <a:avLst/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18536436" name="Text 12"/>
          <p:cNvSpPr txBox="1"/>
          <p:nvPr/>
        </p:nvSpPr>
        <p:spPr bwMode="auto">
          <a:xfrm>
            <a:off x="731520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</a:t>
            </a:r>
            <a:endParaRPr lang="en-US" sz="1400"/>
          </a:p>
        </p:txBody>
      </p:sp>
      <p:sp>
        <p:nvSpPr>
          <p:cNvPr id="1007425603" name="Text 13"/>
          <p:cNvSpPr txBox="1"/>
          <p:nvPr/>
        </p:nvSpPr>
        <p:spPr bwMode="auto">
          <a:xfrm>
            <a:off x="530352" y="5632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Urval Kheni</a:t>
            </a:r>
            <a:endParaRPr lang="en-US" sz="950"/>
          </a:p>
        </p:txBody>
      </p:sp>
      <p:sp>
        <p:nvSpPr>
          <p:cNvPr id="669456717" name="Text 14"/>
          <p:cNvSpPr txBox="1"/>
          <p:nvPr/>
        </p:nvSpPr>
        <p:spPr bwMode="auto">
          <a:xfrm>
            <a:off x="530352" y="5852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Team Lead</a:t>
            </a:r>
            <a:endParaRPr lang="en-US" sz="850"/>
          </a:p>
        </p:txBody>
      </p:sp>
      <p:sp>
        <p:nvSpPr>
          <p:cNvPr id="1667376794" name="Shape 15"/>
          <p:cNvSpPr/>
          <p:nvPr/>
        </p:nvSpPr>
        <p:spPr bwMode="auto">
          <a:xfrm>
            <a:off x="2304288" y="4974336"/>
            <a:ext cx="603504" cy="603504"/>
          </a:xfrm>
          <a:prstGeom prst="ellipse">
            <a:avLst/>
          </a:prstGeom>
          <a:solidFill>
            <a:srgbClr val="E9EFFD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23583524" name="Text 16"/>
          <p:cNvSpPr txBox="1"/>
          <p:nvPr/>
        </p:nvSpPr>
        <p:spPr bwMode="auto">
          <a:xfrm>
            <a:off x="2304288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DV</a:t>
            </a:r>
            <a:endParaRPr lang="en-US" sz="1400"/>
          </a:p>
        </p:txBody>
      </p:sp>
      <p:sp>
        <p:nvSpPr>
          <p:cNvPr id="679464667" name="Text 17"/>
          <p:cNvSpPr txBox="1"/>
          <p:nvPr/>
        </p:nvSpPr>
        <p:spPr bwMode="auto">
          <a:xfrm>
            <a:off x="2103120" y="5632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Dhruvin Vaghasiya</a:t>
            </a:r>
            <a:endParaRPr lang="en-US" sz="950"/>
          </a:p>
        </p:txBody>
      </p:sp>
      <p:sp>
        <p:nvSpPr>
          <p:cNvPr id="2063364002" name="Text 18"/>
          <p:cNvSpPr txBox="1"/>
          <p:nvPr/>
        </p:nvSpPr>
        <p:spPr bwMode="auto">
          <a:xfrm>
            <a:off x="2103120" y="5852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Engineer</a:t>
            </a:r>
            <a:endParaRPr lang="en-US" sz="850"/>
          </a:p>
        </p:txBody>
      </p:sp>
      <p:sp>
        <p:nvSpPr>
          <p:cNvPr id="281780395" name="Shape 19"/>
          <p:cNvSpPr/>
          <p:nvPr/>
        </p:nvSpPr>
        <p:spPr bwMode="auto">
          <a:xfrm>
            <a:off x="3877056" y="4974336"/>
            <a:ext cx="603504" cy="603504"/>
          </a:xfrm>
          <a:prstGeom prst="ellipse">
            <a:avLst/>
          </a:prstGeom>
          <a:solidFill>
            <a:srgbClr val="E9EFFD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53266569" name="Text 20"/>
          <p:cNvSpPr txBox="1"/>
          <p:nvPr/>
        </p:nvSpPr>
        <p:spPr bwMode="auto">
          <a:xfrm>
            <a:off x="3877056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HM</a:t>
            </a:r>
            <a:endParaRPr lang="en-US" sz="1400"/>
          </a:p>
        </p:txBody>
      </p:sp>
      <p:sp>
        <p:nvSpPr>
          <p:cNvPr id="44548739" name="Text 21"/>
          <p:cNvSpPr txBox="1"/>
          <p:nvPr/>
        </p:nvSpPr>
        <p:spPr bwMode="auto">
          <a:xfrm>
            <a:off x="3675888" y="5632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Heet Mehta</a:t>
            </a:r>
            <a:endParaRPr lang="en-US" sz="950"/>
          </a:p>
        </p:txBody>
      </p:sp>
      <p:sp>
        <p:nvSpPr>
          <p:cNvPr id="308314863" name="Text 22"/>
          <p:cNvSpPr txBox="1"/>
          <p:nvPr/>
        </p:nvSpPr>
        <p:spPr bwMode="auto">
          <a:xfrm>
            <a:off x="3675888" y="5852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Engineer</a:t>
            </a:r>
            <a:endParaRPr lang="en-US" sz="850"/>
          </a:p>
        </p:txBody>
      </p:sp>
      <p:sp>
        <p:nvSpPr>
          <p:cNvPr id="1039085775" name="Shape 23"/>
          <p:cNvSpPr/>
          <p:nvPr/>
        </p:nvSpPr>
        <p:spPr bwMode="auto">
          <a:xfrm>
            <a:off x="5449823" y="4974336"/>
            <a:ext cx="603504" cy="603504"/>
          </a:xfrm>
          <a:prstGeom prst="ellipse">
            <a:avLst/>
          </a:prstGeom>
          <a:solidFill>
            <a:srgbClr val="E9EFFD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03042899" name="Text 24"/>
          <p:cNvSpPr txBox="1"/>
          <p:nvPr/>
        </p:nvSpPr>
        <p:spPr bwMode="auto">
          <a:xfrm>
            <a:off x="5449823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KP</a:t>
            </a:r>
            <a:endParaRPr lang="en-US" sz="1400"/>
          </a:p>
        </p:txBody>
      </p:sp>
      <p:sp>
        <p:nvSpPr>
          <p:cNvPr id="1164584711" name="Text 25"/>
          <p:cNvSpPr txBox="1"/>
          <p:nvPr/>
        </p:nvSpPr>
        <p:spPr bwMode="auto">
          <a:xfrm>
            <a:off x="5248656" y="5632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Krish Patel</a:t>
            </a:r>
            <a:endParaRPr lang="en-US" sz="950"/>
          </a:p>
        </p:txBody>
      </p:sp>
      <p:sp>
        <p:nvSpPr>
          <p:cNvPr id="1350634975" name="Text 26"/>
          <p:cNvSpPr txBox="1"/>
          <p:nvPr/>
        </p:nvSpPr>
        <p:spPr bwMode="auto">
          <a:xfrm>
            <a:off x="5248656" y="5852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Engineer</a:t>
            </a:r>
            <a:endParaRPr lang="en-US" sz="850"/>
          </a:p>
        </p:txBody>
      </p:sp>
      <p:pic>
        <p:nvPicPr>
          <p:cNvPr id="1884262094" name="Image 0" descr="shots/her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60920" y="1389888"/>
            <a:ext cx="4160519" cy="1764792"/>
          </a:xfrm>
          <a:prstGeom prst="rect">
            <a:avLst/>
          </a:prstGeom>
          <a:effectLst>
            <a:outerShdw blurRad="203200" dist="50800" dir="5400000" sx="100000" sy="100000" kx="0" ky="0" algn="bl" rotWithShape="0">
              <a:srgbClr val="8C97AD">
                <a:alpha val="40000"/>
              </a:srgbClr>
            </a:outerShdw>
          </a:effectLst>
        </p:spPr>
      </p:pic>
      <p:pic>
        <p:nvPicPr>
          <p:cNvPr id="449541772" name="Image 1" descr="shots/comman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60920" y="3346704"/>
            <a:ext cx="4160519" cy="1947671"/>
          </a:xfrm>
          <a:prstGeom prst="rect">
            <a:avLst/>
          </a:prstGeom>
          <a:effectLst>
            <a:outerShdw blurRad="203200" dist="50800" dir="5400000" sx="100000" sy="100000" kx="0" ky="0" algn="bl" rotWithShape="0">
              <a:srgbClr val="8C97AD">
                <a:alpha val="40000"/>
              </a:srgbClr>
            </a:outerShdw>
          </a:effectLst>
        </p:spPr>
      </p:pic>
      <p:sp>
        <p:nvSpPr>
          <p:cNvPr id="578888213" name="Text 27"/>
          <p:cNvSpPr txBox="1"/>
          <p:nvPr/>
        </p:nvSpPr>
        <p:spPr bwMode="auto">
          <a:xfrm>
            <a:off x="7360920" y="5413248"/>
            <a:ext cx="4160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Live product — marketing site + operator command center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154448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5408564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823883101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523840225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 sz="950"/>
          </a:p>
        </p:txBody>
      </p:sp>
      <p:sp>
        <p:nvSpPr>
          <p:cNvPr id="671609800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31792308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000"/>
          </a:p>
        </p:txBody>
      </p:sp>
      <p:sp>
        <p:nvSpPr>
          <p:cNvPr id="488982963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Utilities lose billions to failures they never saw coming</a:t>
            </a:r>
            <a:endParaRPr lang="en-US" sz="3400"/>
          </a:p>
        </p:txBody>
      </p:sp>
      <p:sp>
        <p:nvSpPr>
          <p:cNvPr id="670060761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Transformer failure is the #1 cause of outages — and today it is discovered only after the power is already gone.</a:t>
            </a:r>
            <a:endParaRPr lang="en-US" sz="1400"/>
          </a:p>
        </p:txBody>
      </p:sp>
      <p:sp>
        <p:nvSpPr>
          <p:cNvPr id="738330923" name="Shape 8"/>
          <p:cNvSpPr/>
          <p:nvPr/>
        </p:nvSpPr>
        <p:spPr bwMode="auto">
          <a:xfrm>
            <a:off x="685800" y="2212848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83527039" name="Text 9"/>
          <p:cNvSpPr txBox="1"/>
          <p:nvPr/>
        </p:nvSpPr>
        <p:spPr bwMode="auto">
          <a:xfrm>
            <a:off x="886968" y="237744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8511F"/>
                </a:solidFill>
                <a:latin typeface="Calibri"/>
                <a:ea typeface="Calibri"/>
                <a:cs typeface="Calibri"/>
              </a:rPr>
              <a:t>$0.5B+</a:t>
            </a:r>
            <a:endParaRPr lang="en-US" sz="3000"/>
          </a:p>
        </p:txBody>
      </p:sp>
      <p:sp>
        <p:nvSpPr>
          <p:cNvPr id="274434146" name="Text 10"/>
          <p:cNvSpPr txBox="1"/>
          <p:nvPr/>
        </p:nvSpPr>
        <p:spPr bwMode="auto">
          <a:xfrm>
            <a:off x="886968" y="2907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Lost annually to preventable equipment failures</a:t>
            </a:r>
            <a:endParaRPr lang="en-US" sz="1150"/>
          </a:p>
        </p:txBody>
      </p:sp>
      <p:sp>
        <p:nvSpPr>
          <p:cNvPr id="1600774908" name="Shape 11"/>
          <p:cNvSpPr/>
          <p:nvPr/>
        </p:nvSpPr>
        <p:spPr bwMode="auto">
          <a:xfrm>
            <a:off x="3483864" y="2212848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20141308" name="Text 12"/>
          <p:cNvSpPr txBox="1"/>
          <p:nvPr/>
        </p:nvSpPr>
        <p:spPr bwMode="auto">
          <a:xfrm>
            <a:off x="3685032" y="237744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1.4B</a:t>
            </a:r>
            <a:endParaRPr lang="en-US" sz="3000"/>
          </a:p>
        </p:txBody>
      </p:sp>
      <p:sp>
        <p:nvSpPr>
          <p:cNvPr id="1013675727" name="Text 13"/>
          <p:cNvSpPr txBox="1"/>
          <p:nvPr/>
        </p:nvSpPr>
        <p:spPr bwMode="auto">
          <a:xfrm>
            <a:off x="3685032" y="2907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People dependent on India's grid</a:t>
            </a:r>
            <a:endParaRPr lang="en-US" sz="1150"/>
          </a:p>
        </p:txBody>
      </p:sp>
      <p:sp>
        <p:nvSpPr>
          <p:cNvPr id="25575995" name="Shape 14"/>
          <p:cNvSpPr/>
          <p:nvPr/>
        </p:nvSpPr>
        <p:spPr bwMode="auto">
          <a:xfrm>
            <a:off x="6281928" y="2212848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76177884" name="Text 15"/>
          <p:cNvSpPr txBox="1"/>
          <p:nvPr/>
        </p:nvSpPr>
        <p:spPr bwMode="auto">
          <a:xfrm>
            <a:off x="6483096" y="237744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8511F"/>
                </a:solidFill>
                <a:latin typeface="Calibri"/>
                <a:ea typeface="Calibri"/>
                <a:cs typeface="Calibri"/>
              </a:rPr>
              <a:t>5–8h</a:t>
            </a:r>
            <a:endParaRPr lang="en-US" sz="3000"/>
          </a:p>
        </p:txBody>
      </p:sp>
      <p:sp>
        <p:nvSpPr>
          <p:cNvPr id="2140660205" name="Text 16"/>
          <p:cNvSpPr txBox="1"/>
          <p:nvPr/>
        </p:nvSpPr>
        <p:spPr bwMode="auto">
          <a:xfrm>
            <a:off x="6483096" y="2907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Average urban outage duration</a:t>
            </a:r>
            <a:endParaRPr lang="en-US" sz="1150"/>
          </a:p>
        </p:txBody>
      </p:sp>
      <p:sp>
        <p:nvSpPr>
          <p:cNvPr id="1263955107" name="Shape 17"/>
          <p:cNvSpPr/>
          <p:nvPr/>
        </p:nvSpPr>
        <p:spPr bwMode="auto">
          <a:xfrm>
            <a:off x="9079992" y="2212848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60783756" name="Text 18"/>
          <p:cNvSpPr txBox="1"/>
          <p:nvPr/>
        </p:nvSpPr>
        <p:spPr bwMode="auto">
          <a:xfrm>
            <a:off x="9281160" y="237744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#1</a:t>
            </a:r>
            <a:endParaRPr lang="en-US" sz="3000"/>
          </a:p>
        </p:txBody>
      </p:sp>
      <p:sp>
        <p:nvSpPr>
          <p:cNvPr id="2011524423" name="Text 19"/>
          <p:cNvSpPr txBox="1"/>
          <p:nvPr/>
        </p:nvSpPr>
        <p:spPr bwMode="auto">
          <a:xfrm>
            <a:off x="9281160" y="2907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Transformers as outage root cause</a:t>
            </a:r>
            <a:endParaRPr lang="en-US" sz="1150"/>
          </a:p>
        </p:txBody>
      </p:sp>
      <p:sp>
        <p:nvSpPr>
          <p:cNvPr id="1044934492" name="Shape 20"/>
          <p:cNvSpPr/>
          <p:nvPr/>
        </p:nvSpPr>
        <p:spPr bwMode="auto">
          <a:xfrm>
            <a:off x="685800" y="3767328"/>
            <a:ext cx="5358384" cy="1225296"/>
          </a:xfrm>
          <a:prstGeom prst="roundRect">
            <a:avLst>
              <a:gd name="adj" fmla="val 4478"/>
            </a:avLst>
          </a:prstGeom>
          <a:solidFill>
            <a:srgbClr val="FDF3F0"/>
          </a:solidFill>
          <a:ln w="12700">
            <a:solidFill>
              <a:srgbClr val="F7DED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97534651" name="Shape 21"/>
          <p:cNvSpPr/>
          <p:nvPr/>
        </p:nvSpPr>
        <p:spPr bwMode="auto">
          <a:xfrm>
            <a:off x="941832" y="4005072"/>
            <a:ext cx="402336" cy="402336"/>
          </a:xfrm>
          <a:prstGeom prst="ellipse">
            <a:avLst/>
          </a:prstGeom>
          <a:solidFill>
            <a:srgbClr val="E8511F"/>
          </a:solidFill>
          <a:ln w="12700">
            <a:solidFill>
              <a:srgbClr val="E8511F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10875766" name="Text 22"/>
          <p:cNvSpPr txBox="1"/>
          <p:nvPr/>
        </p:nvSpPr>
        <p:spPr bwMode="auto">
          <a:xfrm>
            <a:off x="94183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200"/>
          </a:p>
        </p:txBody>
      </p:sp>
      <p:sp>
        <p:nvSpPr>
          <p:cNvPr id="545887025" name="Text 23"/>
          <p:cNvSpPr txBox="1"/>
          <p:nvPr/>
        </p:nvSpPr>
        <p:spPr bwMode="auto">
          <a:xfrm>
            <a:off x="1453896" y="4014216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Maintenance is reactive</a:t>
            </a:r>
            <a:endParaRPr lang="en-US" sz="1450"/>
          </a:p>
        </p:txBody>
      </p:sp>
      <p:sp>
        <p:nvSpPr>
          <p:cNvPr id="1751691313" name="Text 24"/>
          <p:cNvSpPr txBox="1"/>
          <p:nvPr/>
        </p:nvSpPr>
        <p:spPr bwMode="auto">
          <a:xfrm>
            <a:off x="941832" y="4517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Crews are sent on fixed calendars to low-risk assets while critical transformers degrade silently in the field.</a:t>
            </a:r>
            <a:endParaRPr lang="en-US" sz="1150"/>
          </a:p>
        </p:txBody>
      </p:sp>
      <p:sp>
        <p:nvSpPr>
          <p:cNvPr id="12246029" name="Shape 25"/>
          <p:cNvSpPr/>
          <p:nvPr/>
        </p:nvSpPr>
        <p:spPr bwMode="auto">
          <a:xfrm>
            <a:off x="6281928" y="3767328"/>
            <a:ext cx="5358384" cy="1225296"/>
          </a:xfrm>
          <a:prstGeom prst="roundRect">
            <a:avLst>
              <a:gd name="adj" fmla="val 4478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98964403" name="Shape 26"/>
          <p:cNvSpPr/>
          <p:nvPr/>
        </p:nvSpPr>
        <p:spPr bwMode="auto">
          <a:xfrm>
            <a:off x="6537960" y="4005072"/>
            <a:ext cx="402336" cy="402336"/>
          </a:xfrm>
          <a:prstGeom prst="ellipse">
            <a:avLst/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63868998" name="Text 27"/>
          <p:cNvSpPr txBox="1"/>
          <p:nvPr/>
        </p:nvSpPr>
        <p:spPr bwMode="auto">
          <a:xfrm>
            <a:off x="653796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762525363" name="Text 28"/>
          <p:cNvSpPr txBox="1"/>
          <p:nvPr/>
        </p:nvSpPr>
        <p:spPr bwMode="auto">
          <a:xfrm>
            <a:off x="7050024" y="4014216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Existing tools predict probability only</a:t>
            </a:r>
            <a:endParaRPr lang="en-US" sz="1450"/>
          </a:p>
        </p:txBody>
      </p:sp>
      <p:sp>
        <p:nvSpPr>
          <p:cNvPr id="1079459749" name="Text 29"/>
          <p:cNvSpPr txBox="1"/>
          <p:nvPr/>
        </p:nvSpPr>
        <p:spPr bwMode="auto">
          <a:xfrm>
            <a:off x="6537960" y="4517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They answer "will it fail?" but never "does it matter?" — ignoring how many customers and critical facilities go dark.</a:t>
            </a:r>
            <a:endParaRPr lang="en-US" sz="1150"/>
          </a:p>
        </p:txBody>
      </p:sp>
      <p:sp>
        <p:nvSpPr>
          <p:cNvPr id="1495324942" name="Shape 30"/>
          <p:cNvSpPr/>
          <p:nvPr/>
        </p:nvSpPr>
        <p:spPr bwMode="auto">
          <a:xfrm>
            <a:off x="685800" y="5230368"/>
            <a:ext cx="10954511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F3E2B8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58222251" name="Text 31"/>
          <p:cNvSpPr txBox="1"/>
          <p:nvPr/>
        </p:nvSpPr>
        <p:spPr bwMode="auto">
          <a:xfrm>
            <a:off x="960120" y="523036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7A5A12"/>
                </a:solidFill>
                <a:latin typeface="Calibri"/>
                <a:ea typeface="Calibri"/>
                <a:cs typeface="Calibri"/>
              </a:rPr>
              <a:t>The result: unnecessary outages, delayed restoration, and life-safety risk for hospitals, emergency services, and water treatment plants.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936620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52288181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422716691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246146708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ROOT CAUSE</a:t>
            </a:r>
            <a:endParaRPr lang="en-US" sz="950"/>
          </a:p>
        </p:txBody>
      </p:sp>
      <p:sp>
        <p:nvSpPr>
          <p:cNvPr id="1066266078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79843576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/>
          </a:p>
        </p:txBody>
      </p:sp>
      <p:sp>
        <p:nvSpPr>
          <p:cNvPr id="1438179866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Three gaps keep operators one step behind</a:t>
            </a:r>
            <a:endParaRPr lang="en-US" sz="3400"/>
          </a:p>
        </p:txBody>
      </p:sp>
      <p:sp>
        <p:nvSpPr>
          <p:cNvPr id="1593676465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Every one of them is a data problem before it is an engineering problem.</a:t>
            </a:r>
            <a:endParaRPr lang="en-US" sz="1400"/>
          </a:p>
        </p:txBody>
      </p:sp>
      <p:sp>
        <p:nvSpPr>
          <p:cNvPr id="704687134" name="Shape 8"/>
          <p:cNvSpPr/>
          <p:nvPr/>
        </p:nvSpPr>
        <p:spPr bwMode="auto">
          <a:xfrm>
            <a:off x="685800" y="22860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10039890" name="Shape 9"/>
          <p:cNvSpPr/>
          <p:nvPr/>
        </p:nvSpPr>
        <p:spPr bwMode="auto">
          <a:xfrm>
            <a:off x="941832" y="2523744"/>
            <a:ext cx="402336" cy="402336"/>
          </a:xfrm>
          <a:prstGeom prst="ellipse">
            <a:avLst/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53265727" name="Text 10"/>
          <p:cNvSpPr txBox="1"/>
          <p:nvPr/>
        </p:nvSpPr>
        <p:spPr bwMode="auto">
          <a:xfrm>
            <a:off x="941832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200"/>
          </a:p>
        </p:txBody>
      </p:sp>
      <p:sp>
        <p:nvSpPr>
          <p:cNvPr id="588355260" name="Text 11"/>
          <p:cNvSpPr txBox="1"/>
          <p:nvPr/>
        </p:nvSpPr>
        <p:spPr bwMode="auto">
          <a:xfrm>
            <a:off x="1453896" y="25328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Siloed data</a:t>
            </a:r>
            <a:endParaRPr lang="en-US" sz="1450"/>
          </a:p>
        </p:txBody>
      </p:sp>
      <p:sp>
        <p:nvSpPr>
          <p:cNvPr id="749588213" name="Text 12"/>
          <p:cNvSpPr txBox="1"/>
          <p:nvPr/>
        </p:nvSpPr>
        <p:spPr bwMode="auto">
          <a:xfrm>
            <a:off x="941832" y="3035808"/>
            <a:ext cx="30083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Telemetry, weather forecasts, and incident history live in separate systems that never meet. No unified view of risk exists anywhere in the control room.</a:t>
            </a:r>
            <a:endParaRPr lang="en-US" sz="1150"/>
          </a:p>
        </p:txBody>
      </p:sp>
      <p:sp>
        <p:nvSpPr>
          <p:cNvPr id="69319995" name="Shape 13"/>
          <p:cNvSpPr/>
          <p:nvPr/>
        </p:nvSpPr>
        <p:spPr bwMode="auto">
          <a:xfrm>
            <a:off x="4425696" y="22860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40619439" name="Shape 14"/>
          <p:cNvSpPr/>
          <p:nvPr/>
        </p:nvSpPr>
        <p:spPr bwMode="auto">
          <a:xfrm>
            <a:off x="4681728" y="2523744"/>
            <a:ext cx="402336" cy="402336"/>
          </a:xfrm>
          <a:prstGeom prst="ellipse">
            <a:avLst/>
          </a:prstGeom>
          <a:solidFill>
            <a:srgbClr val="6C4BD6"/>
          </a:solidFill>
          <a:ln w="12700">
            <a:solidFill>
              <a:srgbClr val="6C4B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66540128" name="Text 15"/>
          <p:cNvSpPr txBox="1"/>
          <p:nvPr/>
        </p:nvSpPr>
        <p:spPr bwMode="auto">
          <a:xfrm>
            <a:off x="4681728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200"/>
          </a:p>
        </p:txBody>
      </p:sp>
      <p:sp>
        <p:nvSpPr>
          <p:cNvPr id="1455843631" name="Text 16"/>
          <p:cNvSpPr txBox="1"/>
          <p:nvPr/>
        </p:nvSpPr>
        <p:spPr bwMode="auto">
          <a:xfrm>
            <a:off x="5193792" y="25328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No downstream-impact awareness</a:t>
            </a:r>
            <a:endParaRPr lang="en-US" sz="1450"/>
          </a:p>
        </p:txBody>
      </p:sp>
      <p:sp>
        <p:nvSpPr>
          <p:cNvPr id="593674814" name="Text 17"/>
          <p:cNvSpPr txBox="1"/>
          <p:nvPr/>
        </p:nvSpPr>
        <p:spPr bwMode="auto">
          <a:xfrm>
            <a:off x="4681728" y="3035808"/>
            <a:ext cx="30083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Nothing answers the only question that matters to a dispatcher: if this asset fails, who actually loses power — and is a hospital on that feeder?</a:t>
            </a:r>
            <a:endParaRPr lang="en-US" sz="1150"/>
          </a:p>
        </p:txBody>
      </p:sp>
      <p:sp>
        <p:nvSpPr>
          <p:cNvPr id="2067187998" name="Shape 18"/>
          <p:cNvSpPr/>
          <p:nvPr/>
        </p:nvSpPr>
        <p:spPr bwMode="auto">
          <a:xfrm>
            <a:off x="8165592" y="22860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7782403" name="Shape 19"/>
          <p:cNvSpPr/>
          <p:nvPr/>
        </p:nvSpPr>
        <p:spPr bwMode="auto">
          <a:xfrm>
            <a:off x="8421624" y="2523744"/>
            <a:ext cx="402336" cy="402336"/>
          </a:xfrm>
          <a:prstGeom prst="ellipse">
            <a:avLst/>
          </a:prstGeom>
          <a:solidFill>
            <a:srgbClr val="E8511F"/>
          </a:solidFill>
          <a:ln w="12700">
            <a:solidFill>
              <a:srgbClr val="E8511F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59811832" name="Text 20"/>
          <p:cNvSpPr txBox="1"/>
          <p:nvPr/>
        </p:nvSpPr>
        <p:spPr bwMode="auto">
          <a:xfrm>
            <a:off x="8421624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200"/>
          </a:p>
        </p:txBody>
      </p:sp>
      <p:sp>
        <p:nvSpPr>
          <p:cNvPr id="400045637" name="Text 21"/>
          <p:cNvSpPr txBox="1"/>
          <p:nvPr/>
        </p:nvSpPr>
        <p:spPr bwMode="auto">
          <a:xfrm>
            <a:off x="8933688" y="25328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Reactive dispatch</a:t>
            </a:r>
            <a:endParaRPr lang="en-US" sz="1450"/>
          </a:p>
        </p:txBody>
      </p:sp>
      <p:sp>
        <p:nvSpPr>
          <p:cNvPr id="2143690585" name="Text 22"/>
          <p:cNvSpPr txBox="1"/>
          <p:nvPr/>
        </p:nvSpPr>
        <p:spPr bwMode="auto">
          <a:xfrm>
            <a:off x="8421624" y="3035808"/>
            <a:ext cx="30083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Crews roll out after the outage starts. Nobody is pre-positioned near the assets most likely to fail in the next few hours.</a:t>
            </a:r>
            <a:endParaRPr lang="en-US" sz="1150"/>
          </a:p>
        </p:txBody>
      </p:sp>
      <p:sp>
        <p:nvSpPr>
          <p:cNvPr id="737788474" name="Shape 23"/>
          <p:cNvSpPr/>
          <p:nvPr/>
        </p:nvSpPr>
        <p:spPr bwMode="auto">
          <a:xfrm>
            <a:off x="685800" y="4572000"/>
            <a:ext cx="10954511" cy="1051560"/>
          </a:xfrm>
          <a:prstGeom prst="roundRect">
            <a:avLst>
              <a:gd name="adj" fmla="val 5217"/>
            </a:avLst>
          </a:prstGeom>
          <a:solidFill>
            <a:srgbClr val="F2F6FF"/>
          </a:solidFill>
          <a:ln w="12700">
            <a:solidFill>
              <a:srgbClr val="D9E3FA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47426883" name="Text 24"/>
          <p:cNvSpPr txBox="1"/>
          <p:nvPr/>
        </p:nvSpPr>
        <p:spPr bwMode="auto">
          <a:xfrm>
            <a:off x="96012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Our thesis</a:t>
            </a:r>
            <a:endParaRPr lang="en-US" sz="1300"/>
          </a:p>
        </p:txBody>
      </p:sp>
      <p:sp>
        <p:nvSpPr>
          <p:cNvPr id="1383522817" name="Text 25"/>
          <p:cNvSpPr txBox="1"/>
          <p:nvPr/>
        </p:nvSpPr>
        <p:spPr bwMode="auto">
          <a:xfrm>
            <a:off x="960120" y="50200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Fix the three gaps at once — fuse the data, score real grid impact, and dispatch on that score — and prevention becomes an operational routine instead of a research project.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091394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14273661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601809445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253222268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THE SOLUTION</a:t>
            </a:r>
            <a:endParaRPr lang="en-US" sz="950"/>
          </a:p>
        </p:txBody>
      </p:sp>
      <p:sp>
        <p:nvSpPr>
          <p:cNvPr id="1647785958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56043535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000"/>
          </a:p>
        </p:txBody>
      </p:sp>
      <p:sp>
        <p:nvSpPr>
          <p:cNvPr id="676188449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PREDICT → EXPLAIN → PRIORITIZE → POSITION</a:t>
            </a:r>
            <a:endParaRPr lang="en-US" sz="3400"/>
          </a:p>
        </p:txBody>
      </p:sp>
      <p:sp>
        <p:nvSpPr>
          <p:cNvPr id="736592411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One platform: telemetry + weather + incident history → ranked decisions → crew on site before the outage.</a:t>
            </a:r>
            <a:endParaRPr lang="en-US" sz="1400"/>
          </a:p>
        </p:txBody>
      </p:sp>
      <p:sp>
        <p:nvSpPr>
          <p:cNvPr id="129631270" name="Shape 8"/>
          <p:cNvSpPr/>
          <p:nvPr/>
        </p:nvSpPr>
        <p:spPr bwMode="auto">
          <a:xfrm>
            <a:off x="685800" y="228600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2459451" name="Shape 9"/>
          <p:cNvSpPr/>
          <p:nvPr/>
        </p:nvSpPr>
        <p:spPr bwMode="auto">
          <a:xfrm>
            <a:off x="905256" y="2487168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64778208" name="Text 10"/>
          <p:cNvSpPr txBox="1"/>
          <p:nvPr/>
        </p:nvSpPr>
        <p:spPr bwMode="auto">
          <a:xfrm>
            <a:off x="905256" y="24871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</a:t>
            </a:r>
            <a:endParaRPr lang="en-US" sz="1050"/>
          </a:p>
        </p:txBody>
      </p:sp>
      <p:sp>
        <p:nvSpPr>
          <p:cNvPr id="359791099" name="Text 11"/>
          <p:cNvSpPr txBox="1"/>
          <p:nvPr/>
        </p:nvSpPr>
        <p:spPr bwMode="auto">
          <a:xfrm>
            <a:off x="2423160" y="2487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500"/>
          </a:p>
        </p:txBody>
      </p:sp>
      <p:sp>
        <p:nvSpPr>
          <p:cNvPr id="2009215737" name="Text 12"/>
          <p:cNvSpPr txBox="1"/>
          <p:nvPr/>
        </p:nvSpPr>
        <p:spPr bwMode="auto">
          <a:xfrm>
            <a:off x="905256" y="2907792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XGBoost forecasts 24h / 72h failure probability for every transformer, feeder, and breaker.</a:t>
            </a:r>
            <a:endParaRPr lang="en-US" sz="1100"/>
          </a:p>
        </p:txBody>
      </p:sp>
      <p:sp>
        <p:nvSpPr>
          <p:cNvPr id="1711051655" name="Text 13"/>
          <p:cNvSpPr txBox="1"/>
          <p:nvPr/>
        </p:nvSpPr>
        <p:spPr bwMode="auto">
          <a:xfrm>
            <a:off x="3282696" y="2907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500"/>
          </a:p>
        </p:txBody>
      </p:sp>
      <p:sp>
        <p:nvSpPr>
          <p:cNvPr id="1859133368" name="Shape 14"/>
          <p:cNvSpPr/>
          <p:nvPr/>
        </p:nvSpPr>
        <p:spPr bwMode="auto">
          <a:xfrm>
            <a:off x="3483864" y="228600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06554520" name="Shape 15"/>
          <p:cNvSpPr/>
          <p:nvPr/>
        </p:nvSpPr>
        <p:spPr bwMode="auto">
          <a:xfrm>
            <a:off x="3703320" y="2487168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6C4BD6"/>
          </a:solidFill>
          <a:ln w="12700">
            <a:solidFill>
              <a:srgbClr val="6C4B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56962241" name="Text 16"/>
          <p:cNvSpPr txBox="1"/>
          <p:nvPr/>
        </p:nvSpPr>
        <p:spPr bwMode="auto">
          <a:xfrm>
            <a:off x="3703320" y="24871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</a:t>
            </a:r>
            <a:endParaRPr lang="en-US" sz="1050"/>
          </a:p>
        </p:txBody>
      </p:sp>
      <p:sp>
        <p:nvSpPr>
          <p:cNvPr id="1433840519" name="Text 17"/>
          <p:cNvSpPr txBox="1"/>
          <p:nvPr/>
        </p:nvSpPr>
        <p:spPr bwMode="auto">
          <a:xfrm>
            <a:off x="5221224" y="2487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500"/>
          </a:p>
        </p:txBody>
      </p:sp>
      <p:sp>
        <p:nvSpPr>
          <p:cNvPr id="2109787344" name="Text 18"/>
          <p:cNvSpPr txBox="1"/>
          <p:nvPr/>
        </p:nvSpPr>
        <p:spPr bwMode="auto">
          <a:xfrm>
            <a:off x="3703320" y="2907792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A grounded AI copilot surfaces the exact drivers behind every score — never invented values.</a:t>
            </a:r>
            <a:endParaRPr lang="en-US" sz="1100"/>
          </a:p>
        </p:txBody>
      </p:sp>
      <p:sp>
        <p:nvSpPr>
          <p:cNvPr id="734747513" name="Text 19"/>
          <p:cNvSpPr txBox="1"/>
          <p:nvPr/>
        </p:nvSpPr>
        <p:spPr bwMode="auto">
          <a:xfrm>
            <a:off x="6080760" y="2907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500"/>
          </a:p>
        </p:txBody>
      </p:sp>
      <p:sp>
        <p:nvSpPr>
          <p:cNvPr id="1105580895" name="Shape 20"/>
          <p:cNvSpPr/>
          <p:nvPr/>
        </p:nvSpPr>
        <p:spPr bwMode="auto">
          <a:xfrm>
            <a:off x="6281928" y="228600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1317028" name="Shape 21"/>
          <p:cNvSpPr/>
          <p:nvPr/>
        </p:nvSpPr>
        <p:spPr bwMode="auto">
          <a:xfrm>
            <a:off x="6501384" y="2487168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E8511F"/>
          </a:solidFill>
          <a:ln w="12700">
            <a:solidFill>
              <a:srgbClr val="E8511F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60335727" name="Text 22"/>
          <p:cNvSpPr txBox="1"/>
          <p:nvPr/>
        </p:nvSpPr>
        <p:spPr bwMode="auto">
          <a:xfrm>
            <a:off x="6501384" y="24871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PRIORITIZE</a:t>
            </a:r>
            <a:endParaRPr lang="en-US" sz="1050"/>
          </a:p>
        </p:txBody>
      </p:sp>
      <p:sp>
        <p:nvSpPr>
          <p:cNvPr id="574026674" name="Text 23"/>
          <p:cNvSpPr txBox="1"/>
          <p:nvPr/>
        </p:nvSpPr>
        <p:spPr bwMode="auto">
          <a:xfrm>
            <a:off x="8019288" y="2487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500"/>
          </a:p>
        </p:txBody>
      </p:sp>
      <p:sp>
        <p:nvSpPr>
          <p:cNvPr id="944790617" name="Text 24"/>
          <p:cNvSpPr txBox="1"/>
          <p:nvPr/>
        </p:nvSpPr>
        <p:spPr bwMode="auto">
          <a:xfrm>
            <a:off x="6501384" y="2907792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A composite 0–100 risk score ranks work by operational consequence, not probability alone.</a:t>
            </a:r>
            <a:endParaRPr lang="en-US" sz="1100"/>
          </a:p>
        </p:txBody>
      </p:sp>
      <p:sp>
        <p:nvSpPr>
          <p:cNvPr id="2128288131" name="Text 25"/>
          <p:cNvSpPr txBox="1"/>
          <p:nvPr/>
        </p:nvSpPr>
        <p:spPr bwMode="auto">
          <a:xfrm>
            <a:off x="8878824" y="2907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500"/>
          </a:p>
        </p:txBody>
      </p:sp>
      <p:sp>
        <p:nvSpPr>
          <p:cNvPr id="1852786918" name="Shape 26"/>
          <p:cNvSpPr/>
          <p:nvPr/>
        </p:nvSpPr>
        <p:spPr bwMode="auto">
          <a:xfrm>
            <a:off x="9079992" y="228600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21337709" name="Shape 27"/>
          <p:cNvSpPr/>
          <p:nvPr/>
        </p:nvSpPr>
        <p:spPr bwMode="auto">
          <a:xfrm>
            <a:off x="9299448" y="2487168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86468451" name="Text 28"/>
          <p:cNvSpPr txBox="1"/>
          <p:nvPr/>
        </p:nvSpPr>
        <p:spPr bwMode="auto">
          <a:xfrm>
            <a:off x="9299448" y="24871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POSITION</a:t>
            </a:r>
            <a:endParaRPr lang="en-US" sz="1050"/>
          </a:p>
        </p:txBody>
      </p:sp>
      <p:sp>
        <p:nvSpPr>
          <p:cNvPr id="1495828385" name="Text 29"/>
          <p:cNvSpPr txBox="1"/>
          <p:nvPr/>
        </p:nvSpPr>
        <p:spPr bwMode="auto">
          <a:xfrm>
            <a:off x="10817352" y="2487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500"/>
          </a:p>
        </p:txBody>
      </p:sp>
      <p:sp>
        <p:nvSpPr>
          <p:cNvPr id="1728010758" name="Text 30"/>
          <p:cNvSpPr txBox="1"/>
          <p:nvPr/>
        </p:nvSpPr>
        <p:spPr bwMode="auto">
          <a:xfrm>
            <a:off x="9299448" y="2907792"/>
            <a:ext cx="2139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The crew planner matches specialty and distance, dispatching teams before the failure lands.</a:t>
            </a:r>
            <a:endParaRPr lang="en-US" sz="1100"/>
          </a:p>
        </p:txBody>
      </p:sp>
      <p:sp>
        <p:nvSpPr>
          <p:cNvPr id="417467098" name="Shape 31"/>
          <p:cNvSpPr/>
          <p:nvPr/>
        </p:nvSpPr>
        <p:spPr bwMode="auto">
          <a:xfrm>
            <a:off x="685800" y="4224528"/>
            <a:ext cx="10954511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26544349" name="Text 32"/>
          <p:cNvSpPr txBox="1"/>
          <p:nvPr/>
        </p:nvSpPr>
        <p:spPr bwMode="auto">
          <a:xfrm>
            <a:off x="960120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INPUTS</a:t>
            </a:r>
            <a:endParaRPr lang="en-US" sz="950"/>
          </a:p>
        </p:txBody>
      </p:sp>
      <p:sp>
        <p:nvSpPr>
          <p:cNvPr id="1813593119" name="Text 33"/>
          <p:cNvSpPr txBox="1"/>
          <p:nvPr/>
        </p:nvSpPr>
        <p:spPr bwMode="auto">
          <a:xfrm>
            <a:off x="960120" y="48828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Asset telemetry · weather forecasts · incident history · grid topology</a:t>
            </a:r>
            <a:endParaRPr lang="en-US" sz="1150"/>
          </a:p>
        </p:txBody>
      </p:sp>
      <p:sp>
        <p:nvSpPr>
          <p:cNvPr id="784995592" name="Text 34"/>
          <p:cNvSpPr txBox="1"/>
          <p:nvPr/>
        </p:nvSpPr>
        <p:spPr bwMode="auto">
          <a:xfrm>
            <a:off x="4206240" y="48280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837742516" name="Text 35"/>
          <p:cNvSpPr txBox="1"/>
          <p:nvPr/>
        </p:nvSpPr>
        <p:spPr bwMode="auto">
          <a:xfrm>
            <a:off x="4544568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6C4BD6"/>
                </a:solidFill>
                <a:latin typeface="Calibri"/>
                <a:ea typeface="Calibri"/>
                <a:cs typeface="Calibri"/>
              </a:rPr>
              <a:t>ENGINE</a:t>
            </a:r>
            <a:endParaRPr lang="en-US" sz="950"/>
          </a:p>
        </p:txBody>
      </p:sp>
      <p:sp>
        <p:nvSpPr>
          <p:cNvPr id="1804309683" name="Text 36"/>
          <p:cNvSpPr txBox="1"/>
          <p:nvPr/>
        </p:nvSpPr>
        <p:spPr bwMode="auto">
          <a:xfrm>
            <a:off x="4544568" y="48828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Failure probability → composite 0–100 risk → ranked maintenance queue</a:t>
            </a:r>
            <a:endParaRPr lang="en-US" sz="1150"/>
          </a:p>
        </p:txBody>
      </p:sp>
      <p:sp>
        <p:nvSpPr>
          <p:cNvPr id="1366118010" name="Text 37"/>
          <p:cNvSpPr txBox="1"/>
          <p:nvPr/>
        </p:nvSpPr>
        <p:spPr bwMode="auto">
          <a:xfrm>
            <a:off x="7790687" y="48280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383903188" name="Text 38"/>
          <p:cNvSpPr txBox="1"/>
          <p:nvPr/>
        </p:nvSpPr>
        <p:spPr bwMode="auto">
          <a:xfrm>
            <a:off x="8129016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1E8E5A"/>
                </a:solidFill>
                <a:latin typeface="Calibri"/>
                <a:ea typeface="Calibri"/>
                <a:cs typeface="Calibri"/>
              </a:rPr>
              <a:t>OUTPUT</a:t>
            </a:r>
            <a:endParaRPr lang="en-US" sz="950"/>
          </a:p>
        </p:txBody>
      </p:sp>
      <p:sp>
        <p:nvSpPr>
          <p:cNvPr id="1193952576" name="Text 39"/>
          <p:cNvSpPr txBox="1"/>
          <p:nvPr/>
        </p:nvSpPr>
        <p:spPr bwMode="auto">
          <a:xfrm>
            <a:off x="8129016" y="48828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The right crew, at the right asset, before the outage occurs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658535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8068989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027591555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466247718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KEY DIFFERENTIATOR</a:t>
            </a:r>
            <a:endParaRPr lang="en-US" sz="950"/>
          </a:p>
        </p:txBody>
      </p:sp>
      <p:sp>
        <p:nvSpPr>
          <p:cNvPr id="1537730707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03215328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/>
          </a:p>
        </p:txBody>
      </p:sp>
      <p:sp>
        <p:nvSpPr>
          <p:cNvPr id="1879654126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We score consequence, not just probability</a:t>
            </a:r>
            <a:endParaRPr lang="en-US" sz="3400"/>
          </a:p>
        </p:txBody>
      </p:sp>
      <p:sp>
        <p:nvSpPr>
          <p:cNvPr id="2029428711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Everyone else stops at "this might fail." We answer "and here is what it costs you."</a:t>
            </a:r>
            <a:endParaRPr lang="en-US" sz="1400"/>
          </a:p>
        </p:txBody>
      </p:sp>
      <p:sp>
        <p:nvSpPr>
          <p:cNvPr id="1833851654" name="Shape 8"/>
          <p:cNvSpPr/>
          <p:nvPr/>
        </p:nvSpPr>
        <p:spPr bwMode="auto">
          <a:xfrm>
            <a:off x="685800" y="2286000"/>
            <a:ext cx="10954511" cy="1024128"/>
          </a:xfrm>
          <a:prstGeom prst="roundRect">
            <a:avLst>
              <a:gd name="adj" fmla="val 5357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75402075" name="Text 9"/>
          <p:cNvSpPr txBox="1"/>
          <p:nvPr/>
        </p:nvSpPr>
        <p:spPr bwMode="auto">
          <a:xfrm>
            <a:off x="868680" y="2286000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Risk  =  Probability  ×  Grid Impact  ×  Weather  ×  Criticality  ×  (1 − Redundancy)</a:t>
            </a:r>
            <a:endParaRPr lang="en-US" sz="1600"/>
          </a:p>
        </p:txBody>
      </p:sp>
      <p:sp>
        <p:nvSpPr>
          <p:cNvPr id="1490093712" name="Shape 10"/>
          <p:cNvSpPr/>
          <p:nvPr/>
        </p:nvSpPr>
        <p:spPr bwMode="auto">
          <a:xfrm>
            <a:off x="685800" y="3529584"/>
            <a:ext cx="352044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05880858" name="Shape 11"/>
          <p:cNvSpPr/>
          <p:nvPr/>
        </p:nvSpPr>
        <p:spPr bwMode="auto">
          <a:xfrm>
            <a:off x="941832" y="3767328"/>
            <a:ext cx="402336" cy="402336"/>
          </a:xfrm>
          <a:prstGeom prst="ellipse">
            <a:avLst/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76128521" name="Text 12"/>
          <p:cNvSpPr txBox="1"/>
          <p:nvPr/>
        </p:nvSpPr>
        <p:spPr bwMode="auto">
          <a:xfrm>
            <a:off x="941832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★</a:t>
            </a:r>
            <a:endParaRPr lang="en-US" sz="1200"/>
          </a:p>
        </p:txBody>
      </p:sp>
      <p:sp>
        <p:nvSpPr>
          <p:cNvPr id="1099293665" name="Text 13"/>
          <p:cNvSpPr txBox="1"/>
          <p:nvPr/>
        </p:nvSpPr>
        <p:spPr bwMode="auto">
          <a:xfrm>
            <a:off x="1453896" y="37764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Impact-aware ranking</a:t>
            </a:r>
            <a:endParaRPr lang="en-US" sz="1450"/>
          </a:p>
        </p:txBody>
      </p:sp>
      <p:sp>
        <p:nvSpPr>
          <p:cNvPr id="337278300" name="Text 14"/>
          <p:cNvSpPr txBox="1"/>
          <p:nvPr/>
        </p:nvSpPr>
        <p:spPr bwMode="auto">
          <a:xfrm>
            <a:off x="941832" y="427939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Maintenance is ordered by customers affected and critical facilities at risk — 8,420 customers and 7 facilities put TR-1042 at Priority #1.</a:t>
            </a:r>
            <a:endParaRPr lang="en-US" sz="1150"/>
          </a:p>
        </p:txBody>
      </p:sp>
      <p:sp>
        <p:nvSpPr>
          <p:cNvPr id="1857131208" name="Shape 15"/>
          <p:cNvSpPr/>
          <p:nvPr/>
        </p:nvSpPr>
        <p:spPr bwMode="auto">
          <a:xfrm>
            <a:off x="4425696" y="3529584"/>
            <a:ext cx="352044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76387115" name="Shape 16"/>
          <p:cNvSpPr/>
          <p:nvPr/>
        </p:nvSpPr>
        <p:spPr bwMode="auto">
          <a:xfrm>
            <a:off x="4681728" y="3767328"/>
            <a:ext cx="402336" cy="402336"/>
          </a:xfrm>
          <a:prstGeom prst="ellipse">
            <a:avLst/>
          </a:prstGeom>
          <a:solidFill>
            <a:srgbClr val="E8511F"/>
          </a:solidFill>
          <a:ln w="12700">
            <a:solidFill>
              <a:srgbClr val="E8511F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19014034" name="Text 17"/>
          <p:cNvSpPr txBox="1"/>
          <p:nvPr/>
        </p:nvSpPr>
        <p:spPr bwMode="auto">
          <a:xfrm>
            <a:off x="4681728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⚑</a:t>
            </a:r>
            <a:endParaRPr lang="en-US" sz="1200"/>
          </a:p>
        </p:txBody>
      </p:sp>
      <p:sp>
        <p:nvSpPr>
          <p:cNvPr id="1028367155" name="Text 18"/>
          <p:cNvSpPr txBox="1"/>
          <p:nvPr/>
        </p:nvSpPr>
        <p:spPr bwMode="auto">
          <a:xfrm>
            <a:off x="5193792" y="37764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Crew matching in 2 clicks</a:t>
            </a:r>
            <a:endParaRPr lang="en-US" sz="1450"/>
          </a:p>
        </p:txBody>
      </p:sp>
      <p:sp>
        <p:nvSpPr>
          <p:cNvPr id="947516846" name="Text 19"/>
          <p:cNvSpPr txBox="1"/>
          <p:nvPr/>
        </p:nvSpPr>
        <p:spPr bwMode="auto">
          <a:xfrm>
            <a:off x="4681728" y="427939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Teams are ranked by specialty match plus haversine distance and ETA, then assigned straight from the asset map.</a:t>
            </a:r>
            <a:endParaRPr lang="en-US" sz="1150"/>
          </a:p>
        </p:txBody>
      </p:sp>
      <p:sp>
        <p:nvSpPr>
          <p:cNvPr id="506361227" name="Shape 20"/>
          <p:cNvSpPr/>
          <p:nvPr/>
        </p:nvSpPr>
        <p:spPr bwMode="auto">
          <a:xfrm>
            <a:off x="8165592" y="3529584"/>
            <a:ext cx="352044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84724496" name="Shape 21"/>
          <p:cNvSpPr/>
          <p:nvPr/>
        </p:nvSpPr>
        <p:spPr bwMode="auto">
          <a:xfrm>
            <a:off x="8421624" y="3767328"/>
            <a:ext cx="402336" cy="402336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58166685" name="Text 22"/>
          <p:cNvSpPr txBox="1"/>
          <p:nvPr/>
        </p:nvSpPr>
        <p:spPr bwMode="auto">
          <a:xfrm>
            <a:off x="8421624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◎</a:t>
            </a:r>
            <a:endParaRPr lang="en-US" sz="1200"/>
          </a:p>
        </p:txBody>
      </p:sp>
      <p:sp>
        <p:nvSpPr>
          <p:cNvPr id="559162801" name="Text 23"/>
          <p:cNvSpPr txBox="1"/>
          <p:nvPr/>
        </p:nvSpPr>
        <p:spPr bwMode="auto">
          <a:xfrm>
            <a:off x="8933688" y="37764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Explainable end to end</a:t>
            </a:r>
            <a:endParaRPr lang="en-US" sz="1450"/>
          </a:p>
        </p:txBody>
      </p:sp>
      <p:sp>
        <p:nvSpPr>
          <p:cNvPr id="2042246757" name="Text 24"/>
          <p:cNvSpPr txBox="1"/>
          <p:nvPr/>
        </p:nvSpPr>
        <p:spPr bwMode="auto">
          <a:xfrm>
            <a:off x="8421624" y="427939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Every 0–100 score decomposes into failure probability, grid impact, weather exposure, criticality, and redundancy.</a:t>
            </a:r>
            <a:endParaRPr lang="en-US" sz="1150"/>
          </a:p>
        </p:txBody>
      </p:sp>
      <p:sp>
        <p:nvSpPr>
          <p:cNvPr id="834869681" name="Shape 25"/>
          <p:cNvSpPr/>
          <p:nvPr/>
        </p:nvSpPr>
        <p:spPr bwMode="auto">
          <a:xfrm>
            <a:off x="685800" y="5358384"/>
            <a:ext cx="10954511" cy="786384"/>
          </a:xfrm>
          <a:prstGeom prst="roundRect">
            <a:avLst>
              <a:gd name="adj" fmla="val 6977"/>
            </a:avLst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46946752" name="Text 26"/>
          <p:cNvSpPr txBox="1"/>
          <p:nvPr/>
        </p:nvSpPr>
        <p:spPr bwMode="auto">
          <a:xfrm>
            <a:off x="960120" y="535838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4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WORKED EXAMPLE · TR-1042</a:t>
            </a:r>
            <a:endParaRPr lang="en-US" sz="1000"/>
          </a:p>
        </p:txBody>
      </p:sp>
      <p:sp>
        <p:nvSpPr>
          <p:cNvPr id="1763220034" name="Text 27"/>
          <p:cNvSpPr txBox="1"/>
          <p:nvPr/>
        </p:nvSpPr>
        <p:spPr bwMode="auto">
          <a:xfrm>
            <a:off x="3886200" y="5358384"/>
            <a:ext cx="7589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78% probability  ×  54% grid impact  ×  78% weather  ×  92% criticality  ×  70% lack of redundancy   →   risk 98/100, Priority #1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74238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83033475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812469611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762420195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ARCHITECTURE</a:t>
            </a:r>
            <a:endParaRPr lang="en-US" sz="950"/>
          </a:p>
        </p:txBody>
      </p:sp>
      <p:sp>
        <p:nvSpPr>
          <p:cNvPr id="66968455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86956427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/>
          </a:p>
        </p:txBody>
      </p:sp>
      <p:sp>
        <p:nvSpPr>
          <p:cNvPr id="536019840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Built as a swappable, always-bootable stack</a:t>
            </a:r>
            <a:endParaRPr lang="en-US" sz="3400"/>
          </a:p>
        </p:txBody>
      </p:sp>
      <p:sp>
        <p:nvSpPr>
          <p:cNvPr id="1895007106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 stable FailurePrediction contract means the ML can change without touching anything downstream.</a:t>
            </a:r>
            <a:endParaRPr lang="en-US" sz="1400"/>
          </a:p>
        </p:txBody>
      </p:sp>
      <p:sp>
        <p:nvSpPr>
          <p:cNvPr id="373700007" name="Shape 8"/>
          <p:cNvSpPr/>
          <p:nvPr/>
        </p:nvSpPr>
        <p:spPr bwMode="auto">
          <a:xfrm>
            <a:off x="685800" y="2249424"/>
            <a:ext cx="10954511" cy="786384"/>
          </a:xfrm>
          <a:prstGeom prst="roundRect">
            <a:avLst>
              <a:gd name="adj" fmla="val 6977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50759675" name="Shape 9"/>
          <p:cNvSpPr/>
          <p:nvPr/>
        </p:nvSpPr>
        <p:spPr bwMode="auto">
          <a:xfrm>
            <a:off x="886968" y="246888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07726005" name="Text 10"/>
          <p:cNvSpPr txBox="1"/>
          <p:nvPr/>
        </p:nvSpPr>
        <p:spPr bwMode="auto">
          <a:xfrm>
            <a:off x="886968" y="24688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</a:t>
            </a:r>
            <a:endParaRPr lang="en-US" sz="1000"/>
          </a:p>
        </p:txBody>
      </p:sp>
      <p:sp>
        <p:nvSpPr>
          <p:cNvPr id="80017528" name="Text 11"/>
          <p:cNvSpPr txBox="1"/>
          <p:nvPr/>
        </p:nvSpPr>
        <p:spPr bwMode="auto">
          <a:xfrm>
            <a:off x="2240280" y="2432303"/>
            <a:ext cx="3017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React 18 + Vite</a:t>
            </a:r>
            <a:endParaRPr lang="en-US" sz="1350"/>
          </a:p>
        </p:txBody>
      </p:sp>
      <p:sp>
        <p:nvSpPr>
          <p:cNvPr id="2028774710" name="Text 12"/>
          <p:cNvSpPr txBox="1"/>
          <p:nvPr/>
        </p:nvSpPr>
        <p:spPr bwMode="auto">
          <a:xfrm>
            <a:off x="5349240" y="2432303"/>
            <a:ext cx="60350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Command Center · Asset Intelligence map · Maintenance · Crew Planner · Scenarios · AI Advisor</a:t>
            </a:r>
            <a:endParaRPr lang="en-US" sz="1100"/>
          </a:p>
        </p:txBody>
      </p:sp>
      <p:sp>
        <p:nvSpPr>
          <p:cNvPr id="1931653736" name="Shape 13"/>
          <p:cNvSpPr/>
          <p:nvPr/>
        </p:nvSpPr>
        <p:spPr bwMode="auto">
          <a:xfrm>
            <a:off x="685800" y="3182112"/>
            <a:ext cx="10954511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28332787" name="Shape 14"/>
          <p:cNvSpPr/>
          <p:nvPr/>
        </p:nvSpPr>
        <p:spPr bwMode="auto">
          <a:xfrm>
            <a:off x="886968" y="3401568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6C4BD6"/>
          </a:solidFill>
          <a:ln w="12700">
            <a:solidFill>
              <a:srgbClr val="6C4B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90847493" name="Text 15"/>
          <p:cNvSpPr txBox="1"/>
          <p:nvPr/>
        </p:nvSpPr>
        <p:spPr bwMode="auto">
          <a:xfrm>
            <a:off x="886968" y="340156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</a:t>
            </a:r>
            <a:endParaRPr lang="en-US" sz="1000"/>
          </a:p>
        </p:txBody>
      </p:sp>
      <p:sp>
        <p:nvSpPr>
          <p:cNvPr id="600972255" name="Text 16"/>
          <p:cNvSpPr txBox="1"/>
          <p:nvPr/>
        </p:nvSpPr>
        <p:spPr bwMode="auto">
          <a:xfrm>
            <a:off x="2240280" y="3364992"/>
            <a:ext cx="3017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FastAPI · JWT auth</a:t>
            </a:r>
            <a:endParaRPr lang="en-US" sz="1350"/>
          </a:p>
        </p:txBody>
      </p:sp>
      <p:sp>
        <p:nvSpPr>
          <p:cNvPr id="961507683" name="Text 17"/>
          <p:cNvSpPr txBox="1"/>
          <p:nvPr/>
        </p:nvSpPr>
        <p:spPr bwMode="auto">
          <a:xfrm>
            <a:off x="5349240" y="3364992"/>
            <a:ext cx="60350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30+ REST endpoints under /api/gs/ — risk engine, planners, scenario simulator, copilot</a:t>
            </a:r>
            <a:endParaRPr lang="en-US" sz="1100"/>
          </a:p>
        </p:txBody>
      </p:sp>
      <p:sp>
        <p:nvSpPr>
          <p:cNvPr id="2086192561" name="Shape 18"/>
          <p:cNvSpPr/>
          <p:nvPr/>
        </p:nvSpPr>
        <p:spPr bwMode="auto">
          <a:xfrm>
            <a:off x="685800" y="4114800"/>
            <a:ext cx="10954511" cy="786384"/>
          </a:xfrm>
          <a:prstGeom prst="roundRect">
            <a:avLst>
              <a:gd name="adj" fmla="val 6977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58972122" name="Shape 19"/>
          <p:cNvSpPr/>
          <p:nvPr/>
        </p:nvSpPr>
        <p:spPr bwMode="auto">
          <a:xfrm>
            <a:off x="886968" y="4334256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E8511F"/>
          </a:solidFill>
          <a:ln w="12700">
            <a:solidFill>
              <a:srgbClr val="E8511F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49753760" name="Text 20"/>
          <p:cNvSpPr txBox="1"/>
          <p:nvPr/>
        </p:nvSpPr>
        <p:spPr bwMode="auto">
          <a:xfrm>
            <a:off x="886968" y="4334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</a:t>
            </a:r>
            <a:endParaRPr lang="en-US" sz="1000"/>
          </a:p>
        </p:txBody>
      </p:sp>
      <p:sp>
        <p:nvSpPr>
          <p:cNvPr id="1217503700" name="Text 21"/>
          <p:cNvSpPr txBox="1"/>
          <p:nvPr/>
        </p:nvSpPr>
        <p:spPr bwMode="auto">
          <a:xfrm>
            <a:off x="2240280" y="4297680"/>
            <a:ext cx="3017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XGBoost in models/bottleneck/</a:t>
            </a:r>
            <a:endParaRPr lang="en-US" sz="1350"/>
          </a:p>
        </p:txBody>
      </p:sp>
      <p:sp>
        <p:nvSpPr>
          <p:cNvPr id="1936718785" name="Text 22"/>
          <p:cNvSpPr txBox="1"/>
          <p:nvPr/>
        </p:nvSpPr>
        <p:spPr bwMode="auto">
          <a:xfrm>
            <a:off x="5349240" y="4297680"/>
            <a:ext cx="60350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GRIDSHIELD_USE_REAL_ML=1 → real models; deterministic mock predictor as fallback</a:t>
            </a:r>
            <a:endParaRPr lang="en-US" sz="1100"/>
          </a:p>
        </p:txBody>
      </p:sp>
      <p:sp>
        <p:nvSpPr>
          <p:cNvPr id="144974775" name="Shape 23"/>
          <p:cNvSpPr/>
          <p:nvPr/>
        </p:nvSpPr>
        <p:spPr bwMode="auto">
          <a:xfrm>
            <a:off x="685800" y="5047488"/>
            <a:ext cx="10954511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1102035" name="Shape 24"/>
          <p:cNvSpPr/>
          <p:nvPr/>
        </p:nvSpPr>
        <p:spPr bwMode="auto">
          <a:xfrm>
            <a:off x="886968" y="5266944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06252080" name="Text 25"/>
          <p:cNvSpPr txBox="1"/>
          <p:nvPr/>
        </p:nvSpPr>
        <p:spPr bwMode="auto">
          <a:xfrm>
            <a:off x="886968" y="526694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  <a:endParaRPr lang="en-US" sz="1000"/>
          </a:p>
        </p:txBody>
      </p:sp>
      <p:sp>
        <p:nvSpPr>
          <p:cNvPr id="571487933" name="Text 26"/>
          <p:cNvSpPr txBox="1"/>
          <p:nvPr/>
        </p:nvSpPr>
        <p:spPr bwMode="auto">
          <a:xfrm>
            <a:off x="2240280" y="5230368"/>
            <a:ext cx="3017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SQLite (dev) / PostgreSQL (prod)</a:t>
            </a:r>
            <a:endParaRPr lang="en-US" sz="1350"/>
          </a:p>
        </p:txBody>
      </p:sp>
      <p:sp>
        <p:nvSpPr>
          <p:cNvPr id="687297917" name="Text 27"/>
          <p:cNvSpPr txBox="1"/>
          <p:nvPr/>
        </p:nvSpPr>
        <p:spPr bwMode="auto">
          <a:xfrm>
            <a:off x="5349240" y="5230368"/>
            <a:ext cx="60350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Asset fleet, telemetry history, incidents, crew roster, weather cache</a:t>
            </a:r>
            <a:endParaRPr lang="en-US" sz="1100"/>
          </a:p>
        </p:txBody>
      </p:sp>
      <p:sp>
        <p:nvSpPr>
          <p:cNvPr id="1434130563" name="Shape 28"/>
          <p:cNvSpPr/>
          <p:nvPr/>
        </p:nvSpPr>
        <p:spPr bwMode="auto">
          <a:xfrm>
            <a:off x="685800" y="5943600"/>
            <a:ext cx="10424160" cy="420624"/>
          </a:xfrm>
          <a:prstGeom prst="roundRect">
            <a:avLst>
              <a:gd name="adj" fmla="val 13043"/>
            </a:avLst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29137993" name="Text 29"/>
          <p:cNvSpPr txBox="1"/>
          <p:nvPr/>
        </p:nvSpPr>
        <p:spPr bwMode="auto">
          <a:xfrm>
            <a:off x="914400" y="5943600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Swap the ML predictor and the frontend, risk engine, and planners need zero changes — the deck demo always boots, credentials or not.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625234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95340814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2059328636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682970211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ASSET INTELLIGENCE</a:t>
            </a:r>
            <a:endParaRPr lang="en-US" sz="950"/>
          </a:p>
        </p:txBody>
      </p:sp>
      <p:sp>
        <p:nvSpPr>
          <p:cNvPr id="687168526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90112653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/>
          </a:p>
        </p:txBody>
      </p:sp>
      <p:sp>
        <p:nvSpPr>
          <p:cNvPr id="436884418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The whole grid, coloured by risk</a:t>
            </a:r>
            <a:endParaRPr lang="en-US" sz="3400"/>
          </a:p>
        </p:txBody>
      </p:sp>
      <p:sp>
        <p:nvSpPr>
          <p:cNvPr id="518324787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Full-screen map with risk-coloured markers, safety zones, crew depots, and live dispatch lines.</a:t>
            </a:r>
            <a:endParaRPr lang="en-US" sz="1400"/>
          </a:p>
        </p:txBody>
      </p:sp>
      <p:pic>
        <p:nvPicPr>
          <p:cNvPr id="493444093" name="Image 0" descr="shots/map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2212848"/>
            <a:ext cx="7223760" cy="3383280"/>
          </a:xfrm>
          <a:prstGeom prst="rect">
            <a:avLst/>
          </a:prstGeom>
          <a:effectLst>
            <a:outerShdw blurRad="1778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  <p:sp>
        <p:nvSpPr>
          <p:cNvPr id="1889083754" name="Text 8"/>
          <p:cNvSpPr txBox="1"/>
          <p:nvPr/>
        </p:nvSpPr>
        <p:spPr bwMode="auto">
          <a:xfrm>
            <a:off x="685800" y="5669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Hero asset — North Feeder Transformer 1042 (TR-1042)</a:t>
            </a:r>
            <a:endParaRPr lang="en-US" sz="1000"/>
          </a:p>
        </p:txBody>
      </p:sp>
      <p:sp>
        <p:nvSpPr>
          <p:cNvPr id="1215497031" name="Shape 9"/>
          <p:cNvSpPr/>
          <p:nvPr/>
        </p:nvSpPr>
        <p:spPr bwMode="auto">
          <a:xfrm>
            <a:off x="8138160" y="2212848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DF0EE"/>
          </a:solidFill>
          <a:ln w="12700">
            <a:solidFill>
              <a:srgbClr val="F5D6CE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89724167" name="Text 10"/>
          <p:cNvSpPr txBox="1"/>
          <p:nvPr/>
        </p:nvSpPr>
        <p:spPr bwMode="auto">
          <a:xfrm>
            <a:off x="8357616" y="234086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98</a:t>
            </a:r>
            <a:endParaRPr lang="en-US" sz="4000"/>
          </a:p>
        </p:txBody>
      </p:sp>
      <p:sp>
        <p:nvSpPr>
          <p:cNvPr id="1690494335" name="Text 11"/>
          <p:cNvSpPr txBox="1"/>
          <p:nvPr/>
        </p:nvSpPr>
        <p:spPr bwMode="auto">
          <a:xfrm>
            <a:off x="9418320" y="23774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/100 RISK SCORE</a:t>
            </a:r>
            <a:endParaRPr lang="en-US" sz="1100"/>
          </a:p>
          <a:p>
            <a:pPr marL="0" indent="0">
              <a:lnSpc>
                <a:spcPts val="1500"/>
              </a:lnSpc>
              <a:buNone/>
              <a:defRPr/>
            </a:pPr>
            <a:r>
              <a:rPr lang="en-US" sz="11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CRITICAL · degraded</a:t>
            </a:r>
            <a:endParaRPr lang="en-US" sz="1100"/>
          </a:p>
        </p:txBody>
      </p:sp>
      <p:sp>
        <p:nvSpPr>
          <p:cNvPr id="1554413563" name="Text 12"/>
          <p:cNvSpPr txBox="1"/>
          <p:nvPr/>
        </p:nvSpPr>
        <p:spPr bwMode="auto">
          <a:xfrm>
            <a:off x="8357616" y="3035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C4A3F"/>
                </a:solidFill>
                <a:latin typeface="Calibri"/>
                <a:ea typeface="Calibri"/>
                <a:cs typeface="Calibri"/>
              </a:rPr>
              <a:t>78% 24h failure probability · health 18/100 · 17 years old</a:t>
            </a:r>
            <a:endParaRPr lang="en-US" sz="1000"/>
          </a:p>
        </p:txBody>
      </p:sp>
      <p:sp>
        <p:nvSpPr>
          <p:cNvPr id="2122607467" name="Text 13"/>
          <p:cNvSpPr txBox="1"/>
          <p:nvPr/>
        </p:nvSpPr>
        <p:spPr bwMode="auto">
          <a:xfrm>
            <a:off x="8138160" y="3675888"/>
            <a:ext cx="3502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Risk breakdown: probability 78% · grid impact 54% · weather 78% · criticality 92% · lack of redundancy 70%</a:t>
            </a:r>
            <a:endParaRPr lang="en-US" sz="11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Why risky: sustained temperature elevation, oil temp, peak load, vibration mean, load mean — all from real telemetry</a:t>
            </a:r>
            <a:endParaRPr lang="en-US" sz="11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8,420 customers and 7 critical facilities downstream</a:t>
            </a:r>
            <a:endParaRPr lang="en-US" sz="11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Nearest crews ranked by ETA — Alpha Transformer Team assigned at 2.5 km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924149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16666502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195255681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107549538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COMMAND CENTER</a:t>
            </a:r>
            <a:endParaRPr lang="en-US" sz="950"/>
          </a:p>
        </p:txBody>
      </p:sp>
      <p:sp>
        <p:nvSpPr>
          <p:cNvPr id="1784303336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27939655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000"/>
          </a:p>
        </p:txBody>
      </p:sp>
      <p:sp>
        <p:nvSpPr>
          <p:cNvPr id="947022121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One screen the control room can run the shift on</a:t>
            </a:r>
            <a:endParaRPr lang="en-US" sz="3400"/>
          </a:p>
        </p:txBody>
      </p:sp>
      <p:sp>
        <p:nvSpPr>
          <p:cNvPr id="392773346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Live KPIs, active critical alerts, and a ranked risk table across all 30 assets.</a:t>
            </a:r>
            <a:endParaRPr lang="en-US" sz="1400"/>
          </a:p>
        </p:txBody>
      </p:sp>
      <p:pic>
        <p:nvPicPr>
          <p:cNvPr id="62926618" name="Image 0" descr="shots/comman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2194560"/>
            <a:ext cx="7406640" cy="3474720"/>
          </a:xfrm>
          <a:prstGeom prst="rect">
            <a:avLst/>
          </a:prstGeom>
          <a:effectLst>
            <a:outerShdw blurRad="1778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  <p:sp>
        <p:nvSpPr>
          <p:cNvPr id="558738613" name="Shape 8"/>
          <p:cNvSpPr/>
          <p:nvPr/>
        </p:nvSpPr>
        <p:spPr bwMode="auto">
          <a:xfrm>
            <a:off x="8321039" y="2194560"/>
            <a:ext cx="33192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36142749" name="Text 9"/>
          <p:cNvSpPr txBox="1"/>
          <p:nvPr/>
        </p:nvSpPr>
        <p:spPr bwMode="auto">
          <a:xfrm>
            <a:off x="8540496" y="2194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3</a:t>
            </a:r>
            <a:endParaRPr lang="en-US" sz="2400"/>
          </a:p>
        </p:txBody>
      </p:sp>
      <p:sp>
        <p:nvSpPr>
          <p:cNvPr id="2061841241" name="Text 10"/>
          <p:cNvSpPr txBox="1"/>
          <p:nvPr/>
        </p:nvSpPr>
        <p:spPr bwMode="auto">
          <a:xfrm>
            <a:off x="9966960" y="21945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Critical assets</a:t>
            </a:r>
            <a:endParaRPr lang="en-US" sz="1100"/>
          </a:p>
        </p:txBody>
      </p:sp>
      <p:sp>
        <p:nvSpPr>
          <p:cNvPr id="1120727658" name="Shape 11"/>
          <p:cNvSpPr/>
          <p:nvPr/>
        </p:nvSpPr>
        <p:spPr bwMode="auto">
          <a:xfrm>
            <a:off x="8321039" y="3099816"/>
            <a:ext cx="33192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80472389" name="Text 12"/>
          <p:cNvSpPr txBox="1"/>
          <p:nvPr/>
        </p:nvSpPr>
        <p:spPr bwMode="auto">
          <a:xfrm>
            <a:off x="8540496" y="309981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E8511F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2400"/>
          </a:p>
        </p:txBody>
      </p:sp>
      <p:sp>
        <p:nvSpPr>
          <p:cNvPr id="2080071230" name="Text 13"/>
          <p:cNvSpPr txBox="1"/>
          <p:nvPr/>
        </p:nvSpPr>
        <p:spPr bwMode="auto">
          <a:xfrm>
            <a:off x="9966960" y="3099816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High-risk assets</a:t>
            </a:r>
            <a:endParaRPr lang="en-US" sz="1100"/>
          </a:p>
        </p:txBody>
      </p:sp>
      <p:sp>
        <p:nvSpPr>
          <p:cNvPr id="929262817" name="Shape 14"/>
          <p:cNvSpPr/>
          <p:nvPr/>
        </p:nvSpPr>
        <p:spPr bwMode="auto">
          <a:xfrm>
            <a:off x="8321039" y="4005072"/>
            <a:ext cx="33192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83550663" name="Text 15"/>
          <p:cNvSpPr txBox="1"/>
          <p:nvPr/>
        </p:nvSpPr>
        <p:spPr bwMode="auto">
          <a:xfrm>
            <a:off x="8540496" y="400507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90,520</a:t>
            </a:r>
            <a:endParaRPr lang="en-US" sz="2400"/>
          </a:p>
        </p:txBody>
      </p:sp>
      <p:sp>
        <p:nvSpPr>
          <p:cNvPr id="1944631174" name="Text 16"/>
          <p:cNvSpPr txBox="1"/>
          <p:nvPr/>
        </p:nvSpPr>
        <p:spPr bwMode="auto">
          <a:xfrm>
            <a:off x="9966960" y="4005072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Customers at risk</a:t>
            </a:r>
            <a:endParaRPr lang="en-US" sz="1100"/>
          </a:p>
        </p:txBody>
      </p:sp>
      <p:sp>
        <p:nvSpPr>
          <p:cNvPr id="546556419" name="Shape 17"/>
          <p:cNvSpPr/>
          <p:nvPr/>
        </p:nvSpPr>
        <p:spPr bwMode="auto">
          <a:xfrm>
            <a:off x="8321039" y="4910328"/>
            <a:ext cx="33192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9409552" name="Text 18"/>
          <p:cNvSpPr txBox="1"/>
          <p:nvPr/>
        </p:nvSpPr>
        <p:spPr bwMode="auto">
          <a:xfrm>
            <a:off x="8540496" y="491032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E8E5A"/>
                </a:solidFill>
                <a:latin typeface="Calibri"/>
                <a:ea typeface="Calibri"/>
                <a:cs typeface="Calibri"/>
              </a:rPr>
              <a:t>8</a:t>
            </a:r>
            <a:endParaRPr lang="en-US" sz="2400"/>
          </a:p>
        </p:txBody>
      </p:sp>
      <p:sp>
        <p:nvSpPr>
          <p:cNvPr id="400254085" name="Text 19"/>
          <p:cNvSpPr txBox="1"/>
          <p:nvPr/>
        </p:nvSpPr>
        <p:spPr bwMode="auto">
          <a:xfrm>
            <a:off x="9966960" y="4910328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Crews positioned</a:t>
            </a:r>
            <a:endParaRPr lang="en-US" sz="1100"/>
          </a:p>
        </p:txBody>
      </p:sp>
      <p:sp>
        <p:nvSpPr>
          <p:cNvPr id="270153849" name="Shape 20"/>
          <p:cNvSpPr/>
          <p:nvPr/>
        </p:nvSpPr>
        <p:spPr bwMode="auto">
          <a:xfrm>
            <a:off x="685800" y="5797296"/>
            <a:ext cx="1042416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5D6CE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58371808" name="Text 21"/>
          <p:cNvSpPr txBox="1"/>
          <p:nvPr/>
        </p:nvSpPr>
        <p:spPr bwMode="auto">
          <a:xfrm>
            <a:off x="914400" y="57972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CRITICAL: TR-1042 — 78% 24h failure probability | 7 critical facilities at risk | immediate thermal and vibration inspection + emergency crew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953868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59501883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207077400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371629005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MAINTENANCE &amp; CREWS</a:t>
            </a:r>
            <a:endParaRPr lang="en-US" sz="950"/>
          </a:p>
        </p:txBody>
      </p:sp>
      <p:sp>
        <p:nvSpPr>
          <p:cNvPr id="329564899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91155661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000"/>
          </a:p>
        </p:txBody>
      </p:sp>
      <p:sp>
        <p:nvSpPr>
          <p:cNvPr id="516514861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From ranked work to a crew already on the road</a:t>
            </a:r>
            <a:endParaRPr lang="en-US" sz="3400"/>
          </a:p>
        </p:txBody>
      </p:sp>
      <p:sp>
        <p:nvSpPr>
          <p:cNvPr id="1832382737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Impact-aware prioritisation feeds straight into specialty-matched, distance-ranked pre-positioning.</a:t>
            </a:r>
            <a:endParaRPr lang="en-US" sz="1400"/>
          </a:p>
        </p:txBody>
      </p:sp>
      <p:sp>
        <p:nvSpPr>
          <p:cNvPr id="666610205" name="Text 8"/>
          <p:cNvSpPr txBox="1"/>
          <p:nvPr/>
        </p:nvSpPr>
        <p:spPr bwMode="auto">
          <a:xfrm>
            <a:off x="685800" y="22311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MAINTENANCE PLANNER</a:t>
            </a:r>
            <a:endParaRPr lang="en-US" sz="950"/>
          </a:p>
        </p:txBody>
      </p:sp>
      <p:pic>
        <p:nvPicPr>
          <p:cNvPr id="1790402654" name="Image 0" descr="shots/main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2542032"/>
            <a:ext cx="5394960" cy="2532888"/>
          </a:xfrm>
          <a:prstGeom prst="rect">
            <a:avLst/>
          </a:prstGeom>
          <a:effectLst>
            <a:outerShdw blurRad="1524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  <p:sp>
        <p:nvSpPr>
          <p:cNvPr id="1883540807" name="Text 9"/>
          <p:cNvSpPr txBox="1"/>
          <p:nvPr/>
        </p:nvSpPr>
        <p:spPr bwMode="auto">
          <a:xfrm>
            <a:off x="6263640" y="22311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1E8E5A"/>
                </a:solidFill>
                <a:latin typeface="Calibri"/>
                <a:ea typeface="Calibri"/>
                <a:cs typeface="Calibri"/>
              </a:rPr>
              <a:t>CREW PRE-POSITIONING PLANNER</a:t>
            </a:r>
            <a:endParaRPr lang="en-US" sz="950"/>
          </a:p>
        </p:txBody>
      </p:sp>
      <p:pic>
        <p:nvPicPr>
          <p:cNvPr id="452364233" name="Image 1" descr="shots/crew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63640" y="2542032"/>
            <a:ext cx="5394960" cy="2532888"/>
          </a:xfrm>
          <a:prstGeom prst="rect">
            <a:avLst/>
          </a:prstGeom>
          <a:effectLst>
            <a:outerShdw blurRad="1524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  <p:sp>
        <p:nvSpPr>
          <p:cNvPr id="1602837530" name="Shape 10"/>
          <p:cNvSpPr/>
          <p:nvPr/>
        </p:nvSpPr>
        <p:spPr bwMode="auto">
          <a:xfrm>
            <a:off x="685800" y="5230368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5799102" name="Text 11"/>
          <p:cNvSpPr txBox="1"/>
          <p:nvPr/>
        </p:nvSpPr>
        <p:spPr bwMode="auto">
          <a:xfrm>
            <a:off x="905256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Ranked by consequence</a:t>
            </a:r>
            <a:endParaRPr lang="en-US" sz="1200"/>
          </a:p>
        </p:txBody>
      </p:sp>
      <p:sp>
        <p:nvSpPr>
          <p:cNvPr id="1937818321" name="Text 12"/>
          <p:cNvSpPr txBox="1"/>
          <p:nvPr/>
        </p:nvSpPr>
        <p:spPr bwMode="auto">
          <a:xfrm>
            <a:off x="905256" y="56144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  <a:defRPr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#1 TR-1042 at risk 98 — within 6h, 8,420 customers, 7 facilities</a:t>
            </a:r>
            <a:endParaRPr lang="en-US" sz="1000"/>
          </a:p>
        </p:txBody>
      </p:sp>
      <p:sp>
        <p:nvSpPr>
          <p:cNvPr id="372609021" name="Shape 13"/>
          <p:cNvSpPr/>
          <p:nvPr/>
        </p:nvSpPr>
        <p:spPr bwMode="auto">
          <a:xfrm>
            <a:off x="4425696" y="5230368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11034199" name="Text 14"/>
          <p:cNvSpPr txBox="1"/>
          <p:nvPr/>
        </p:nvSpPr>
        <p:spPr bwMode="auto">
          <a:xfrm>
            <a:off x="4645152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Matched, not nearest-only</a:t>
            </a:r>
            <a:endParaRPr lang="en-US" sz="1200"/>
          </a:p>
        </p:txBody>
      </p:sp>
      <p:sp>
        <p:nvSpPr>
          <p:cNvPr id="1171878450" name="Text 15"/>
          <p:cNvSpPr txBox="1"/>
          <p:nvPr/>
        </p:nvSpPr>
        <p:spPr bwMode="auto">
          <a:xfrm>
            <a:off x="4645152" y="56144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  <a:defRPr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Specialty match + haversine distance + ETA, assignable in 2 clicks</a:t>
            </a:r>
            <a:endParaRPr lang="en-US" sz="1000"/>
          </a:p>
        </p:txBody>
      </p:sp>
      <p:sp>
        <p:nvSpPr>
          <p:cNvPr id="1997540471" name="Shape 16"/>
          <p:cNvSpPr/>
          <p:nvPr/>
        </p:nvSpPr>
        <p:spPr bwMode="auto">
          <a:xfrm>
            <a:off x="8165592" y="5230368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72442681" name="Text 17"/>
          <p:cNvSpPr txBox="1"/>
          <p:nvPr/>
        </p:nvSpPr>
        <p:spPr bwMode="auto">
          <a:xfrm>
            <a:off x="8385048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Positioned before impact</a:t>
            </a:r>
            <a:endParaRPr lang="en-US" sz="1200"/>
          </a:p>
        </p:txBody>
      </p:sp>
      <p:sp>
        <p:nvSpPr>
          <p:cNvPr id="470558821" name="Text 18"/>
          <p:cNvSpPr txBox="1"/>
          <p:nvPr/>
        </p:nvSpPr>
        <p:spPr bwMode="auto">
          <a:xfrm>
            <a:off x="8385048" y="56144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  <a:defRPr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3 dispatched, 5 pre-positioned, ETA 1–2h across 8 active assignments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398987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65043441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794124209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289888114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SCENARIO SIMULATOR</a:t>
            </a:r>
            <a:endParaRPr lang="en-US" sz="950"/>
          </a:p>
        </p:txBody>
      </p:sp>
      <p:sp>
        <p:nvSpPr>
          <p:cNvPr id="702430705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33662071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  <p:sp>
        <p:nvSpPr>
          <p:cNvPr id="408671280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What-if analysis that repositions crews in under a second</a:t>
            </a:r>
            <a:endParaRPr lang="en-US" sz="3400"/>
          </a:p>
        </p:txBody>
      </p:sp>
      <p:sp>
        <p:nvSpPr>
          <p:cNvPr id="1690939933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Severe storm, heatwave, and accelerated asset degradation — the full pipeline re-runs live.</a:t>
            </a:r>
            <a:endParaRPr lang="en-US" sz="1400"/>
          </a:p>
        </p:txBody>
      </p:sp>
      <p:pic>
        <p:nvPicPr>
          <p:cNvPr id="1792638975" name="Image 0" descr="shots/scenari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39112" y="2249424"/>
            <a:ext cx="8110728" cy="2084832"/>
          </a:xfrm>
          <a:prstGeom prst="rect">
            <a:avLst/>
          </a:prstGeom>
          <a:effectLst>
            <a:outerShdw blurRad="1778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  <p:sp>
        <p:nvSpPr>
          <p:cNvPr id="213202411" name="Shape 8"/>
          <p:cNvSpPr/>
          <p:nvPr/>
        </p:nvSpPr>
        <p:spPr bwMode="auto">
          <a:xfrm>
            <a:off x="685800" y="4626864"/>
            <a:ext cx="5330952" cy="1060704"/>
          </a:xfrm>
          <a:prstGeom prst="roundRect">
            <a:avLst>
              <a:gd name="adj" fmla="val 5172"/>
            </a:avLst>
          </a:prstGeom>
          <a:solidFill>
            <a:srgbClr val="F6F7FA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73562935" name="Text 9"/>
          <p:cNvSpPr txBox="1"/>
          <p:nvPr/>
        </p:nvSpPr>
        <p:spPr bwMode="auto">
          <a:xfrm>
            <a:off x="941832" y="4773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6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BEFORE</a:t>
            </a:r>
            <a:endParaRPr lang="en-US" sz="1000"/>
          </a:p>
        </p:txBody>
      </p:sp>
      <p:sp>
        <p:nvSpPr>
          <p:cNvPr id="678905714" name="Text 10"/>
          <p:cNvSpPr txBox="1"/>
          <p:nvPr/>
        </p:nvSpPr>
        <p:spPr bwMode="auto">
          <a:xfrm>
            <a:off x="941832" y="5065776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TR-1042 risk 94 · CREW-07 on standby · TR-2108 outside the top 5</a:t>
            </a:r>
            <a:endParaRPr lang="en-US" sz="1200"/>
          </a:p>
        </p:txBody>
      </p:sp>
      <p:sp>
        <p:nvSpPr>
          <p:cNvPr id="1867167857" name="Shape 11"/>
          <p:cNvSpPr/>
          <p:nvPr/>
        </p:nvSpPr>
        <p:spPr bwMode="auto">
          <a:xfrm>
            <a:off x="6309360" y="4626864"/>
            <a:ext cx="5330952" cy="1060704"/>
          </a:xfrm>
          <a:prstGeom prst="roundRect">
            <a:avLst>
              <a:gd name="adj" fmla="val 5172"/>
            </a:avLst>
          </a:prstGeom>
          <a:solidFill>
            <a:srgbClr val="FDF3F0"/>
          </a:solidFill>
          <a:ln w="12700">
            <a:solidFill>
              <a:srgbClr val="F7DED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24558409" name="Text 12"/>
          <p:cNvSpPr txBox="1"/>
          <p:nvPr/>
        </p:nvSpPr>
        <p:spPr bwMode="auto">
          <a:xfrm>
            <a:off x="6565392" y="4773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60">
                <a:solidFill>
                  <a:srgbClr val="E8511F"/>
                </a:solidFill>
                <a:latin typeface="Calibri"/>
                <a:ea typeface="Calibri"/>
                <a:cs typeface="Calibri"/>
              </a:rPr>
              <a:t>AFTER SEVERE STORM</a:t>
            </a:r>
            <a:endParaRPr lang="en-US" sz="1000"/>
          </a:p>
        </p:txBody>
      </p:sp>
      <p:sp>
        <p:nvSpPr>
          <p:cNvPr id="1605141584" name="Text 13"/>
          <p:cNvSpPr txBox="1"/>
          <p:nvPr/>
        </p:nvSpPr>
        <p:spPr bwMode="auto">
          <a:xfrm>
            <a:off x="6565392" y="5065776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TR-1042 risk 98 · CREW-07 reassigned to pre-position · TR-2108 enters the top 5</a:t>
            </a:r>
            <a:endParaRPr lang="en-US" sz="1200"/>
          </a:p>
        </p:txBody>
      </p:sp>
      <p:sp>
        <p:nvSpPr>
          <p:cNvPr id="458886451" name="Text 14"/>
          <p:cNvSpPr txBox="1"/>
          <p:nvPr/>
        </p:nvSpPr>
        <p:spPr bwMode="auto">
          <a:xfrm>
            <a:off x="685800" y="5961888"/>
            <a:ext cx="10954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Full prediction → risk → maintenance → crew pipeline updates in under 1 second.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467148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32143065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956266277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72114607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ML INTEGRATION</a:t>
            </a:r>
            <a:endParaRPr lang="en-US" sz="950"/>
          </a:p>
        </p:txBody>
      </p:sp>
      <p:sp>
        <p:nvSpPr>
          <p:cNvPr id="2145281886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54113271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sp>
        <p:nvSpPr>
          <p:cNvPr id="784248425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The ML Pipeline: real models or mock, same contract</a:t>
            </a:r>
            <a:endParaRPr lang="en-US" sz="3400"/>
          </a:p>
        </p:txBody>
      </p:sp>
      <p:sp>
        <p:nvSpPr>
          <p:cNvPr id="52130884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Swap the predictor behind a single environment flag — nothing downstream notices.</a:t>
            </a:r>
            <a:endParaRPr lang="en-US" sz="1400"/>
          </a:p>
        </p:txBody>
      </p:sp>
      <p:sp>
        <p:nvSpPr>
          <p:cNvPr id="577279603" name="Shape 8"/>
          <p:cNvSpPr/>
          <p:nvPr/>
        </p:nvSpPr>
        <p:spPr bwMode="auto">
          <a:xfrm>
            <a:off x="685800" y="2286000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EEF7F2"/>
          </a:solidFill>
          <a:ln w="12700">
            <a:solidFill>
              <a:srgbClr val="CFE7D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56889036" name="Text 9"/>
          <p:cNvSpPr txBox="1"/>
          <p:nvPr/>
        </p:nvSpPr>
        <p:spPr bwMode="auto">
          <a:xfrm>
            <a:off x="923544" y="24688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8E5A"/>
                </a:solidFill>
                <a:latin typeface="Courier New"/>
                <a:ea typeface="Courier New"/>
                <a:cs typeface="Courier New"/>
              </a:rPr>
              <a:t>GRIDSHIELD_USE_REAL_ML=1</a:t>
            </a:r>
            <a:endParaRPr lang="en-US" sz="1150"/>
          </a:p>
        </p:txBody>
      </p:sp>
      <p:sp>
        <p:nvSpPr>
          <p:cNvPr id="822590129" name="Text 10"/>
          <p:cNvSpPr txBox="1"/>
          <p:nvPr/>
        </p:nvSpPr>
        <p:spPr bwMode="auto">
          <a:xfrm>
            <a:off x="923544" y="28712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Real XGBoost models load from models/bottleneck/</a:t>
            </a:r>
            <a:endParaRPr lang="en-US" sz="1150"/>
          </a:p>
        </p:txBody>
      </p:sp>
      <p:sp>
        <p:nvSpPr>
          <p:cNvPr id="1828061038" name="Shape 11"/>
          <p:cNvSpPr/>
          <p:nvPr/>
        </p:nvSpPr>
        <p:spPr bwMode="auto">
          <a:xfrm>
            <a:off x="4617720" y="2286000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FDF3F0"/>
          </a:solidFill>
          <a:ln w="12700">
            <a:solidFill>
              <a:srgbClr val="F7DED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75004568" name="Text 12"/>
          <p:cNvSpPr txBox="1"/>
          <p:nvPr/>
        </p:nvSpPr>
        <p:spPr bwMode="auto">
          <a:xfrm>
            <a:off x="4855464" y="24688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8511F"/>
                </a:solidFill>
                <a:latin typeface="Courier New"/>
                <a:ea typeface="Courier New"/>
                <a:cs typeface="Courier New"/>
              </a:rPr>
              <a:t>Models missing or flag off</a:t>
            </a:r>
            <a:endParaRPr lang="en-US" sz="1150"/>
          </a:p>
        </p:txBody>
      </p:sp>
      <p:sp>
        <p:nvSpPr>
          <p:cNvPr id="1990117898" name="Text 13"/>
          <p:cNvSpPr txBox="1"/>
          <p:nvPr/>
        </p:nvSpPr>
        <p:spPr bwMode="auto">
          <a:xfrm>
            <a:off x="4855464" y="28712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Deterministic mock predictor keeps the demo reproducible</a:t>
            </a:r>
            <a:endParaRPr lang="en-US" sz="1150"/>
          </a:p>
        </p:txBody>
      </p:sp>
      <p:sp>
        <p:nvSpPr>
          <p:cNvPr id="226052090" name="Text 14"/>
          <p:cNvSpPr txBox="1"/>
          <p:nvPr/>
        </p:nvSpPr>
        <p:spPr bwMode="auto">
          <a:xfrm>
            <a:off x="8339328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357494309" name="Shape 15"/>
          <p:cNvSpPr/>
          <p:nvPr/>
        </p:nvSpPr>
        <p:spPr bwMode="auto">
          <a:xfrm>
            <a:off x="8796528" y="2286000"/>
            <a:ext cx="2843784" cy="137160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63334899" name="Text 16"/>
          <p:cNvSpPr txBox="1"/>
          <p:nvPr/>
        </p:nvSpPr>
        <p:spPr bwMode="auto">
          <a:xfrm>
            <a:off x="8979408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FailurePrediction</a:t>
            </a:r>
            <a:endParaRPr lang="en-US" sz="1300"/>
          </a:p>
        </p:txBody>
      </p:sp>
      <p:sp>
        <p:nvSpPr>
          <p:cNvPr id="588702808" name="Text 17"/>
          <p:cNvSpPr txBox="1"/>
          <p:nvPr/>
        </p:nvSpPr>
        <p:spPr bwMode="auto">
          <a:xfrm>
            <a:off x="8979408" y="28895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050">
                <a:solidFill>
                  <a:srgbClr val="C6D2EE"/>
                </a:solidFill>
                <a:latin typeface="Calibri"/>
                <a:ea typeface="Calibri"/>
                <a:cs typeface="Calibri"/>
              </a:rPr>
              <a:t>One stable contract — zero UI, risk-engine, or planner changes</a:t>
            </a:r>
            <a:endParaRPr lang="en-US" sz="1050"/>
          </a:p>
        </p:txBody>
      </p:sp>
      <p:sp>
        <p:nvSpPr>
          <p:cNvPr id="1874230272" name="Text 18"/>
          <p:cNvSpPr txBox="1"/>
          <p:nvPr/>
        </p:nvSpPr>
        <p:spPr bwMode="auto">
          <a:xfrm>
            <a:off x="68580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RETRAINING PIPELINE</a:t>
            </a:r>
            <a:endParaRPr lang="en-US" sz="950"/>
          </a:p>
        </p:txBody>
      </p:sp>
      <p:sp>
        <p:nvSpPr>
          <p:cNvPr id="2000565308" name="Shape 19"/>
          <p:cNvSpPr/>
          <p:nvPr/>
        </p:nvSpPr>
        <p:spPr bwMode="auto">
          <a:xfrm>
            <a:off x="685800" y="4261104"/>
            <a:ext cx="46177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9409944" name="Text 20"/>
          <p:cNvSpPr txBox="1"/>
          <p:nvPr/>
        </p:nvSpPr>
        <p:spPr bwMode="auto">
          <a:xfrm>
            <a:off x="905256" y="426110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1103746079" name="Text 21"/>
          <p:cNvSpPr txBox="1"/>
          <p:nvPr/>
        </p:nvSpPr>
        <p:spPr bwMode="auto">
          <a:xfrm>
            <a:off x="1289304" y="426110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ourier New"/>
                <a:ea typeface="Courier New"/>
                <a:cs typeface="Courier New"/>
              </a:rPr>
              <a:t>generate_training_data</a:t>
            </a:r>
            <a:endParaRPr lang="en-US" sz="1200"/>
          </a:p>
        </p:txBody>
      </p:sp>
      <p:sp>
        <p:nvSpPr>
          <p:cNvPr id="981874269" name="Text 22"/>
          <p:cNvSpPr txBox="1"/>
          <p:nvPr/>
        </p:nvSpPr>
        <p:spPr bwMode="auto">
          <a:xfrm>
            <a:off x="960120" y="48463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100"/>
          </a:p>
        </p:txBody>
      </p:sp>
      <p:sp>
        <p:nvSpPr>
          <p:cNvPr id="1296750705" name="Shape 23"/>
          <p:cNvSpPr/>
          <p:nvPr/>
        </p:nvSpPr>
        <p:spPr bwMode="auto">
          <a:xfrm>
            <a:off x="685800" y="4974336"/>
            <a:ext cx="46177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7087798" name="Text 24"/>
          <p:cNvSpPr txBox="1"/>
          <p:nvPr/>
        </p:nvSpPr>
        <p:spPr bwMode="auto">
          <a:xfrm>
            <a:off x="905256" y="497433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931328657" name="Text 25"/>
          <p:cNvSpPr txBox="1"/>
          <p:nvPr/>
        </p:nvSpPr>
        <p:spPr bwMode="auto">
          <a:xfrm>
            <a:off x="1289304" y="497433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ourier New"/>
                <a:ea typeface="Courier New"/>
                <a:cs typeface="Courier New"/>
              </a:rPr>
              <a:t>train_models</a:t>
            </a:r>
            <a:endParaRPr lang="en-US" sz="1200"/>
          </a:p>
        </p:txBody>
      </p:sp>
      <p:sp>
        <p:nvSpPr>
          <p:cNvPr id="765288615" name="Text 26"/>
          <p:cNvSpPr txBox="1"/>
          <p:nvPr/>
        </p:nvSpPr>
        <p:spPr bwMode="auto">
          <a:xfrm>
            <a:off x="960120" y="555955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B6C2DC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100"/>
          </a:p>
        </p:txBody>
      </p:sp>
      <p:sp>
        <p:nvSpPr>
          <p:cNvPr id="1427110668" name="Shape 27"/>
          <p:cNvSpPr/>
          <p:nvPr/>
        </p:nvSpPr>
        <p:spPr bwMode="auto">
          <a:xfrm>
            <a:off x="685800" y="5687568"/>
            <a:ext cx="46177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63260405" name="Text 28"/>
          <p:cNvSpPr txBox="1"/>
          <p:nvPr/>
        </p:nvSpPr>
        <p:spPr bwMode="auto">
          <a:xfrm>
            <a:off x="905256" y="5687568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9D3E8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1549817688" name="Text 29"/>
          <p:cNvSpPr txBox="1"/>
          <p:nvPr/>
        </p:nvSpPr>
        <p:spPr bwMode="auto">
          <a:xfrm>
            <a:off x="1289304" y="568756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ourier New"/>
                <a:ea typeface="Courier New"/>
                <a:cs typeface="Courier New"/>
              </a:rPr>
              <a:t>evaluate</a:t>
            </a:r>
            <a:endParaRPr lang="en-US" sz="1200"/>
          </a:p>
        </p:txBody>
      </p:sp>
      <p:sp>
        <p:nvSpPr>
          <p:cNvPr id="1800549923" name="Text 30"/>
          <p:cNvSpPr txBox="1"/>
          <p:nvPr/>
        </p:nvSpPr>
        <p:spPr bwMode="auto">
          <a:xfrm>
            <a:off x="5669280" y="39136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SETTINGS &amp; CONFIGURATION · 30-ASSET FLEET</a:t>
            </a:r>
            <a:endParaRPr lang="en-US" sz="950"/>
          </a:p>
        </p:txBody>
      </p:sp>
      <p:pic>
        <p:nvPicPr>
          <p:cNvPr id="1049975872" name="Image 0" descr="shots/setting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69280" y="4261104"/>
            <a:ext cx="5852160" cy="1883664"/>
          </a:xfrm>
          <a:prstGeom prst="rect">
            <a:avLst/>
          </a:prstGeom>
          <a:effectLst>
            <a:outerShdw blurRad="1524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733918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97236148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3342898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506904195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AI COPILOT</a:t>
            </a:r>
            <a:endParaRPr lang="en-US" sz="950"/>
          </a:p>
        </p:txBody>
      </p:sp>
      <p:sp>
        <p:nvSpPr>
          <p:cNvPr id="143535357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86143062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  <p:sp>
        <p:nvSpPr>
          <p:cNvPr id="1371426972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Every answer grounded in live backend telemetry</a:t>
            </a:r>
            <a:endParaRPr lang="en-US" sz="3400"/>
          </a:p>
        </p:txBody>
      </p:sp>
      <p:sp>
        <p:nvSpPr>
          <p:cNvPr id="817080416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copilot never invents a sensor value — it cites the data the risk engine actually used.</a:t>
            </a:r>
            <a:endParaRPr lang="en-US" sz="1400"/>
          </a:p>
        </p:txBody>
      </p:sp>
      <p:pic>
        <p:nvPicPr>
          <p:cNvPr id="1558706583" name="Image 0" descr="shots/copilo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2212848"/>
            <a:ext cx="6858000" cy="2990088"/>
          </a:xfrm>
          <a:prstGeom prst="rect">
            <a:avLst/>
          </a:prstGeom>
          <a:effectLst>
            <a:outerShdw blurRad="177800" dist="38100" dir="5400000" sx="100000" sy="100000" kx="0" ky="0" algn="bl" rotWithShape="0">
              <a:srgbClr val="8C97AD">
                <a:alpha val="35000"/>
              </a:srgbClr>
            </a:outerShdw>
          </a:effectLst>
        </p:spPr>
      </p:pic>
      <p:sp>
        <p:nvSpPr>
          <p:cNvPr id="1126136417" name="Shape 8"/>
          <p:cNvSpPr/>
          <p:nvPr/>
        </p:nvSpPr>
        <p:spPr bwMode="auto">
          <a:xfrm>
            <a:off x="7772400" y="2212848"/>
            <a:ext cx="3867911" cy="2990088"/>
          </a:xfrm>
          <a:prstGeom prst="roundRect">
            <a:avLst>
              <a:gd name="adj" fmla="val 1835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47596834" name="Text 9"/>
          <p:cNvSpPr txBox="1"/>
          <p:nvPr/>
        </p:nvSpPr>
        <p:spPr bwMode="auto">
          <a:xfrm>
            <a:off x="8010144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“Why is TR-1042 critical?”</a:t>
            </a:r>
            <a:endParaRPr lang="en-US" sz="1400"/>
          </a:p>
        </p:txBody>
      </p:sp>
      <p:sp>
        <p:nvSpPr>
          <p:cNvPr id="23221991" name="Text 10"/>
          <p:cNvSpPr txBox="1"/>
          <p:nvPr/>
        </p:nvSpPr>
        <p:spPr bwMode="auto">
          <a:xfrm>
            <a:off x="8010144" y="28346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Anomalous temperature sustained over the last 24h</a:t>
            </a:r>
            <a:endParaRPr lang="en-US" sz="115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Severe weather exposure across the North region</a:t>
            </a:r>
            <a:endParaRPr lang="en-US" sz="115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8,420 customers and 7 critical facilities downstream</a:t>
            </a:r>
            <a:endParaRPr lang="en-US" sz="115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Health score 18/100 on a 17-year-old asset</a:t>
            </a:r>
            <a:endParaRPr lang="en-US" sz="115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Nearest matched crew: Alpha Transformer Team, 2.5 km</a:t>
            </a:r>
            <a:endParaRPr lang="en-US" sz="1150"/>
          </a:p>
        </p:txBody>
      </p:sp>
      <p:sp>
        <p:nvSpPr>
          <p:cNvPr id="1867247375" name="Shape 11"/>
          <p:cNvSpPr/>
          <p:nvPr/>
        </p:nvSpPr>
        <p:spPr bwMode="auto">
          <a:xfrm>
            <a:off x="685800" y="5440680"/>
            <a:ext cx="10954511" cy="566928"/>
          </a:xfrm>
          <a:prstGeom prst="roundRect">
            <a:avLst>
              <a:gd name="adj" fmla="val 9677"/>
            </a:avLst>
          </a:prstGeom>
          <a:solidFill>
            <a:srgbClr val="EEF7F2"/>
          </a:solidFill>
          <a:ln w="12700">
            <a:solidFill>
              <a:srgbClr val="CFE7D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45617164" name="Text 12"/>
          <p:cNvSpPr txBox="1"/>
          <p:nvPr/>
        </p:nvSpPr>
        <p:spPr bwMode="auto">
          <a:xfrm>
            <a:off x="914400" y="5440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6848"/>
                </a:solidFill>
                <a:latin typeface="Calibri"/>
                <a:ea typeface="Calibri"/>
                <a:cs typeface="Calibri"/>
              </a:rPr>
              <a:t>No hallucination by construction: the copilot answers only from backend records — risk breakdowns, telemetry, incidents, and crew state.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143168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66094866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612716117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264849444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HARDWARE INTEGRATION</a:t>
            </a:r>
            <a:endParaRPr lang="en-US" sz="950"/>
          </a:p>
        </p:txBody>
      </p:sp>
      <p:sp>
        <p:nvSpPr>
          <p:cNvPr id="1857952185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27077660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000"/>
          </a:p>
        </p:txBody>
      </p:sp>
      <p:sp>
        <p:nvSpPr>
          <p:cNvPr id="1358972106" name="Text 6"/>
          <p:cNvSpPr txBox="1"/>
          <p:nvPr/>
        </p:nvSpPr>
        <p:spPr bwMode="auto">
          <a:xfrm flipH="0" flipV="0">
            <a:off x="685800" y="868679"/>
            <a:ext cx="10726750" cy="472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Future Enhancement : Ready for the substation, not just the laptop</a:t>
            </a:r>
            <a:endParaRPr sz="3000"/>
          </a:p>
        </p:txBody>
      </p:sp>
      <p:sp>
        <p:nvSpPr>
          <p:cNvPr id="205399123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Protocol documentation and register maps ship with test and sync endpoints for each standard.</a:t>
            </a:r>
            <a:endParaRPr lang="en-US" sz="1400"/>
          </a:p>
        </p:txBody>
      </p:sp>
      <p:sp>
        <p:nvSpPr>
          <p:cNvPr id="228517503" name="Shape 8"/>
          <p:cNvSpPr/>
          <p:nvPr/>
        </p:nvSpPr>
        <p:spPr bwMode="auto">
          <a:xfrm>
            <a:off x="685800" y="2286000"/>
            <a:ext cx="204825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31246956" name="Shape 9"/>
          <p:cNvSpPr/>
          <p:nvPr/>
        </p:nvSpPr>
        <p:spPr bwMode="auto">
          <a:xfrm>
            <a:off x="1472184" y="2468880"/>
            <a:ext cx="475488" cy="475488"/>
          </a:xfrm>
          <a:prstGeom prst="ellipse">
            <a:avLst/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94013784" name="Text 10"/>
          <p:cNvSpPr txBox="1"/>
          <p:nvPr/>
        </p:nvSpPr>
        <p:spPr bwMode="auto">
          <a:xfrm>
            <a:off x="147218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MB</a:t>
            </a:r>
            <a:endParaRPr lang="en-US" sz="1200"/>
          </a:p>
        </p:txBody>
      </p:sp>
      <p:sp>
        <p:nvSpPr>
          <p:cNvPr id="1210155104" name="Text 11"/>
          <p:cNvSpPr txBox="1"/>
          <p:nvPr/>
        </p:nvSpPr>
        <p:spPr bwMode="auto">
          <a:xfrm>
            <a:off x="832104" y="3017519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Modbus</a:t>
            </a:r>
            <a:endParaRPr lang="en-US" sz="1300"/>
          </a:p>
        </p:txBody>
      </p:sp>
      <p:sp>
        <p:nvSpPr>
          <p:cNvPr id="937962042" name="Text 12"/>
          <p:cNvSpPr txBox="1"/>
          <p:nvPr/>
        </p:nvSpPr>
        <p:spPr bwMode="auto">
          <a:xfrm>
            <a:off x="832104" y="32918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Register maps + test endpoint</a:t>
            </a:r>
            <a:endParaRPr lang="en-US" sz="950"/>
          </a:p>
        </p:txBody>
      </p:sp>
      <p:sp>
        <p:nvSpPr>
          <p:cNvPr id="1767459396" name="Shape 13"/>
          <p:cNvSpPr/>
          <p:nvPr/>
        </p:nvSpPr>
        <p:spPr bwMode="auto">
          <a:xfrm>
            <a:off x="2926080" y="2286000"/>
            <a:ext cx="204825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28705260" name="Shape 14"/>
          <p:cNvSpPr/>
          <p:nvPr/>
        </p:nvSpPr>
        <p:spPr bwMode="auto">
          <a:xfrm>
            <a:off x="3712464" y="2468880"/>
            <a:ext cx="475488" cy="475488"/>
          </a:xfrm>
          <a:prstGeom prst="ellipse">
            <a:avLst/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15325976" name="Text 15"/>
          <p:cNvSpPr txBox="1"/>
          <p:nvPr/>
        </p:nvSpPr>
        <p:spPr bwMode="auto">
          <a:xfrm>
            <a:off x="371246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D3</a:t>
            </a:r>
            <a:endParaRPr lang="en-US" sz="1200"/>
          </a:p>
        </p:txBody>
      </p:sp>
      <p:sp>
        <p:nvSpPr>
          <p:cNvPr id="2091644687" name="Text 16"/>
          <p:cNvSpPr txBox="1"/>
          <p:nvPr/>
        </p:nvSpPr>
        <p:spPr bwMode="auto">
          <a:xfrm>
            <a:off x="3072384" y="3017519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DNP3</a:t>
            </a:r>
            <a:endParaRPr lang="en-US" sz="1300"/>
          </a:p>
        </p:txBody>
      </p:sp>
      <p:sp>
        <p:nvSpPr>
          <p:cNvPr id="1903470166" name="Text 17"/>
          <p:cNvSpPr txBox="1"/>
          <p:nvPr/>
        </p:nvSpPr>
        <p:spPr bwMode="auto">
          <a:xfrm>
            <a:off x="3072384" y="32918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Outstation point mapping</a:t>
            </a:r>
            <a:endParaRPr lang="en-US" sz="950"/>
          </a:p>
        </p:txBody>
      </p:sp>
      <p:sp>
        <p:nvSpPr>
          <p:cNvPr id="1777389480" name="Shape 18"/>
          <p:cNvSpPr/>
          <p:nvPr/>
        </p:nvSpPr>
        <p:spPr bwMode="auto">
          <a:xfrm>
            <a:off x="5166360" y="2286000"/>
            <a:ext cx="204825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2223727" name="Shape 19"/>
          <p:cNvSpPr/>
          <p:nvPr/>
        </p:nvSpPr>
        <p:spPr bwMode="auto">
          <a:xfrm>
            <a:off x="5952744" y="2468880"/>
            <a:ext cx="475488" cy="475488"/>
          </a:xfrm>
          <a:prstGeom prst="ellipse">
            <a:avLst/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02837431" name="Text 20"/>
          <p:cNvSpPr txBox="1"/>
          <p:nvPr/>
        </p:nvSpPr>
        <p:spPr bwMode="auto">
          <a:xfrm>
            <a:off x="595274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61</a:t>
            </a:r>
            <a:endParaRPr lang="en-US" sz="1200"/>
          </a:p>
        </p:txBody>
      </p:sp>
      <p:sp>
        <p:nvSpPr>
          <p:cNvPr id="1227836811" name="Text 21"/>
          <p:cNvSpPr txBox="1"/>
          <p:nvPr/>
        </p:nvSpPr>
        <p:spPr bwMode="auto">
          <a:xfrm>
            <a:off x="5312664" y="3017519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IEC 61850</a:t>
            </a:r>
            <a:endParaRPr lang="en-US" sz="1300"/>
          </a:p>
        </p:txBody>
      </p:sp>
      <p:sp>
        <p:nvSpPr>
          <p:cNvPr id="263288012" name="Text 22"/>
          <p:cNvSpPr txBox="1"/>
          <p:nvPr/>
        </p:nvSpPr>
        <p:spPr bwMode="auto">
          <a:xfrm>
            <a:off x="5312664" y="32918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Logical node integration</a:t>
            </a:r>
            <a:endParaRPr lang="en-US" sz="950"/>
          </a:p>
        </p:txBody>
      </p:sp>
      <p:sp>
        <p:nvSpPr>
          <p:cNvPr id="1005028044" name="Shape 23"/>
          <p:cNvSpPr/>
          <p:nvPr/>
        </p:nvSpPr>
        <p:spPr bwMode="auto">
          <a:xfrm>
            <a:off x="7406640" y="2286000"/>
            <a:ext cx="204825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45991247" name="Shape 24"/>
          <p:cNvSpPr/>
          <p:nvPr/>
        </p:nvSpPr>
        <p:spPr bwMode="auto">
          <a:xfrm>
            <a:off x="8193024" y="2468880"/>
            <a:ext cx="475488" cy="475488"/>
          </a:xfrm>
          <a:prstGeom prst="ellipse">
            <a:avLst/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3410572" name="Text 25"/>
          <p:cNvSpPr txBox="1"/>
          <p:nvPr/>
        </p:nvSpPr>
        <p:spPr bwMode="auto">
          <a:xfrm>
            <a:off x="819302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MQ</a:t>
            </a:r>
            <a:endParaRPr lang="en-US" sz="1200"/>
          </a:p>
        </p:txBody>
      </p:sp>
      <p:sp>
        <p:nvSpPr>
          <p:cNvPr id="941295164" name="Text 26"/>
          <p:cNvSpPr txBox="1"/>
          <p:nvPr/>
        </p:nvSpPr>
        <p:spPr bwMode="auto">
          <a:xfrm>
            <a:off x="7552944" y="3017519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MQTT</a:t>
            </a:r>
            <a:endParaRPr lang="en-US" sz="1300"/>
          </a:p>
        </p:txBody>
      </p:sp>
      <p:sp>
        <p:nvSpPr>
          <p:cNvPr id="1340004743" name="Text 27"/>
          <p:cNvSpPr txBox="1"/>
          <p:nvPr/>
        </p:nvSpPr>
        <p:spPr bwMode="auto">
          <a:xfrm>
            <a:off x="7552944" y="32918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Telemetry topic subscribe</a:t>
            </a:r>
            <a:endParaRPr lang="en-US" sz="950"/>
          </a:p>
        </p:txBody>
      </p:sp>
      <p:sp>
        <p:nvSpPr>
          <p:cNvPr id="838697718" name="Shape 28"/>
          <p:cNvSpPr/>
          <p:nvPr/>
        </p:nvSpPr>
        <p:spPr bwMode="auto">
          <a:xfrm>
            <a:off x="9646920" y="2286000"/>
            <a:ext cx="204825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05012012" name="Shape 29"/>
          <p:cNvSpPr/>
          <p:nvPr/>
        </p:nvSpPr>
        <p:spPr bwMode="auto">
          <a:xfrm>
            <a:off x="10433304" y="2468880"/>
            <a:ext cx="475488" cy="475488"/>
          </a:xfrm>
          <a:prstGeom prst="ellipse">
            <a:avLst/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82285748" name="Text 30"/>
          <p:cNvSpPr txBox="1"/>
          <p:nvPr/>
        </p:nvSpPr>
        <p:spPr bwMode="auto">
          <a:xfrm>
            <a:off x="1043330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UA</a:t>
            </a:r>
            <a:endParaRPr lang="en-US" sz="1200"/>
          </a:p>
        </p:txBody>
      </p:sp>
      <p:sp>
        <p:nvSpPr>
          <p:cNvPr id="237781133" name="Text 31"/>
          <p:cNvSpPr txBox="1"/>
          <p:nvPr/>
        </p:nvSpPr>
        <p:spPr bwMode="auto">
          <a:xfrm>
            <a:off x="9793224" y="3017519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OPC-UA</a:t>
            </a:r>
            <a:endParaRPr lang="en-US" sz="1300"/>
          </a:p>
        </p:txBody>
      </p:sp>
      <p:sp>
        <p:nvSpPr>
          <p:cNvPr id="1755627627" name="Text 32"/>
          <p:cNvSpPr txBox="1"/>
          <p:nvPr/>
        </p:nvSpPr>
        <p:spPr bwMode="auto">
          <a:xfrm>
            <a:off x="9793224" y="32918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Node browse + sync</a:t>
            </a:r>
            <a:endParaRPr lang="en-US" sz="950"/>
          </a:p>
        </p:txBody>
      </p:sp>
      <p:sp>
        <p:nvSpPr>
          <p:cNvPr id="1159205925" name="Shape 33"/>
          <p:cNvSpPr/>
          <p:nvPr/>
        </p:nvSpPr>
        <p:spPr bwMode="auto">
          <a:xfrm>
            <a:off x="685800" y="3950208"/>
            <a:ext cx="10954511" cy="1188720"/>
          </a:xfrm>
          <a:prstGeom prst="roundRect">
            <a:avLst>
              <a:gd name="adj" fmla="val 4615"/>
            </a:avLst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60734864" name="Text 34"/>
          <p:cNvSpPr txBox="1"/>
          <p:nvPr/>
        </p:nvSpPr>
        <p:spPr bwMode="auto">
          <a:xfrm>
            <a:off x="960120" y="4114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NEW  ·  Assignment e-mail notifications</a:t>
            </a:r>
            <a:endParaRPr lang="en-US" sz="1400"/>
          </a:p>
        </p:txBody>
      </p:sp>
      <p:sp>
        <p:nvSpPr>
          <p:cNvPr id="315375677" name="Text 35"/>
          <p:cNvSpPr txBox="1"/>
          <p:nvPr/>
        </p:nvSpPr>
        <p:spPr bwMode="auto">
          <a:xfrm>
            <a:off x="960120" y="444398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00">
                <a:solidFill>
                  <a:srgbClr val="3F4651"/>
                </a:solidFill>
                <a:latin typeface="Calibri"/>
                <a:ea typeface="Calibri"/>
                <a:cs typeface="Calibri"/>
              </a:rPr>
              <a:t>When a crew is assigned, Bottleneck delivers an SMTP notification straight to the crew mailbox with the asset ID, GPS coordinates, distance from the depot, and ETA — so the dispatch leaves the platform and reaches a person.</a:t>
            </a:r>
            <a:endParaRPr lang="en-US" sz="1200"/>
          </a:p>
        </p:txBody>
      </p:sp>
      <p:sp>
        <p:nvSpPr>
          <p:cNvPr id="1457187707" name="Shape 36"/>
          <p:cNvSpPr/>
          <p:nvPr/>
        </p:nvSpPr>
        <p:spPr bwMode="auto">
          <a:xfrm>
            <a:off x="685800" y="5285232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2316945" name="Text 37"/>
          <p:cNvSpPr txBox="1"/>
          <p:nvPr/>
        </p:nvSpPr>
        <p:spPr bwMode="auto">
          <a:xfrm>
            <a:off x="905256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Protocol docs included</a:t>
            </a:r>
            <a:endParaRPr lang="en-US" sz="1200"/>
          </a:p>
        </p:txBody>
      </p:sp>
      <p:sp>
        <p:nvSpPr>
          <p:cNvPr id="150625164" name="Text 38"/>
          <p:cNvSpPr txBox="1"/>
          <p:nvPr/>
        </p:nvSpPr>
        <p:spPr bwMode="auto">
          <a:xfrm>
            <a:off x="905256" y="5669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  <a:defRPr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Every integration ships with its register map and a documented sync path</a:t>
            </a:r>
            <a:endParaRPr lang="en-US" sz="1000"/>
          </a:p>
        </p:txBody>
      </p:sp>
      <p:sp>
        <p:nvSpPr>
          <p:cNvPr id="1904633240" name="Shape 39"/>
          <p:cNvSpPr/>
          <p:nvPr/>
        </p:nvSpPr>
        <p:spPr bwMode="auto">
          <a:xfrm>
            <a:off x="4425696" y="5285232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12889758" name="Text 40"/>
          <p:cNvSpPr txBox="1"/>
          <p:nvPr/>
        </p:nvSpPr>
        <p:spPr bwMode="auto">
          <a:xfrm>
            <a:off x="4645152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Test endpoints per protocol</a:t>
            </a:r>
            <a:endParaRPr lang="en-US" sz="1200"/>
          </a:p>
        </p:txBody>
      </p:sp>
      <p:sp>
        <p:nvSpPr>
          <p:cNvPr id="1375771542" name="Text 41"/>
          <p:cNvSpPr txBox="1"/>
          <p:nvPr/>
        </p:nvSpPr>
        <p:spPr bwMode="auto">
          <a:xfrm>
            <a:off x="4645152" y="5669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  <a:defRPr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Connectivity can be validated before a single field device is wired in</a:t>
            </a:r>
            <a:endParaRPr lang="en-US" sz="1000"/>
          </a:p>
        </p:txBody>
      </p:sp>
      <p:sp>
        <p:nvSpPr>
          <p:cNvPr id="629414767" name="Shape 42"/>
          <p:cNvSpPr/>
          <p:nvPr/>
        </p:nvSpPr>
        <p:spPr bwMode="auto">
          <a:xfrm>
            <a:off x="8165592" y="5285232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98077476" name="Text 43"/>
          <p:cNvSpPr txBox="1"/>
          <p:nvPr/>
        </p:nvSpPr>
        <p:spPr bwMode="auto">
          <a:xfrm>
            <a:off x="8385048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Zero credentials to demo</a:t>
            </a:r>
            <a:endParaRPr lang="en-US" sz="1200"/>
          </a:p>
        </p:txBody>
      </p:sp>
      <p:sp>
        <p:nvSpPr>
          <p:cNvPr id="1190228193" name="Text 44"/>
          <p:cNvSpPr txBox="1"/>
          <p:nvPr/>
        </p:nvSpPr>
        <p:spPr bwMode="auto">
          <a:xfrm>
            <a:off x="8385048" y="5669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  <a:defRPr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The offline path runs on deterministic synthetic telemetry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44806" name="Shape 0"/>
          <p:cNvSpPr/>
          <p:nvPr/>
        </p:nvSpPr>
        <p:spPr bwMode="auto">
          <a:xfrm>
            <a:off x="502920" y="310895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23043934" name="Text 1"/>
          <p:cNvSpPr txBox="1"/>
          <p:nvPr/>
        </p:nvSpPr>
        <p:spPr bwMode="auto">
          <a:xfrm>
            <a:off x="502920" y="3108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094213337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1232720474" name="Shape 4"/>
          <p:cNvSpPr/>
          <p:nvPr/>
        </p:nvSpPr>
        <p:spPr bwMode="auto">
          <a:xfrm>
            <a:off x="11356848" y="6236208"/>
            <a:ext cx="384048" cy="310895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37906966" name="Text 5"/>
          <p:cNvSpPr txBox="1"/>
          <p:nvPr/>
        </p:nvSpPr>
        <p:spPr bwMode="auto">
          <a:xfrm>
            <a:off x="11356848" y="6236208"/>
            <a:ext cx="384048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000"/>
          </a:p>
        </p:txBody>
      </p:sp>
      <p:sp>
        <p:nvSpPr>
          <p:cNvPr id="1942347165" name="Text 6"/>
          <p:cNvSpPr txBox="1"/>
          <p:nvPr/>
        </p:nvSpPr>
        <p:spPr bwMode="auto">
          <a:xfrm flipH="0" flipV="0">
            <a:off x="685800" y="868678"/>
            <a:ext cx="10726749" cy="472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Worker Assignment : Ready for the work</a:t>
            </a:r>
            <a:endParaRPr sz="3000"/>
          </a:p>
        </p:txBody>
      </p:sp>
      <p:pic>
        <p:nvPicPr>
          <p:cNvPr id="7035317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93668" y="1613418"/>
            <a:ext cx="8365124" cy="4543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655024" name="Shape 0"/>
          <p:cNvSpPr/>
          <p:nvPr/>
        </p:nvSpPr>
        <p:spPr bwMode="auto">
          <a:xfrm>
            <a:off x="502920" y="31089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78981648" name="Text 1"/>
          <p:cNvSpPr txBox="1"/>
          <p:nvPr/>
        </p:nvSpPr>
        <p:spPr bwMode="auto">
          <a:xfrm>
            <a:off x="502920" y="310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905403205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71874411" name="Text 3"/>
          <p:cNvSpPr txBox="1"/>
          <p:nvPr/>
        </p:nvSpPr>
        <p:spPr bwMode="auto">
          <a:xfrm>
            <a:off x="8229600" y="301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IBM BOB &amp; ROADMAP</a:t>
            </a:r>
            <a:endParaRPr lang="en-US" sz="950"/>
          </a:p>
        </p:txBody>
      </p:sp>
      <p:sp>
        <p:nvSpPr>
          <p:cNvPr id="575885992" name="Shape 4"/>
          <p:cNvSpPr/>
          <p:nvPr/>
        </p:nvSpPr>
        <p:spPr bwMode="auto">
          <a:xfrm>
            <a:off x="11356848" y="6236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82671520" name="Text 5"/>
          <p:cNvSpPr txBox="1"/>
          <p:nvPr/>
        </p:nvSpPr>
        <p:spPr bwMode="auto">
          <a:xfrm>
            <a:off x="11356848" y="62362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000"/>
          </a:p>
        </p:txBody>
      </p:sp>
      <p:sp>
        <p:nvSpPr>
          <p:cNvPr id="772779467" name="Text 6"/>
          <p:cNvSpPr txBox="1"/>
          <p:nvPr/>
        </p:nvSpPr>
        <p:spPr bwMode="auto">
          <a:xfrm>
            <a:off x="685800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Built with IBM Bob, and built to keep going</a:t>
            </a:r>
            <a:endParaRPr lang="en-US" sz="3400"/>
          </a:p>
        </p:txBody>
      </p:sp>
      <p:sp>
        <p:nvSpPr>
          <p:cNvPr id="1659385798" name="Text 7"/>
          <p:cNvSpPr txBox="1"/>
          <p:nvPr/>
        </p:nvSpPr>
        <p:spPr bwMode="auto">
          <a:xfrm>
            <a:off x="685800" y="1472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Bob was our primary AI coding agent across every phase — the full log lives in docs/BOB_ENGINEERING_LOG.md.</a:t>
            </a:r>
            <a:endParaRPr lang="en-US" sz="1400"/>
          </a:p>
        </p:txBody>
      </p:sp>
      <p:sp>
        <p:nvSpPr>
          <p:cNvPr id="1395419422" name="Shape 8"/>
          <p:cNvSpPr/>
          <p:nvPr/>
        </p:nvSpPr>
        <p:spPr bwMode="auto">
          <a:xfrm>
            <a:off x="685800" y="228600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55430762" name="Text 9"/>
          <p:cNvSpPr txBox="1"/>
          <p:nvPr/>
        </p:nvSpPr>
        <p:spPr bwMode="auto">
          <a:xfrm>
            <a:off x="960120" y="2505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IBM Bob as the engineering partner</a:t>
            </a:r>
            <a:endParaRPr lang="en-US" sz="1600"/>
          </a:p>
        </p:txBody>
      </p:sp>
      <p:sp>
        <p:nvSpPr>
          <p:cNvPr id="1051410029" name="Text 10"/>
          <p:cNvSpPr txBox="1"/>
          <p:nvPr/>
        </p:nvSpPr>
        <p:spPr bwMode="auto">
          <a:xfrm>
            <a:off x="960120" y="2980944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▪"/>
              <a:defRPr/>
            </a:pPr>
            <a:r>
              <a:rPr lang="en-US" sz="1200">
                <a:solidFill>
                  <a:srgbClr val="C6D2EE"/>
                </a:solidFill>
                <a:latin typeface="Calibri"/>
                <a:ea typeface="Calibri"/>
                <a:cs typeface="Calibri"/>
              </a:rPr>
              <a:t>Scaffolding the FastAPI service and the React 18 client</a:t>
            </a:r>
            <a:endParaRPr lang="en-US" sz="120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▪"/>
              <a:defRPr/>
            </a:pPr>
            <a:r>
              <a:rPr lang="en-US" sz="1200">
                <a:solidFill>
                  <a:srgbClr val="C6D2EE"/>
                </a:solidFill>
                <a:latin typeface="Calibri"/>
                <a:ea typeface="Calibri"/>
                <a:cs typeface="Calibri"/>
              </a:rPr>
              <a:t>Designing the composite risk engine and the crew-matching logic</a:t>
            </a:r>
            <a:endParaRPr lang="en-US" sz="120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▪"/>
              <a:defRPr/>
            </a:pPr>
            <a:r>
              <a:rPr lang="en-US" sz="1200">
                <a:solidFill>
                  <a:srgbClr val="C6D2EE"/>
                </a:solidFill>
                <a:latin typeface="Calibri"/>
                <a:ea typeface="Calibri"/>
                <a:cs typeface="Calibri"/>
              </a:rPr>
              <a:t>Wiring the XGBoost seam and the deterministic mock fallback</a:t>
            </a:r>
            <a:endParaRPr lang="en-US" sz="120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▪"/>
              <a:defRPr/>
            </a:pPr>
            <a:r>
              <a:rPr lang="en-US" sz="1200">
                <a:solidFill>
                  <a:srgbClr val="C6D2EE"/>
                </a:solidFill>
                <a:latin typeface="Calibri"/>
                <a:ea typeface="Calibri"/>
                <a:cs typeface="Calibri"/>
              </a:rPr>
              <a:t>Debugging, refactoring, and documenting all 30+ endpoints</a:t>
            </a:r>
            <a:endParaRPr lang="en-US" sz="1200"/>
          </a:p>
        </p:txBody>
      </p:sp>
      <p:sp>
        <p:nvSpPr>
          <p:cNvPr id="410902367" name="Text 11"/>
          <p:cNvSpPr txBox="1"/>
          <p:nvPr/>
        </p:nvSpPr>
        <p:spPr bwMode="auto">
          <a:xfrm>
            <a:off x="61264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60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ROADMAP</a:t>
            </a:r>
            <a:endParaRPr lang="en-US" sz="950"/>
          </a:p>
        </p:txBody>
      </p:sp>
      <p:sp>
        <p:nvSpPr>
          <p:cNvPr id="870011845" name="Shape 12"/>
          <p:cNvSpPr/>
          <p:nvPr/>
        </p:nvSpPr>
        <p:spPr bwMode="auto">
          <a:xfrm>
            <a:off x="6126480" y="2743200"/>
            <a:ext cx="274320" cy="274320"/>
          </a:xfrm>
          <a:prstGeom prst="ellipse">
            <a:avLst/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9241506" name="Text 13"/>
          <p:cNvSpPr txBox="1"/>
          <p:nvPr/>
        </p:nvSpPr>
        <p:spPr bwMode="auto">
          <a:xfrm>
            <a:off x="6547104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Real SCADA / IoT telemetry</a:t>
            </a:r>
            <a:endParaRPr lang="en-US" sz="1250"/>
          </a:p>
        </p:txBody>
      </p:sp>
      <p:sp>
        <p:nvSpPr>
          <p:cNvPr id="2134983391" name="Text 14"/>
          <p:cNvSpPr txBox="1"/>
          <p:nvPr/>
        </p:nvSpPr>
        <p:spPr bwMode="auto">
          <a:xfrm>
            <a:off x="6547104" y="2889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Replace synthetic feeds with live substation data</a:t>
            </a:r>
            <a:endParaRPr lang="en-US" sz="1050"/>
          </a:p>
        </p:txBody>
      </p:sp>
      <p:sp>
        <p:nvSpPr>
          <p:cNvPr id="209919301" name="Shape 15"/>
          <p:cNvSpPr/>
          <p:nvPr/>
        </p:nvSpPr>
        <p:spPr bwMode="auto">
          <a:xfrm>
            <a:off x="6263640" y="3017519"/>
            <a:ext cx="0" cy="329184"/>
          </a:xfrm>
          <a:prstGeom prst="line">
            <a:avLst/>
          </a:prstGeom>
          <a:noFill/>
          <a:ln w="1905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34694802" name="Shape 16"/>
          <p:cNvSpPr/>
          <p:nvPr/>
        </p:nvSpPr>
        <p:spPr bwMode="auto">
          <a:xfrm>
            <a:off x="6126480" y="3346704"/>
            <a:ext cx="274320" cy="274320"/>
          </a:xfrm>
          <a:prstGeom prst="ellipse">
            <a:avLst/>
          </a:prstGeom>
          <a:solidFill>
            <a:srgbClr val="6C4BD6"/>
          </a:solidFill>
          <a:ln w="12700">
            <a:solidFill>
              <a:srgbClr val="6C4B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31514384" name="Text 17"/>
          <p:cNvSpPr txBox="1"/>
          <p:nvPr/>
        </p:nvSpPr>
        <p:spPr bwMode="auto">
          <a:xfrm>
            <a:off x="6547104" y="3236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OAuth2 / OIDC</a:t>
            </a:r>
            <a:endParaRPr lang="en-US" sz="1250"/>
          </a:p>
        </p:txBody>
      </p:sp>
      <p:sp>
        <p:nvSpPr>
          <p:cNvPr id="1498330389" name="Text 18"/>
          <p:cNvSpPr txBox="1"/>
          <p:nvPr/>
        </p:nvSpPr>
        <p:spPr bwMode="auto">
          <a:xfrm>
            <a:off x="6547104" y="34930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Enterprise identity in place of demo JWT auth</a:t>
            </a:r>
            <a:endParaRPr lang="en-US" sz="1050"/>
          </a:p>
        </p:txBody>
      </p:sp>
      <p:sp>
        <p:nvSpPr>
          <p:cNvPr id="399787607" name="Shape 19"/>
          <p:cNvSpPr/>
          <p:nvPr/>
        </p:nvSpPr>
        <p:spPr bwMode="auto">
          <a:xfrm>
            <a:off x="6263640" y="3621024"/>
            <a:ext cx="0" cy="329184"/>
          </a:xfrm>
          <a:prstGeom prst="line">
            <a:avLst/>
          </a:prstGeom>
          <a:noFill/>
          <a:ln w="1905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08144236" name="Shape 20"/>
          <p:cNvSpPr/>
          <p:nvPr/>
        </p:nvSpPr>
        <p:spPr bwMode="auto">
          <a:xfrm>
            <a:off x="6126480" y="3950208"/>
            <a:ext cx="274320" cy="274320"/>
          </a:xfrm>
          <a:prstGeom prst="ellipse">
            <a:avLst/>
          </a:prstGeom>
          <a:solidFill>
            <a:srgbClr val="E8511F"/>
          </a:solidFill>
          <a:ln w="12700">
            <a:solidFill>
              <a:srgbClr val="E8511F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16650387" name="Text 21"/>
          <p:cNvSpPr txBox="1"/>
          <p:nvPr/>
        </p:nvSpPr>
        <p:spPr bwMode="auto">
          <a:xfrm>
            <a:off x="6547104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Live weather feed</a:t>
            </a:r>
            <a:endParaRPr lang="en-US" sz="1250"/>
          </a:p>
        </p:txBody>
      </p:sp>
      <p:sp>
        <p:nvSpPr>
          <p:cNvPr id="71606025" name="Text 22"/>
          <p:cNvSpPr txBox="1"/>
          <p:nvPr/>
        </p:nvSpPr>
        <p:spPr bwMode="auto">
          <a:xfrm>
            <a:off x="6547104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Continuous forecast ingestion for weather exposure</a:t>
            </a:r>
            <a:endParaRPr lang="en-US" sz="1050"/>
          </a:p>
        </p:txBody>
      </p:sp>
      <p:sp>
        <p:nvSpPr>
          <p:cNvPr id="46171087" name="Shape 23"/>
          <p:cNvSpPr/>
          <p:nvPr/>
        </p:nvSpPr>
        <p:spPr bwMode="auto">
          <a:xfrm>
            <a:off x="6263640" y="4224528"/>
            <a:ext cx="0" cy="329184"/>
          </a:xfrm>
          <a:prstGeom prst="line">
            <a:avLst/>
          </a:prstGeom>
          <a:noFill/>
          <a:ln w="1905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13158049" name="Shape 24"/>
          <p:cNvSpPr/>
          <p:nvPr/>
        </p:nvSpPr>
        <p:spPr bwMode="auto">
          <a:xfrm>
            <a:off x="6126480" y="4553712"/>
            <a:ext cx="274320" cy="27432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72709211" name="Text 25"/>
          <p:cNvSpPr txBox="1"/>
          <p:nvPr/>
        </p:nvSpPr>
        <p:spPr bwMode="auto">
          <a:xfrm>
            <a:off x="6547104" y="4443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Deployment</a:t>
            </a:r>
            <a:endParaRPr lang="en-US" sz="1250"/>
          </a:p>
        </p:txBody>
      </p:sp>
      <p:sp>
        <p:nvSpPr>
          <p:cNvPr id="2002987892" name="Text 26"/>
          <p:cNvSpPr txBox="1"/>
          <p:nvPr/>
        </p:nvSpPr>
        <p:spPr bwMode="auto">
          <a:xfrm>
            <a:off x="6547104" y="47000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Containerised delivery via Docker and Railway</a:t>
            </a:r>
            <a:endParaRPr lang="en-US" sz="1050"/>
          </a:p>
        </p:txBody>
      </p:sp>
      <p:sp>
        <p:nvSpPr>
          <p:cNvPr id="1908987777" name="Shape 27"/>
          <p:cNvSpPr/>
          <p:nvPr/>
        </p:nvSpPr>
        <p:spPr bwMode="auto">
          <a:xfrm>
            <a:off x="685800" y="5285232"/>
            <a:ext cx="10954511" cy="640080"/>
          </a:xfrm>
          <a:prstGeom prst="roundRect">
            <a:avLst>
              <a:gd name="adj" fmla="val 8571"/>
            </a:avLst>
          </a:prstGeom>
          <a:solidFill>
            <a:srgbClr val="EAF0FE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54545255" name="Text 28"/>
          <p:cNvSpPr txBox="1"/>
          <p:nvPr/>
        </p:nvSpPr>
        <p:spPr bwMode="auto">
          <a:xfrm>
            <a:off x="914400" y="5285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30 assets monitored  ·  24h &amp; 72h horizon  ·  0–100 risk score  ·  &lt;1s scenario re-compute  ·  100% offline-ready  ·  0 credentials needed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60570" name=""/>
          <p:cNvSpPr txBox="1"/>
          <p:nvPr/>
        </p:nvSpPr>
        <p:spPr bwMode="auto">
          <a:xfrm rot="0" flipH="0" flipV="0">
            <a:off x="615777" y="1188720"/>
            <a:ext cx="10775176" cy="22863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bob-task-281127d7cc0558dbf1e8d055ae7122a7-2026-09-14_session2.md  </a:t>
            </a:r>
            <a:br>
              <a:rPr/>
            </a:br>
            <a:r>
              <a:rPr/>
              <a:t>bob-task-741d5570544a9fcb1d82546884caa0f7-2026-09-15.md</a:t>
            </a:r>
            <a:endParaRPr/>
          </a:p>
          <a:p>
            <a:pPr algn="l">
              <a:defRPr/>
            </a:pPr>
            <a:r>
              <a:rPr/>
              <a:t>bob-task-4b1a939007c0b58d20364adbb6fe86d3-2026-09-15.md</a:t>
            </a:r>
            <a:br>
              <a:rPr/>
            </a:br>
            <a:r>
              <a:rPr/>
              <a:t>bob-task-8623d7cee9b04b382641eacf5e9f8a84-2026-09-14.md       </a:t>
            </a:r>
            <a:br>
              <a:rPr/>
            </a:br>
            <a:r>
              <a:rPr/>
              <a:t>bob-task-53d856f17d662470228af0840d49f409-2026-09-14.md          </a:t>
            </a:r>
            <a:br>
              <a:rPr/>
            </a:br>
            <a:r>
              <a:rPr/>
              <a:t>bob-task-df828133b60a5549332a6a36dccce1ae-2026-09-14_heet.md</a:t>
            </a:r>
            <a:endParaRPr/>
          </a:p>
          <a:p>
            <a:pPr algn="l">
              <a:defRPr/>
            </a:pPr>
            <a:r>
              <a:rPr/>
              <a:t>bob-task-6197ff02640b6a6f4f6a4fd8b7f2d4f7-2026-09-15.md</a:t>
            </a:r>
            <a:endParaRPr/>
          </a:p>
        </p:txBody>
      </p:sp>
      <p:sp>
        <p:nvSpPr>
          <p:cNvPr id="1497247611" name=""/>
          <p:cNvSpPr txBox="1"/>
          <p:nvPr/>
        </p:nvSpPr>
        <p:spPr bwMode="auto">
          <a:xfrm rot="0" flipH="0" flipV="0">
            <a:off x="640080" y="914220"/>
            <a:ext cx="10914485" cy="548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None/>
              <a:defRPr/>
            </a:pPr>
            <a:r>
              <a:rPr lang="en-US" sz="30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Built with IBM Bob, and built to keep going</a:t>
            </a:r>
            <a:endParaRPr lang="en-US" sz="3400"/>
          </a:p>
        </p:txBody>
      </p:sp>
      <p:sp>
        <p:nvSpPr>
          <p:cNvPr id="581179293" name="Shape 0"/>
          <p:cNvSpPr/>
          <p:nvPr/>
        </p:nvSpPr>
        <p:spPr bwMode="auto">
          <a:xfrm>
            <a:off x="502920" y="310895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92675870" name="Text 1"/>
          <p:cNvSpPr txBox="1"/>
          <p:nvPr/>
        </p:nvSpPr>
        <p:spPr bwMode="auto">
          <a:xfrm>
            <a:off x="502920" y="3108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⚡</a:t>
            </a:r>
            <a:endParaRPr lang="en-US" sz="1200"/>
          </a:p>
        </p:txBody>
      </p:sp>
      <p:sp>
        <p:nvSpPr>
          <p:cNvPr id="1984088506" name="Text 2"/>
          <p:cNvSpPr txBox="1"/>
          <p:nvPr/>
        </p:nvSpPr>
        <p:spPr bwMode="auto">
          <a:xfrm>
            <a:off x="850392" y="301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Bottleneck AI</a:t>
            </a:r>
            <a:endParaRPr lang="en-US" sz="1200"/>
          </a:p>
        </p:txBody>
      </p:sp>
      <p:sp>
        <p:nvSpPr>
          <p:cNvPr id="2071821817" name="Shape 4"/>
          <p:cNvSpPr/>
          <p:nvPr/>
        </p:nvSpPr>
        <p:spPr bwMode="auto">
          <a:xfrm>
            <a:off x="11356848" y="6236208"/>
            <a:ext cx="384048" cy="310895"/>
          </a:xfrm>
          <a:prstGeom prst="roundRect">
            <a:avLst>
              <a:gd name="adj" fmla="val 23529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45141390" name="Text 5"/>
          <p:cNvSpPr txBox="1"/>
          <p:nvPr/>
        </p:nvSpPr>
        <p:spPr bwMode="auto">
          <a:xfrm>
            <a:off x="11356848" y="6236208"/>
            <a:ext cx="384048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684991" name="Shape 0"/>
          <p:cNvSpPr/>
          <p:nvPr/>
        </p:nvSpPr>
        <p:spPr bwMode="auto">
          <a:xfrm>
            <a:off x="-2011680" y="-1828800"/>
            <a:ext cx="6035039" cy="6035039"/>
          </a:xfrm>
          <a:prstGeom prst="ellipse">
            <a:avLst/>
          </a:prstGeom>
          <a:solidFill>
            <a:srgbClr val="F2F5FD"/>
          </a:solidFill>
          <a:ln w="12700">
            <a:solidFill>
              <a:srgbClr val="F2F5FD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67837374" name="Shape 1"/>
          <p:cNvSpPr/>
          <p:nvPr/>
        </p:nvSpPr>
        <p:spPr bwMode="auto">
          <a:xfrm>
            <a:off x="9966960" y="4480560"/>
            <a:ext cx="5120640" cy="5120640"/>
          </a:xfrm>
          <a:prstGeom prst="ellipse">
            <a:avLst/>
          </a:prstGeom>
          <a:solidFill>
            <a:srgbClr val="F6F8FE"/>
          </a:solidFill>
          <a:ln w="12700">
            <a:solidFill>
              <a:srgbClr val="F6F8FE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06512296" name="Text 2"/>
          <p:cNvSpPr txBox="1"/>
          <p:nvPr/>
        </p:nvSpPr>
        <p:spPr bwMode="auto">
          <a:xfrm>
            <a:off x="0" y="19202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5200"/>
          </a:p>
        </p:txBody>
      </p:sp>
      <p:sp>
        <p:nvSpPr>
          <p:cNvPr id="1247114306" name="Text 3"/>
          <p:cNvSpPr txBox="1"/>
          <p:nvPr/>
        </p:nvSpPr>
        <p:spPr bwMode="auto">
          <a:xfrm>
            <a:off x="0" y="2962656"/>
            <a:ext cx="12188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Bottleneck AI — predict the failure, explain the risk, position the crew.</a:t>
            </a:r>
            <a:endParaRPr lang="en-US" sz="1700"/>
          </a:p>
        </p:txBody>
      </p:sp>
      <p:sp>
        <p:nvSpPr>
          <p:cNvPr id="1340599039" name="Text 4"/>
          <p:cNvSpPr txBox="1"/>
          <p:nvPr/>
        </p:nvSpPr>
        <p:spPr bwMode="auto">
          <a:xfrm>
            <a:off x="0" y="3438144"/>
            <a:ext cx="1218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Team Bottleneck  ·  IBM Bob Hackathon 2026  ·  Track U1</a:t>
            </a:r>
            <a:endParaRPr lang="en-US" sz="1250"/>
          </a:p>
        </p:txBody>
      </p:sp>
      <p:sp>
        <p:nvSpPr>
          <p:cNvPr id="882962044" name="Shape 5"/>
          <p:cNvSpPr/>
          <p:nvPr/>
        </p:nvSpPr>
        <p:spPr bwMode="auto">
          <a:xfrm>
            <a:off x="2761488" y="4114800"/>
            <a:ext cx="676656" cy="676656"/>
          </a:xfrm>
          <a:prstGeom prst="ellipse">
            <a:avLst/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65557490" name="Text 6"/>
          <p:cNvSpPr txBox="1"/>
          <p:nvPr/>
        </p:nvSpPr>
        <p:spPr bwMode="auto">
          <a:xfrm>
            <a:off x="2761488" y="41148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</a:t>
            </a:r>
            <a:endParaRPr lang="en-US" sz="1500"/>
          </a:p>
        </p:txBody>
      </p:sp>
      <p:sp>
        <p:nvSpPr>
          <p:cNvPr id="1854926987" name="Text 7"/>
          <p:cNvSpPr txBox="1"/>
          <p:nvPr/>
        </p:nvSpPr>
        <p:spPr bwMode="auto">
          <a:xfrm>
            <a:off x="2276856" y="486460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Urval Kheni</a:t>
            </a:r>
            <a:endParaRPr lang="en-US" sz="1050"/>
          </a:p>
        </p:txBody>
      </p:sp>
      <p:sp>
        <p:nvSpPr>
          <p:cNvPr id="1571503827" name="Text 8"/>
          <p:cNvSpPr txBox="1"/>
          <p:nvPr/>
        </p:nvSpPr>
        <p:spPr bwMode="auto">
          <a:xfrm>
            <a:off x="2276856" y="5102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Team Lead</a:t>
            </a:r>
            <a:endParaRPr lang="en-US" sz="900"/>
          </a:p>
        </p:txBody>
      </p:sp>
      <p:sp>
        <p:nvSpPr>
          <p:cNvPr id="938545318" name="Shape 9"/>
          <p:cNvSpPr/>
          <p:nvPr/>
        </p:nvSpPr>
        <p:spPr bwMode="auto">
          <a:xfrm>
            <a:off x="4517136" y="4114800"/>
            <a:ext cx="676656" cy="676656"/>
          </a:xfrm>
          <a:prstGeom prst="ellipse">
            <a:avLst/>
          </a:prstGeom>
          <a:solidFill>
            <a:srgbClr val="E9EFFD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25904986" name="Text 10"/>
          <p:cNvSpPr txBox="1"/>
          <p:nvPr/>
        </p:nvSpPr>
        <p:spPr bwMode="auto">
          <a:xfrm>
            <a:off x="4517136" y="41148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DV</a:t>
            </a:r>
            <a:endParaRPr lang="en-US" sz="1500"/>
          </a:p>
        </p:txBody>
      </p:sp>
      <p:sp>
        <p:nvSpPr>
          <p:cNvPr id="1729662605" name="Text 11"/>
          <p:cNvSpPr txBox="1"/>
          <p:nvPr/>
        </p:nvSpPr>
        <p:spPr bwMode="auto">
          <a:xfrm>
            <a:off x="4032504" y="486460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Dhruvin Vaghasiya</a:t>
            </a:r>
            <a:endParaRPr lang="en-US" sz="1050"/>
          </a:p>
        </p:txBody>
      </p:sp>
      <p:sp>
        <p:nvSpPr>
          <p:cNvPr id="309121190" name="Text 12"/>
          <p:cNvSpPr txBox="1"/>
          <p:nvPr/>
        </p:nvSpPr>
        <p:spPr bwMode="auto">
          <a:xfrm>
            <a:off x="4032504" y="5102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Engineer</a:t>
            </a:r>
            <a:endParaRPr lang="en-US" sz="900"/>
          </a:p>
        </p:txBody>
      </p:sp>
      <p:sp>
        <p:nvSpPr>
          <p:cNvPr id="1959686432" name="Shape 13"/>
          <p:cNvSpPr/>
          <p:nvPr/>
        </p:nvSpPr>
        <p:spPr bwMode="auto">
          <a:xfrm>
            <a:off x="6272784" y="4114800"/>
            <a:ext cx="676656" cy="676656"/>
          </a:xfrm>
          <a:prstGeom prst="ellipse">
            <a:avLst/>
          </a:prstGeom>
          <a:solidFill>
            <a:srgbClr val="E9EFFD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2425366" name="Text 14"/>
          <p:cNvSpPr txBox="1"/>
          <p:nvPr/>
        </p:nvSpPr>
        <p:spPr bwMode="auto">
          <a:xfrm>
            <a:off x="6272784" y="41148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HM</a:t>
            </a:r>
            <a:endParaRPr lang="en-US" sz="1500"/>
          </a:p>
        </p:txBody>
      </p:sp>
      <p:sp>
        <p:nvSpPr>
          <p:cNvPr id="1127298504" name="Text 15"/>
          <p:cNvSpPr txBox="1"/>
          <p:nvPr/>
        </p:nvSpPr>
        <p:spPr bwMode="auto">
          <a:xfrm>
            <a:off x="5788152" y="486460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Heet Mehta</a:t>
            </a:r>
            <a:endParaRPr lang="en-US" sz="1050"/>
          </a:p>
        </p:txBody>
      </p:sp>
      <p:sp>
        <p:nvSpPr>
          <p:cNvPr id="1009998128" name="Text 16"/>
          <p:cNvSpPr txBox="1"/>
          <p:nvPr/>
        </p:nvSpPr>
        <p:spPr bwMode="auto">
          <a:xfrm>
            <a:off x="5788152" y="5102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Engineer</a:t>
            </a:r>
            <a:endParaRPr lang="en-US" sz="900"/>
          </a:p>
        </p:txBody>
      </p:sp>
      <p:sp>
        <p:nvSpPr>
          <p:cNvPr id="1946694543" name="Shape 17"/>
          <p:cNvSpPr/>
          <p:nvPr/>
        </p:nvSpPr>
        <p:spPr bwMode="auto">
          <a:xfrm>
            <a:off x="8028432" y="4114800"/>
            <a:ext cx="676656" cy="676656"/>
          </a:xfrm>
          <a:prstGeom prst="ellipse">
            <a:avLst/>
          </a:prstGeom>
          <a:solidFill>
            <a:srgbClr val="E9EFFD"/>
          </a:solidFill>
          <a:ln w="12700">
            <a:solidFill>
              <a:srgbClr val="D5E0FB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1590779" name="Text 18"/>
          <p:cNvSpPr txBox="1"/>
          <p:nvPr/>
        </p:nvSpPr>
        <p:spPr bwMode="auto">
          <a:xfrm>
            <a:off x="8028432" y="41148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3A6AD6"/>
                </a:solidFill>
                <a:latin typeface="Calibri"/>
                <a:ea typeface="Calibri"/>
                <a:cs typeface="Calibri"/>
              </a:rPr>
              <a:t>KP</a:t>
            </a:r>
            <a:endParaRPr lang="en-US" sz="1500"/>
          </a:p>
        </p:txBody>
      </p:sp>
      <p:sp>
        <p:nvSpPr>
          <p:cNvPr id="847738106" name="Text 19"/>
          <p:cNvSpPr txBox="1"/>
          <p:nvPr/>
        </p:nvSpPr>
        <p:spPr bwMode="auto">
          <a:xfrm>
            <a:off x="7543800" y="486460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F2020"/>
                </a:solidFill>
                <a:latin typeface="Calibri"/>
                <a:ea typeface="Calibri"/>
                <a:cs typeface="Calibri"/>
              </a:rPr>
              <a:t>Krish Patel</a:t>
            </a:r>
            <a:endParaRPr lang="en-US" sz="1050"/>
          </a:p>
        </p:txBody>
      </p:sp>
      <p:sp>
        <p:nvSpPr>
          <p:cNvPr id="688227369" name="Text 20"/>
          <p:cNvSpPr txBox="1"/>
          <p:nvPr/>
        </p:nvSpPr>
        <p:spPr bwMode="auto">
          <a:xfrm>
            <a:off x="7543800" y="5102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Engineer</a:t>
            </a:r>
            <a:endParaRPr lang="en-US" sz="900"/>
          </a:p>
        </p:txBody>
      </p:sp>
      <p:sp>
        <p:nvSpPr>
          <p:cNvPr id="1409604302" name="Shape 21"/>
          <p:cNvSpPr/>
          <p:nvPr/>
        </p:nvSpPr>
        <p:spPr bwMode="auto">
          <a:xfrm>
            <a:off x="4224528" y="5650992"/>
            <a:ext cx="3749040" cy="402336"/>
          </a:xfrm>
          <a:prstGeom prst="roundRect">
            <a:avLst>
              <a:gd name="adj" fmla="val 45455"/>
            </a:avLst>
          </a:prstGeom>
          <a:solidFill>
            <a:srgbClr val="3A6AD6"/>
          </a:solidFill>
          <a:ln w="12700">
            <a:solidFill>
              <a:srgbClr val="3A6AD6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50835483" name="Text 22"/>
          <p:cNvSpPr txBox="1"/>
          <p:nvPr/>
        </p:nvSpPr>
        <p:spPr bwMode="auto">
          <a:xfrm>
            <a:off x="4224528" y="56509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 welcome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2026-09-15T16:51:27Z</dcterms:created>
  <dcterms:modified xsi:type="dcterms:W3CDTF">2026-09-15T17:35:27Z</dcterms:modified>
</cp:coreProperties>
</file>